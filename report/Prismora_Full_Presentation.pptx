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0" y="0"/>
            <a:ext cx="12192000" cy="118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14400" y="1150000"/>
            <a:ext cx="103632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IN" sz="5000" b="1" i="0" dirty="0">
                <a:solidFill>
                  <a:srgbClr val="1F6FEB"/>
                </a:solidFill>
                <a:latin typeface="Calibri"/>
              </a:rPr>
              <a:t>Prismora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2050000"/>
            <a:ext cx="103632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n-IN" sz="1500" b="0" i="1" dirty="0">
                <a:solidFill>
                  <a:srgbClr val="57606A"/>
                </a:solidFill>
                <a:latin typeface="Calibri"/>
              </a:rPr>
              <a:t>An Integrated Distribution Management, CRM and ERP Platform with an Embedded Natural Language Intelligence Layer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914400" y="2880000"/>
            <a:ext cx="10363200" cy="3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</a:p>
          <a:p>
            <a:pPr algn="ctr">
              <a:buNone/>
            </a:pPr>
            <a:r>
              <a:rPr lang="en-IN" sz="1300" b="0" i="0" dirty="0">
                <a:solidFill>
                  <a:srgbClr val="0D1117"/>
                </a:solidFill>
                <a:latin typeface="Calibri"/>
              </a:rPr>
              <a:t>Artificial Intelligence / Software Engineering Internship Project</a:t>
            </a:r>
          </a:p>
          <a:p>
            <a:pPr>
              <a:buNone/>
            </a:pPr>
          </a:p>
          <a:p>
            <a:pPr algn="ctr">
              <a:buNone/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Submitted by</a:t>
            </a:r>
          </a:p>
          <a:p>
            <a:pPr algn="ctr">
              <a:buNone/>
            </a:pPr>
            <a:r>
              <a:rPr lang="en-IN" sz="1300" b="0" i="0" dirty="0">
                <a:solidFill>
                  <a:srgbClr val="0D1117"/>
                </a:solidFill>
                <a:latin typeface="Calibri"/>
              </a:rPr>
              <a:t>[Your Full Name]  |  Enrolment No. [Enrolment Number]</a:t>
            </a:r>
          </a:p>
          <a:p>
            <a:pPr>
              <a:buNone/>
            </a:pPr>
          </a:p>
          <a:p>
            <a:pPr algn="ctr">
              <a:buNone/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Under the Guidance of</a:t>
            </a:r>
          </a:p>
          <a:p>
            <a:pPr algn="ctr">
              <a:buNone/>
            </a:pPr>
            <a:r>
              <a:rPr lang="en-IN" sz="1300" b="0" i="0" dirty="0">
                <a:solidFill>
                  <a:srgbClr val="0D1117"/>
                </a:solidFill>
                <a:latin typeface="Calibri"/>
              </a:rPr>
              <a:t>[Faculty Guide Name]  |  [Industry Mentor Name]</a:t>
            </a:r>
          </a:p>
          <a:p>
            <a:pPr>
              <a:buNone/>
            </a:pPr>
          </a:p>
          <a:p>
            <a:pPr algn="ctr">
              <a:buNone/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Organisation</a:t>
            </a:r>
          </a:p>
          <a:p>
            <a:pPr algn="ctr">
              <a:buNone/>
            </a:pPr>
            <a:r>
              <a:rPr lang="en-IN" sz="1300" b="0" i="0" dirty="0">
                <a:solidFill>
                  <a:srgbClr val="0D1117"/>
                </a:solidFill>
                <a:latin typeface="Calibri"/>
              </a:rPr>
              <a:t>[Company Name]</a:t>
            </a:r>
          </a:p>
          <a:p>
            <a:pPr>
              <a:buNone/>
            </a:pPr>
          </a:p>
          <a:p>
            <a:pPr algn="ctr">
              <a:buNone/>
            </a:pPr>
            <a:r>
              <a:rPr lang="en-IN" sz="1300" b="0" i="0" dirty="0">
                <a:solidFill>
                  <a:srgbClr val="0D1117"/>
                </a:solidFill>
                <a:latin typeface="Calibri"/>
              </a:rPr>
              <a:t>Department of Computer Science and Engineering, [University Name]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Contents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760000"/>
            <a:ext cx="10820400" cy="563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Problem Statement and Objectives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Organisation Overview and Internship Structure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System Architecture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Database and Access Control Design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Module Implementation — Order to Cash, Inventory, Channel, Accounting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Module Implementation — Procurement, Schemes, Field Force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The PRISM AI Intelligence Layer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Machine Learning — Methodology and Results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Testing and Validation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Results and Outcomes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Challenges Faced and Solutions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Future Scope and Conclusion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Why an integrated platform, and why a self-built intelligence layer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THE PROBLEM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Distribution businesses reconcile purchases against receipts, receipts against stock, stock against commitments, and invoices against collections. When each record lives in a different tool — or in none — reconciliation becomes manual and error-prone, and its failures surface as disputed claims, expired stock and uncollected receivables.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The organisation operates a three-tier channel — company to distributor, distributor to dealer, dealer to retailer — each tier with its own credit terms, pricing and incentive schemes. Modest transaction volume, high relational complexity: exactly the profile spreadsheet-based operation handles worst.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TWO-PART OBJECTIVE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Platform — a single authoritative record across the order-to-cash and procure-to-pay cycles, batch inventory, accounting, channel management and field-force automation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Intelligence layer — natural language querying over that data, computing answers arithmetically rather than generating them, with no business data leaving the client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Organisation Overview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Internship context and programme structure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ABOUT THE ORGANISATION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[Company Name] — [two to three lines: year established, location, principal business activity, domains served. If routed through a training provider, note accreditation.]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MY INTERNSHIP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Role — [Artificial Intelligence / Software Engineering] Intern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Duration — [N] weeks, [Start Date] to [End Date]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Mode — [Remote / Hybrid / On-site]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Deployment — production use by a personal-care products distributor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PHASE STRUCTURE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Phase 1 — Requirement analysis; process mapping; entity model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Phase 2 — Core platform: auth, RBAC, leads, order-to-cash, inventory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Phase 3 — Channel and financial modules; procurement; schemes; field force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Phase 4 — Symbolic NLP engine across 17 intents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Phase 5 — Statistical classifier; cross-validated evaluation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Phase 6 — Integration, evaluation dashboard, documentation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A three-tier design with instant-load, offline-tolerant persistence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WHY THIS SHAPE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Business logic is concentrated in a single state-management layer rather than spread across screens, so an operation like order confirmation applies stock deduction, invoice generation, incentive evaluation and audit logging identically no matter which screen triggered it.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THREE TIERS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Presentation — 34 screens, role-branching, permission-guarded routes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Logic — React Context providers owning every mutation; domain services for NLP and ML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Data — PostgreSQL, 30 tables, mirrored to local storage for instant first paint and offline reads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PERSISTENCE STRATEGY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Every write goes to PostgreSQL and mirrors to local storage. The interface renders from cache immediately while the authoritative fetch runs in the background; the server remains authoritative, so a conflict resolves in its favour.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STACK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React 18, Vite, Tailwind CSS, Recharts — Supabase / PostgreSQL — vanilla JavaScript for the entire NLP and ML layer, no external library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Database and Access Control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Thirty tables, fifteen roles, twenty-one permission domains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SCHEMA — NINE OPERATIONAL GROUPS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Identity &amp; config · Customer relationship · Channel hierarchy · Order to cash · Inventory · Procure to pay · Financial · Trade schemes · Field force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ACCESS CONTROL MODEL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Fifteen roles (internal staff and external channel partners) against twenty-one permission domains, each cell one of four levels: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full — read and write across all records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view — read across all records, no mutation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own — confined to records the user owns or is assigned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none — domain unreachable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WHY "own" MATTERS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It is what makes one deployment safe for external partners. A distributor querying orders receives only records bearing their identifier — enforced in the data layer, not per screen, so no screen author can omit it.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VERIFIED PROGRAMMATICALLY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Scripted enumeration confirmed every role carries an explicit entry for all 21 domains — zero gaps, since an absent entry would default to a permissive interpretation.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Module Implementation I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Order to cash, inventory, and channel management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ORDER TO CASH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Seven-state fulfilment hierarchy with stage ownership — Pending, Processing, Ready for Dispatch, Shipped, Partially Delivered, Delivered, Cancelled — each stage owned by a specific role group, so sales cannot mark goods dispatched.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Stock availability validated at every forward transition; partial delivery records a cumulative delivered quantity when only part of an order can be fulfilled.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BATCH INVENTORY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Personal-care products carry expiry dates, so stock is held per batch with manufacture and expiry dates. Allocation follows first-expiry-first-out. Multi-warehouse transfer and cycle counting with variance capture are supported.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THREE-TIER CHANNEL MANAGEMENT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Distributors, dealers and retailers share one code path via an identifier-field mapping rather than three branches, eliminating a defect class where a fix applied to two tiers was omitted from the third. Each tier has self-registration and an authenticated portal.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Module Implementation II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Accounting, procurement, schemes, and field force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ACCOUNTING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Invoice generation from orders, payment recording, credit notes, expense capture by category, receivables and payables ageing.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PROCURE TO PAY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Purchase orders age visibly while awaiting receipt. Goods receipt admits stock into a batch and simultaneously raises the vendor payable, so stock and liability cannot diverge. Returns reverse both; vendor payments post against a running ledger.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SCHEMES AND CLAIMS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Trade schemes carry product applicability, a validity window and a benefit basis. Eligibility is evaluated automatically at order confirmation — not claimed retrospectively, which is where most disputes originate.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FIELD-FORCE AUTOMATION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Territories and beat plans define expected coverage; attendance and visit reports record actual activity. A visit resulting in an order links the two, so field activity and commercial outcome are traceable to each other.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The PRISM AI Intelligence Layer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Natural language querying over live operational data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DESIGN POSITION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PRISM AI executes entirely on the client. The system parses a question, determines intent and entities, and computes the answer arithmetically from live records — numbers are never generated, only calculated.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WHY NOT A HOSTED LANGUAGE MODEL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An earlier version sent business records to a hosted model as prompt context. Four objections: data left the client, every query cost money and 1-3 seconds, availability depended on network and provider uptime, and the model occasionally stated a wrong number with full confidence — tolerable for drafting, not for a system of record.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SEVEN-STAGE PIPELINE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Normalise — lowercase, strip punctuation, preserve currency / percent / decimal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Tokenise &amp; remove stop-words — interrogatives deliberately kept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Stem — collapse invoices / invoicing / invoiced to one root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Expand — 23 synonym groups map surface forms to one concept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Classify intent — weighted scoring across 17 business intents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Extract entities — live gazetteer over products, people, partners, regions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Track dialogue state — follow-up questions inherit prior context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PRISM AI — Robustness Features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Typo tolerance and conversation memory, demonstrated live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TYPO TOLERANCE — DAMERAU-LEVENSHTEIN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Charges one edit for an adjacent transposition, not two — unpiad to unpaid is distance 1, not 2. Since a tight budget is needed to suppress false positives, that single unit decides whether the commonest real typo is corrected at all.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"which distribtors are at churn risk"  -&gt;  full churn report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"show unpiad invoces"  -&gt;  outstanding receivables report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CONVERSATION MEMORY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User: revenue by state    -&gt;  Gujarat Rs 95,000 (76%) | Maharashtra Rs 30,000 (24%)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User: what about Gujarat? -&gt;  Gujarat detail        [intent inherited]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User: and last 30 days?   -&gt;  Gujarat, 30 days      [state kept, timeframe added]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TRANSPARENCY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Every answer carries its resolved intent, extracted entities, any spelling corrections applied, and a follow-up indicator — so the user can judge whether the question they asked is the one that was answered.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Machine Learning — Methodology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TF-IDF and Naive Bayes, implemented from mathematical first principles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NO ML LIBRARY USED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No scikit-learn, no TensorFlow. Every formula below was written from its mathematical definition so each step could be examined rather than merely invoked.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CORPUS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659 hand-labelled queries across 17 intents, 30-55 examples per class, varied in length, register, word order and vocabulary — including Indian-English business terms (godown, party, offtake) reflecting how users actually speak.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TF-IDF FEATURES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Unigrams plus bigrams — short queries hinge on word pairs (how many vs how much). Smoothed IDF: idf(t) = ln[(1+n)/(1+df(t))] + 1, vectors L2-normalised.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MULTINOMIAL NAIVE BAYES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Lidstone smoothing, alpha = 0.3 — mandatory, since an unsmoothed zero probability collapses the log-space posterior to negative infinity. Softmax with max-subtraction for numerical stability.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EVALUATION DISCIPLINE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Stratified 75:25 split, seeded determinism, 5-fold cross-validation, per-class precision/recall/F1, full confusion matrix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Machine Learning — Results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85.8% held-out accuracy, 78.7% cross-validated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HEADLINE METRICS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Test-set accuracy — 85.8%  (145 of 169 held-out queries)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Five-fold cross-validated accuracy — 78.7% +/- 2.7%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Macro-averaged F1 — 0.859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Random baseline — 5.9%  (model is approximately 13.3x better)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Corpus — 659 labelled queries, 476 unigram/bigram features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Training time — approximately 48 ms, in-browser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FOLD SCORES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81.0%   75.7%   80.3%   81.4%   75.2%      mean 78.7%, std dev 2.7%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STRONGEST CLASSES (F1)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profit 0.96  |  dead_stock 0.95  |  lead_summary 0.95  |  expense_breakdown 0.94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The cross-validated figure is authoritative. The single split exceeded it by 7.1 points — quantifying how far one partition can flatter a model at this corpus size.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An Iterative Improvement Process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Each gain followed a diagnosis, not a guess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ITERATION 1 — BASELINE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244 examples, default hyperparameters  -&gt;  47.1% CV accuracy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93.4% train vs 45.9% test indicated substantial overfitting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ITERATION 2 — HYPERPARAMETER SEARCH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180-configuration grid search  -&gt;  54.6% CV accuracy  (+7.5)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L2-normalised vectors summed to ~1, leaving log-scores too close; softmax was near-uniform at roughly 10% across all 17 classes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ITERATION 3 — CORPUS EXPANSION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244 to 616 examples  -&gt;  75.8% CV accuracy  (+21.2, the largest single gain)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~11 examples per class was insufficient to estimate reliable likelihoods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ITERATION 4 — LABEL DISAMBIGUATION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Fixed one confusion pair causing 14% of errors  -&gt;  78.7% CV accuracy  (+2.9)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Root cause was inconsistent labelling in my own corpus, not model capacity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A Negative Result Worth Reporting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Complement Naive Bayes — the experiment that did not work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THE HYPOTHESIS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Error analysis identified overlapping class vocabulary as the dominant failure mode. Complement Naive Bayes (Rennie et al., 2003) is formulated for precisely this condition: it estimates each class from the complement of that class, with weight normalisation so large vocabularies cannot dominate.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THE MEASUREMENT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Implemented in full with sublinear TF scaling, evaluated across 80 configurations under identical five-fold cross-validation.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Multinomial Naive Bayes — 75.3% best CV accuracy, 95% mean confidence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Complement Naive Bayes — 75.7% best CV accuracy, 6% mean confidence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THE OUTCOME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0.4 points of improvement, inside the 2.7-point fold standard deviation — indistinguishable from noise. Weight normalisation also collapsed confidence to ~6%.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WHY IT IS REPORTED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The hypothesis was that the algorithm was deficient. The measurement refuted that and redirected effort to the training data, where the real defect lay.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Testing and Validation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How correctness was established across the platform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VERIFICATION METHODS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Whole-application production build compiling all modules; static analysis on every changed file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Scripted enumeration of the role-permission matrix — 15 roles x 21 domains, zero gaps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ML classifier — stratified test set, 5-fold CV, confusion matrix, error listing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NLP engine — scripted assertions over intent resolution, entity extraction, typo correction, multi-turn dialogue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Manual scenario testing — stock shortfall, partial delivery, split orders, expiry-ordered allocation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Channel portals — verified per role that no partner observes another's records under any navigation path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WHY PER-CLASS REPORTING MATTERED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The defect costing the most accuracy was invisible in the aggregate number. It appeared only in the confusion matrix, where one pair caused 14% of all errors.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HELD-BACK SANITY CHECK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Ten queries absent from the corpus entirely — all ten classified correctly, confidence spanning 64% to 100%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Results and Outcomes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What was built, measured end to end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PLATFORM SCALE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54 source modules, 20,126 lines of code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34 application screens across ten functional modules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30-table relational schema spanning nine operational cycles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15 roles across 21 permission domains, verified complete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INTELLIGENCE LAYER SCALE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17 natural language intents with entity extraction and multi-turn dialogue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659-query labelled training corpus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78.7% +/- 2.7% cross-validated classification accuracy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PERFORMANCE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Perceived page-load time reduced from 5-6 seconds to effectively instantaneous by hydrating state synchronously from a local cache before the authoritative network fetch completes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CONSTRAINT SATISFIED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No business data leaves the client at any point in the intelligence layer. Answers are computed, never generated.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Challenges Faced and Solutions I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Data-integrity defects, and how each was diagnosed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AUTHORISATION FAILING SILENTLY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Checks written against legacy role identifiers no seeded account carried — the most severe instance locked the administrator out of Settings entirely. Fixed by routing every check through shared role-predicate helpers.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ORDER DELIVERED AGAINST INSUFFICIENT STOCK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The availability guard covered only one of three forward transitions. An order for 450 units was fulfilled against 250 in stock. Guard extended to all three transitions, and a partial-delivery mechanism added so a genuine shortfall does not block the order outright.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VISIT REPORTS REFERENCING NON-EXISTENT ORDERS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The order-creation routine did not return the generated identifier. Fixed by returning and awaiting it.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INVENTORY DEDUCTIONS SILENTLY REVERTING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Persistence calls issued without awaiting completion, overwritten by the next fetch. Fixed by awaiting all writes.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Challenges Faced and Solutions II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NLP and ML defects, each resolved through measurement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NEAR-UNIFORM CLASSIFIER CONFIDENCE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Softmax reported ~10% across all 17 classes. Traced to L2 normalisation compressing the log-score range; a scaling factor sharpened the posterior without changing the winner.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FUZZY MATCHING CORRUPTING VALID WORDS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"doing" corrected to "owing", "trader" to "order". Edit budget for short tokens cut to one, plus a protected-word list.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SUBSTRING COLLISION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"total spending" matched order status "pending". Replaced with whole-word boundary matching.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14% OF ERRORS FROM ONE CONFUSION PAIR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profit predicted as revenue_total, traced to ambiguous labels in my own training data. Restructuring the two classes' vocabulary eliminated it entirely.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OVERCONFIDENT OUTPUT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Highest-scoring configuration reported 100% confidence on every query. Chose a lower scale: same accuracy, usable 64-100% confidence spread.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Future Scope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Acknowledged limitations and the next iterations they imply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LIMITATIONS ACKNOWLEDGED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Bag-of-words with bigrams encodes no longer-range word order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98.8% training vs 78.7% cross-validated accuracy indicates residual overfitting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Corpus authored by one person — reflects expected, not observed, phrasing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Predictive analytics module is statistical heuristics, explicitly not learned models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PLANNED WORK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Collect real query logs — replace assumed phrasing with an observed distribution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Sentence embeddings — break the bag-of-words ceiling past ~85% accuracy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Confidence calibration — Platt scaling or isotonic regression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Put the classifier in the operational path alongside the symbolic engine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K-means customer segmentation on RFM features — genuine unsupervised learning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Extend intent coverage to procurement, schemes, claims, complaints, field force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Automated regression suite over the order-to-cash and inventory paths</a:t>
            </a:r>
          </a:p>
          <a:p>
            <a:pPr marL="285750" indent="-285750">
              <a:spcBef>
                <a:spcPts val="240"/>
              </a:spcBef>
              <a:buClr>
                <a:srgbClr val="1F6FEB"/>
              </a:buClr>
              <a:buChar char="•"/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Server-side row-level security, independent of client-side correctness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19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 2"/>
          <p:cNvSpPr/>
          <p:nvPr/>
        </p:nvSpPr>
        <p:spPr>
          <a:xfrm>
            <a:off x="685800" y="640000"/>
            <a:ext cx="260000" cy="62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300000"/>
            <a:ext cx="108204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2800" b="1" i="0" dirty="0">
                <a:solidFill>
                  <a:srgbClr val="1F6FEB"/>
                </a:solidFill>
                <a:latin typeface="Calibri"/>
              </a:rPr>
              <a:t>Conclusion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85800" y="745000"/>
            <a:ext cx="108204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n-IN" sz="1250" b="0" i="1" dirty="0">
                <a:solidFill>
                  <a:srgbClr val="57606A"/>
                </a:solidFill>
                <a:latin typeface="Calibri"/>
              </a:rPr>
              <a:t>What was built, what was measured, and what it taught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1120000"/>
            <a:ext cx="10820400" cy="527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WHAT WAS BUILT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An integrated distribution management, CRM and ERP platform in production use — 54 modules, 20,126 lines, 34 screens, a 30-table schema, RBAC across 15 roles — with an embedded natural language intelligence layer implementing intent classification, named entity recognition and dialogue state tracking, plus a statistical classifier written from first principles with no ML library.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WHAT WAS MEASURED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78.7% +/- 2.7% cross-validated classification accuracy across 17 intents, roughly 13.3x the random baseline. No business data leaves the client; answers are computed, never generated.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500"/>
              </a:spcBef>
            </a:pPr>
            <a:r>
              <a:rPr lang="en-IN" sz="1250" b="1" i="0" dirty="0">
                <a:solidFill>
                  <a:srgbClr val="1F6FEB"/>
                </a:solidFill>
                <a:latin typeface="Calibri"/>
              </a:rPr>
              <a:t>WHAT IT TAUGHT</a:t>
            </a: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The accuracy progression from 47.1% to 78.7% came from diagnosis, not from trying algorithms until one worked. The largest gain came from corpus work; the change made on the strongest theoretical grounds delivered 0.4 points and was kept as a documented negative result. Every integrity defect shared one shape: a rule enforced at one point in a workflow but not at every point where the underlying state could change.</a:t>
            </a:r>
          </a:p>
          <a:p>
            <a:pPr marL="0" indent="0">
              <a:buNone/>
            </a:pPr>
          </a:p>
          <a:p>
            <a:pPr marL="0" indent="0">
              <a:buNone/>
              <a:spcBef>
                <a:spcPts val="240"/>
              </a:spcBef>
            </a:pPr>
            <a:r>
              <a:rPr lang="en-IN" sz="1200" b="0" i="0" dirty="0">
                <a:solidFill>
                  <a:srgbClr val="0D1117"/>
                </a:solidFill>
                <a:latin typeface="Calibri"/>
              </a:rPr>
              <a:t>Measure before changing; keep the result when it contradicts the expectation.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992000" y="6438000"/>
            <a:ext cx="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buNone/>
            </a:pPr>
            <a:r>
              <a:rPr lang="en-IN" sz="1000" b="0" i="0" dirty="0">
                <a:solidFill>
                  <a:srgbClr val="57606A"/>
                </a:solidFill>
                <a:latin typeface="Calibri"/>
              </a:rPr>
              <a:t>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ISM">
  <a:themeElements>
    <a:clrScheme name="PRISM">
      <a:dk1>
        <a:srgbClr val="0D1117"/>
      </a:dk1>
      <a:lt1>
        <a:srgbClr val="FFFFFF"/>
      </a:lt1>
      <a:dk2>
        <a:srgbClr val="57606A"/>
      </a:dk2>
      <a:lt2>
        <a:srgbClr val="F6F8FA"/>
      </a:lt2>
      <a:accent1>
        <a:srgbClr val="1F6FEB"/>
      </a:accent1>
      <a:accent2>
        <a:srgbClr val="2DA44E"/>
      </a:accent2>
      <a:accent3>
        <a:srgbClr val="BC4C00"/>
      </a:accent3>
      <a:accent4>
        <a:srgbClr val="8250DF"/>
      </a:accent4>
      <a:accent5>
        <a:srgbClr val="0969DA"/>
      </a:accent5>
      <a:accent6>
        <a:srgbClr val="CF222E"/>
      </a:accent6>
      <a:hlink>
        <a:srgbClr val="0969DA"/>
      </a:hlink>
      <a:folHlink>
        <a:srgbClr val="8250DF"/>
      </a:folHlink>
    </a:clrScheme>
    <a:fontScheme name="PRISM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RIS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Slides>20</Slides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Prismora - Full Platform Presentation</dc:title>
  <cp:revision>1</cp:revision>
</cp:coreProperties>
</file>