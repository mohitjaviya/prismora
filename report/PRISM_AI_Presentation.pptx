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presentation>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theme" Target="theme/theme1.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ule 2"/>
          <p:cNvSpPr/>
          <p:nvPr/>
        </p:nvSpPr>
        <p:spPr>
          <a:xfrm>
            <a:off x="0" y="0"/>
            <a:ext cx="12192000" cy="118000"/>
          </a:xfrm>
          <a:prstGeom prst="rect">
            <a:avLst/>
          </a:prstGeom>
          <a:solidFill>
            <a:srgbClr val="1F6FEB"/>
          </a:solidFill>
          <a:ln/>
        </p:spPr>
        <p:txBody>
          <a:bodyPr/>
          <a:lstStyle/>
          <a:p/>
        </p:txBody>
      </p:sp>
      <p:sp>
        <p:nvSpPr>
          <p:cNvPr id="3" name="Title"/>
          <p:cNvSpPr txBox="1"/>
          <p:nvPr/>
        </p:nvSpPr>
        <p:spPr>
          <a:xfrm>
            <a:off x="914400" y="1200000"/>
            <a:ext cx="10363200" cy="900000"/>
          </a:xfrm>
          <a:prstGeom prst="rect">
            <a:avLst/>
          </a:prstGeom>
          <a:noFill/>
        </p:spPr>
        <p:txBody>
          <a:bodyPr wrap="square" anchor="t">
            <a:normAutofit/>
          </a:bodyPr>
          <a:lstStyle/>
          <a:p>
            <a:pPr algn="ctr">
              <a:buNone/>
            </a:pPr>
            <a:r>
              <a:rPr lang="en-IN" sz="5400" b="1" i="0" dirty="0">
                <a:solidFill>
                  <a:srgbClr val="1F6FEB"/>
                </a:solidFill>
                <a:latin typeface="Calibri"/>
              </a:rPr>
              <a:t>PRISM AI</a:t>
            </a:r>
          </a:p>
        </p:txBody>
      </p:sp>
      <p:sp>
        <p:nvSpPr>
          <p:cNvPr id="4" name="Subtitle"/>
          <p:cNvSpPr txBox="1"/>
          <p:nvPr/>
        </p:nvSpPr>
        <p:spPr>
          <a:xfrm>
            <a:off x="914400" y="2150000"/>
            <a:ext cx="10363200" cy="700000"/>
          </a:xfrm>
          <a:prstGeom prst="rect">
            <a:avLst/>
          </a:prstGeom>
          <a:noFill/>
        </p:spPr>
        <p:txBody>
          <a:bodyPr wrap="square" anchor="t">
            <a:normAutofit/>
          </a:bodyPr>
          <a:lstStyle/>
          <a:p>
            <a:pPr algn="ctr">
              <a:buNone/>
            </a:pPr>
            <a:r>
              <a:rPr lang="en-IN" sz="1600" b="0" i="1" dirty="0">
                <a:solidFill>
                  <a:srgbClr val="57606A"/>
                </a:solidFill>
                <a:latin typeface="Calibri"/>
              </a:rPr>
              <a:t>A Hybrid Natural Language Interface for Enterprise Business Intelligence</a:t>
            </a:r>
          </a:p>
        </p:txBody>
      </p:sp>
      <p:sp>
        <p:nvSpPr>
          <p:cNvPr id="5" name="Body"/>
          <p:cNvSpPr txBox="1"/>
          <p:nvPr/>
        </p:nvSpPr>
        <p:spPr>
          <a:xfrm>
            <a:off x="914400" y="2900000"/>
            <a:ext cx="10363200" cy="3400000"/>
          </a:xfrm>
          <a:prstGeom prst="rect">
            <a:avLst/>
          </a:prstGeom>
          <a:noFill/>
        </p:spPr>
        <p:txBody>
          <a:bodyPr wrap="square" anchor="t">
            <a:normAutofit/>
          </a:bodyPr>
          <a:lstStyle/>
          <a:p>
            <a:pPr>
              <a:buNone/>
            </a:pPr>
          </a:p>
          <a:p>
            <a:pPr algn="ctr">
              <a:buNone/>
            </a:pPr>
            <a:r>
              <a:rPr lang="en-IN" sz="1300" b="0" i="0" dirty="0">
                <a:solidFill>
                  <a:srgbClr val="0D1117"/>
                </a:solidFill>
                <a:latin typeface="Calibri"/>
              </a:rPr>
              <a:t>Artificial Intelligence Internship Project</a:t>
            </a:r>
          </a:p>
          <a:p>
            <a:pPr>
              <a:buNone/>
            </a:pPr>
          </a:p>
          <a:p>
            <a:pPr algn="ctr">
              <a:buNone/>
            </a:pPr>
            <a:r>
              <a:rPr lang="en-IN" sz="1250" b="1" i="0" dirty="0">
                <a:solidFill>
                  <a:srgbClr val="1F6FEB"/>
                </a:solidFill>
                <a:latin typeface="Calibri"/>
              </a:rPr>
              <a:t>Submitted by</a:t>
            </a:r>
          </a:p>
          <a:p>
            <a:pPr algn="ctr">
              <a:buNone/>
            </a:pPr>
            <a:r>
              <a:rPr lang="en-IN" sz="1300" b="0" i="0" dirty="0">
                <a:solidFill>
                  <a:srgbClr val="0D1117"/>
                </a:solidFill>
                <a:latin typeface="Calibri"/>
              </a:rPr>
              <a:t>[Your Full Name]  |  Enrolment No. [Enrolment Number]</a:t>
            </a:r>
          </a:p>
          <a:p>
            <a:pPr>
              <a:buNone/>
            </a:pPr>
          </a:p>
          <a:p>
            <a:pPr algn="ctr">
              <a:buNone/>
            </a:pPr>
            <a:r>
              <a:rPr lang="en-IN" sz="1250" b="1" i="0" dirty="0">
                <a:solidFill>
                  <a:srgbClr val="1F6FEB"/>
                </a:solidFill>
                <a:latin typeface="Calibri"/>
              </a:rPr>
              <a:t>Under the Guidance of</a:t>
            </a:r>
          </a:p>
          <a:p>
            <a:pPr algn="ctr">
              <a:buNone/>
            </a:pPr>
            <a:r>
              <a:rPr lang="en-IN" sz="1300" b="0" i="0" dirty="0">
                <a:solidFill>
                  <a:srgbClr val="0D1117"/>
                </a:solidFill>
                <a:latin typeface="Calibri"/>
              </a:rPr>
              <a:t>[Faculty Guide Name]  |  [Industry Mentor Name]</a:t>
            </a:r>
          </a:p>
          <a:p>
            <a:pPr>
              <a:buNone/>
            </a:pPr>
          </a:p>
          <a:p>
            <a:pPr algn="ctr">
              <a:buNone/>
            </a:pPr>
            <a:r>
              <a:rPr lang="en-IN" sz="1250" b="1" i="0" dirty="0">
                <a:solidFill>
                  <a:srgbClr val="1F6FEB"/>
                </a:solidFill>
                <a:latin typeface="Calibri"/>
              </a:rPr>
              <a:t>Organisation</a:t>
            </a:r>
          </a:p>
          <a:p>
            <a:pPr algn="ctr">
              <a:buNone/>
            </a:pPr>
            <a:r>
              <a:rPr lang="en-IN" sz="1300" b="0" i="0" dirty="0">
                <a:solidFill>
                  <a:srgbClr val="0D1117"/>
                </a:solidFill>
                <a:latin typeface="Calibri"/>
              </a:rPr>
              <a:t>[Company Name]</a:t>
            </a:r>
          </a:p>
          <a:p>
            <a:pPr>
              <a:buNone/>
            </a:pPr>
          </a:p>
          <a:p>
            <a:pPr algn="ctr">
              <a:buNone/>
            </a:pPr>
            <a:r>
              <a:rPr lang="en-IN" sz="1300" b="0" i="0" dirty="0">
                <a:solidFill>
                  <a:srgbClr val="0D1117"/>
                </a:solidFill>
                <a:latin typeface="Calibri"/>
              </a:rPr>
              <a:t>Department of Computer Science and Engineering, [University Name]</a:t>
            </a:r>
          </a:p>
        </p:txBody>
      </p:sp>
    </p:spTree>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ule 2"/>
          <p:cNvSpPr/>
          <p:nvPr/>
        </p:nvSpPr>
        <p:spPr>
          <a:xfrm>
            <a:off x="685800" y="640000"/>
            <a:ext cx="260000" cy="62000"/>
          </a:xfrm>
          <a:prstGeom prst="rect">
            <a:avLst/>
          </a:prstGeom>
          <a:solidFill>
            <a:srgbClr val="1F6FEB"/>
          </a:solidFill>
          <a:ln/>
        </p:spPr>
        <p:txBody>
          <a:bodyPr/>
          <a:lstStyle/>
          <a:p/>
        </p:txBody>
      </p:sp>
      <p:sp>
        <p:nvSpPr>
          <p:cNvPr id="3" name="Title"/>
          <p:cNvSpPr txBox="1"/>
          <p:nvPr/>
        </p:nvSpPr>
        <p:spPr>
          <a:xfrm>
            <a:off x="685800" y="300000"/>
            <a:ext cx="10820400" cy="560000"/>
          </a:xfrm>
          <a:prstGeom prst="rect">
            <a:avLst/>
          </a:prstGeom>
          <a:noFill/>
        </p:spPr>
        <p:txBody>
          <a:bodyPr wrap="square" anchor="t">
            <a:normAutofit/>
          </a:bodyPr>
          <a:lstStyle/>
          <a:p>
            <a:pPr>
              <a:buNone/>
            </a:pPr>
            <a:r>
              <a:rPr lang="en-IN" sz="2800" b="1" i="0" dirty="0">
                <a:solidFill>
                  <a:srgbClr val="1F6FEB"/>
                </a:solidFill>
                <a:latin typeface="Calibri"/>
              </a:rPr>
              <a:t>Contents</a:t>
            </a:r>
          </a:p>
        </p:txBody>
      </p:sp>
      <p:sp>
        <p:nvSpPr>
          <p:cNvPr id="5" name="Body"/>
          <p:cNvSpPr txBox="1"/>
          <p:nvPr/>
        </p:nvSpPr>
        <p:spPr>
          <a:xfrm>
            <a:off x="685800" y="760000"/>
            <a:ext cx="10820400" cy="5638000"/>
          </a:xfrm>
          <a:prstGeom prst="rect">
            <a:avLst/>
          </a:prstGeom>
          <a:noFill/>
        </p:spPr>
        <p:txBody>
          <a:bodyPr wrap="square" anchor="t">
            <a:normAutofit/>
          </a:bodyPr>
          <a:lstStyle/>
          <a:p>
            <a:pPr marL="285750" indent="-285750">
              <a:spcBef>
                <a:spcPts val="240"/>
              </a:spcBef>
              <a:buClr>
                <a:srgbClr val="1F6FEB"/>
              </a:buClr>
              <a:buChar char="•"/>
            </a:pPr>
            <a:r>
              <a:rPr lang="en-IN" sz="1200" b="0" i="0" dirty="0">
                <a:solidFill>
                  <a:srgbClr val="0D1117"/>
                </a:solidFill>
                <a:latin typeface="Calibri"/>
              </a:rPr>
              <a:t>Title and Problem Statement</a:t>
            </a:r>
          </a:p>
          <a:p>
            <a:pPr marL="285750" indent="-285750">
              <a:spcBef>
                <a:spcPts val="240"/>
              </a:spcBef>
              <a:buClr>
                <a:srgbClr val="1F6FEB"/>
              </a:buClr>
              <a:buChar char="•"/>
            </a:pPr>
            <a:r>
              <a:rPr lang="en-IN" sz="1200" b="0" i="0" dirty="0">
                <a:solidFill>
                  <a:srgbClr val="0D1117"/>
                </a:solidFill>
                <a:latin typeface="Calibri"/>
              </a:rPr>
              <a:t>Organisation Overview and Internship Structure</a:t>
            </a:r>
          </a:p>
          <a:p>
            <a:pPr marL="285750" indent="-285750">
              <a:spcBef>
                <a:spcPts val="240"/>
              </a:spcBef>
              <a:buClr>
                <a:srgbClr val="1F6FEB"/>
              </a:buClr>
              <a:buChar char="•"/>
            </a:pPr>
            <a:r>
              <a:rPr lang="en-IN" sz="1200" b="0" i="0" dirty="0">
                <a:solidFill>
                  <a:srgbClr val="0D1117"/>
                </a:solidFill>
                <a:latin typeface="Calibri"/>
              </a:rPr>
              <a:t>Proposed System Overview</a:t>
            </a:r>
          </a:p>
          <a:p>
            <a:pPr marL="285750" indent="-285750">
              <a:spcBef>
                <a:spcPts val="240"/>
              </a:spcBef>
              <a:buClr>
                <a:srgbClr val="1F6FEB"/>
              </a:buClr>
              <a:buChar char="•"/>
            </a:pPr>
            <a:r>
              <a:rPr lang="en-IN" sz="1200" b="0" i="0" dirty="0">
                <a:solidFill>
                  <a:srgbClr val="0D1117"/>
                </a:solidFill>
                <a:latin typeface="Calibri"/>
              </a:rPr>
              <a:t>Implementation Details</a:t>
            </a:r>
          </a:p>
          <a:p>
            <a:pPr marL="285750" indent="-285750">
              <a:spcBef>
                <a:spcPts val="240"/>
              </a:spcBef>
              <a:buClr>
                <a:srgbClr val="1F6FEB"/>
              </a:buClr>
              <a:buChar char="•"/>
            </a:pPr>
            <a:r>
              <a:rPr lang="en-IN" sz="1200" b="0" i="0" dirty="0">
                <a:solidFill>
                  <a:srgbClr val="0D1117"/>
                </a:solidFill>
                <a:latin typeface="Calibri"/>
              </a:rPr>
              <a:t>Working Demonstration</a:t>
            </a:r>
          </a:p>
          <a:p>
            <a:pPr marL="285750" indent="-285750">
              <a:spcBef>
                <a:spcPts val="240"/>
              </a:spcBef>
              <a:buClr>
                <a:srgbClr val="1F6FEB"/>
              </a:buClr>
              <a:buChar char="•"/>
            </a:pPr>
            <a:r>
              <a:rPr lang="en-IN" sz="1200" b="0" i="0" dirty="0">
                <a:solidFill>
                  <a:srgbClr val="0D1117"/>
                </a:solidFill>
                <a:latin typeface="Calibri"/>
              </a:rPr>
              <a:t>Testing and Validation</a:t>
            </a:r>
          </a:p>
          <a:p>
            <a:pPr marL="285750" indent="-285750">
              <a:spcBef>
                <a:spcPts val="240"/>
              </a:spcBef>
              <a:buClr>
                <a:srgbClr val="1F6FEB"/>
              </a:buClr>
              <a:buChar char="•"/>
            </a:pPr>
            <a:r>
              <a:rPr lang="en-IN" sz="1200" b="0" i="0" dirty="0">
                <a:solidFill>
                  <a:srgbClr val="0D1117"/>
                </a:solidFill>
                <a:latin typeface="Calibri"/>
              </a:rPr>
              <a:t>Methodology and Algorithms Used</a:t>
            </a:r>
          </a:p>
          <a:p>
            <a:pPr marL="285750" indent="-285750">
              <a:spcBef>
                <a:spcPts val="240"/>
              </a:spcBef>
              <a:buClr>
                <a:srgbClr val="1F6FEB"/>
              </a:buClr>
              <a:buChar char="•"/>
            </a:pPr>
            <a:r>
              <a:rPr lang="en-IN" sz="1200" b="0" i="0" dirty="0">
                <a:solidFill>
                  <a:srgbClr val="0D1117"/>
                </a:solidFill>
                <a:latin typeface="Calibri"/>
              </a:rPr>
              <a:t>Tools and Technologies</a:t>
            </a:r>
          </a:p>
          <a:p>
            <a:pPr marL="285750" indent="-285750">
              <a:spcBef>
                <a:spcPts val="240"/>
              </a:spcBef>
              <a:buClr>
                <a:srgbClr val="1F6FEB"/>
              </a:buClr>
              <a:buChar char="•"/>
            </a:pPr>
            <a:r>
              <a:rPr lang="en-IN" sz="1200" b="0" i="0" dirty="0">
                <a:solidFill>
                  <a:srgbClr val="0D1117"/>
                </a:solidFill>
                <a:latin typeface="Calibri"/>
              </a:rPr>
              <a:t>Results and Outcomes</a:t>
            </a:r>
          </a:p>
          <a:p>
            <a:pPr marL="285750" indent="-285750">
              <a:spcBef>
                <a:spcPts val="240"/>
              </a:spcBef>
              <a:buClr>
                <a:srgbClr val="1F6FEB"/>
              </a:buClr>
              <a:buChar char="•"/>
            </a:pPr>
            <a:r>
              <a:rPr lang="en-IN" sz="1200" b="0" i="0" dirty="0">
                <a:solidFill>
                  <a:srgbClr val="0D1117"/>
                </a:solidFill>
                <a:latin typeface="Calibri"/>
              </a:rPr>
              <a:t>Challenges Faced and Solutions</a:t>
            </a:r>
          </a:p>
          <a:p>
            <a:pPr marL="285750" indent="-285750">
              <a:spcBef>
                <a:spcPts val="240"/>
              </a:spcBef>
              <a:buClr>
                <a:srgbClr val="1F6FEB"/>
              </a:buClr>
              <a:buChar char="•"/>
            </a:pPr>
            <a:r>
              <a:rPr lang="en-IN" sz="1200" b="0" i="0" dirty="0">
                <a:solidFill>
                  <a:srgbClr val="0D1117"/>
                </a:solidFill>
                <a:latin typeface="Calibri"/>
              </a:rPr>
              <a:t>Future Scope and Enhancements</a:t>
            </a:r>
          </a:p>
          <a:p>
            <a:pPr marL="285750" indent="-285750">
              <a:spcBef>
                <a:spcPts val="240"/>
              </a:spcBef>
              <a:buClr>
                <a:srgbClr val="1F6FEB"/>
              </a:buClr>
              <a:buChar char="•"/>
            </a:pPr>
            <a:r>
              <a:rPr lang="en-IN" sz="1200" b="0" i="0" dirty="0">
                <a:solidFill>
                  <a:srgbClr val="0D1117"/>
                </a:solidFill>
                <a:latin typeface="Calibri"/>
              </a:rPr>
              <a:t>Conclusion</a:t>
            </a:r>
          </a:p>
        </p:txBody>
      </p:sp>
      <p:sp>
        <p:nvSpPr>
          <p:cNvPr id="6" name="PageNo"/>
          <p:cNvSpPr txBox="1"/>
          <p:nvPr/>
        </p:nvSpPr>
        <p:spPr>
          <a:xfrm>
            <a:off x="10992000" y="6438000"/>
            <a:ext cx="700000" cy="260000"/>
          </a:xfrm>
          <a:prstGeom prst="rect">
            <a:avLst/>
          </a:prstGeom>
          <a:noFill/>
        </p:spPr>
        <p:txBody>
          <a:bodyPr wrap="square" anchor="t">
            <a:normAutofit/>
          </a:bodyPr>
          <a:lstStyle/>
          <a:p>
            <a:pPr algn="r">
              <a:buNone/>
            </a:pPr>
            <a:r>
              <a:rPr lang="en-IN" sz="1000" b="0" i="0" dirty="0">
                <a:solidFill>
                  <a:srgbClr val="57606A"/>
                </a:solidFill>
                <a:latin typeface="Calibri"/>
              </a:rPr>
              <a:t>2</a:t>
            </a:r>
          </a:p>
        </p:txBody>
      </p:sp>
    </p:spTree>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ule 2"/>
          <p:cNvSpPr/>
          <p:nvPr/>
        </p:nvSpPr>
        <p:spPr>
          <a:xfrm>
            <a:off x="685800" y="640000"/>
            <a:ext cx="260000" cy="62000"/>
          </a:xfrm>
          <a:prstGeom prst="rect">
            <a:avLst/>
          </a:prstGeom>
          <a:solidFill>
            <a:srgbClr val="1F6FEB"/>
          </a:solidFill>
          <a:ln/>
        </p:spPr>
        <p:txBody>
          <a:bodyPr/>
          <a:lstStyle/>
          <a:p/>
        </p:txBody>
      </p:sp>
      <p:sp>
        <p:nvSpPr>
          <p:cNvPr id="3" name="Title"/>
          <p:cNvSpPr txBox="1"/>
          <p:nvPr/>
        </p:nvSpPr>
        <p:spPr>
          <a:xfrm>
            <a:off x="685800" y="300000"/>
            <a:ext cx="10820400" cy="560000"/>
          </a:xfrm>
          <a:prstGeom prst="rect">
            <a:avLst/>
          </a:prstGeom>
          <a:noFill/>
        </p:spPr>
        <p:txBody>
          <a:bodyPr wrap="square" anchor="t">
            <a:normAutofit/>
          </a:bodyPr>
          <a:lstStyle/>
          <a:p>
            <a:pPr>
              <a:buNone/>
            </a:pPr>
            <a:r>
              <a:rPr lang="en-IN" sz="2800" b="1" i="0" dirty="0">
                <a:solidFill>
                  <a:srgbClr val="1F6FEB"/>
                </a:solidFill>
                <a:latin typeface="Calibri"/>
              </a:rPr>
              <a:t>Title and Problem Statement</a:t>
            </a:r>
          </a:p>
        </p:txBody>
      </p:sp>
      <p:sp>
        <p:nvSpPr>
          <p:cNvPr id="4" name="Subtitle"/>
          <p:cNvSpPr txBox="1"/>
          <p:nvPr/>
        </p:nvSpPr>
        <p:spPr>
          <a:xfrm>
            <a:off x="685800" y="745000"/>
            <a:ext cx="10820400" cy="340000"/>
          </a:xfrm>
          <a:prstGeom prst="rect">
            <a:avLst/>
          </a:prstGeom>
          <a:noFill/>
        </p:spPr>
        <p:txBody>
          <a:bodyPr wrap="square" anchor="t">
            <a:normAutofit/>
          </a:bodyPr>
          <a:lstStyle/>
          <a:p>
            <a:pPr>
              <a:buNone/>
            </a:pPr>
            <a:r>
              <a:rPr lang="en-IN" sz="1250" b="0" i="1" dirty="0">
                <a:solidFill>
                  <a:srgbClr val="57606A"/>
                </a:solidFill>
                <a:latin typeface="Calibri"/>
              </a:rPr>
              <a:t>PRISM AI — natural language querying over live enterprise data</a:t>
            </a:r>
          </a:p>
        </p:txBody>
      </p:sp>
      <p:sp>
        <p:nvSpPr>
          <p:cNvPr id="5" name="Body"/>
          <p:cNvSpPr txBox="1"/>
          <p:nvPr/>
        </p:nvSpPr>
        <p:spPr>
          <a:xfrm>
            <a:off x="685800" y="1120000"/>
            <a:ext cx="10820400" cy="5278000"/>
          </a:xfrm>
          <a:prstGeom prst="rect">
            <a:avLst/>
          </a:prstGeom>
          <a:noFill/>
        </p:spPr>
        <p:txBody>
          <a:bodyPr wrap="square" anchor="t">
            <a:normAutofit/>
          </a:bodyPr>
          <a:lstStyle/>
          <a:p>
            <a:pPr marL="0" indent="0">
              <a:buNone/>
              <a:spcBef>
                <a:spcPts val="500"/>
              </a:spcBef>
            </a:pPr>
            <a:r>
              <a:rPr lang="en-IN" sz="1250" b="1" i="0" dirty="0">
                <a:solidFill>
                  <a:srgbClr val="1F6FEB"/>
                </a:solidFill>
                <a:latin typeface="Calibri"/>
              </a:rPr>
              <a:t>THE PROBLEM</a:t>
            </a:r>
          </a:p>
          <a:p>
            <a:pPr marL="0" indent="0">
              <a:buNone/>
              <a:spcBef>
                <a:spcPts val="240"/>
              </a:spcBef>
            </a:pPr>
            <a:r>
              <a:rPr lang="en-IN" sz="1200" b="0" i="0" dirty="0">
                <a:solidFill>
                  <a:srgbClr val="0D1117"/>
                </a:solidFill>
                <a:latin typeface="Calibri"/>
              </a:rPr>
              <a:t>Enterprise systems store far more than their users can retrieve. Dashboards answer only the questions someone anticipated; every other question needs a developer.</a:t>
            </a:r>
          </a:p>
          <a:p>
            <a:pPr marL="0" indent="0">
              <a:buNone/>
              <a:spcBef>
                <a:spcPts val="240"/>
              </a:spcBef>
            </a:pPr>
            <a:r>
              <a:rPr lang="en-IN" sz="1200" b="0" i="0" dirty="0">
                <a:solidFill>
                  <a:srgbClr val="0D1117"/>
                </a:solidFill>
                <a:latin typeface="Calibri"/>
              </a:rPr>
              <a:t>Conversational AI solves coverage but introduces three costs: business data must be sent to a third party, each query costs money and seconds, and a generative model can state a wrong number with total confidence.</a:t>
            </a:r>
          </a:p>
          <a:p>
            <a:pPr marL="0" indent="0">
              <a:buNone/>
            </a:pPr>
          </a:p>
          <a:p>
            <a:pPr marL="0" indent="0">
              <a:buNone/>
              <a:spcBef>
                <a:spcPts val="500"/>
              </a:spcBef>
            </a:pPr>
            <a:r>
              <a:rPr lang="en-IN" sz="1250" b="1" i="0" dirty="0">
                <a:solidFill>
                  <a:srgbClr val="1F6FEB"/>
                </a:solidFill>
                <a:latin typeface="Calibri"/>
              </a:rPr>
              <a:t>PROJECT OBJECTIVE</a:t>
            </a:r>
          </a:p>
          <a:p>
            <a:pPr marL="0" indent="0">
              <a:buNone/>
              <a:spcBef>
                <a:spcPts val="240"/>
              </a:spcBef>
            </a:pPr>
            <a:r>
              <a:rPr lang="en-IN" sz="1200" b="0" i="0" dirty="0">
                <a:solidFill>
                  <a:srgbClr val="0D1117"/>
                </a:solidFill>
                <a:latin typeface="Calibri"/>
              </a:rPr>
              <a:t>Build a natural language interface that understands business questions and computes answers arithmetically from live records — on-device, instant, zero cost, and incapable of inventing a figure.</a:t>
            </a:r>
          </a:p>
          <a:p>
            <a:pPr marL="0" indent="0">
              <a:buNone/>
            </a:pPr>
          </a:p>
          <a:p>
            <a:pPr marL="0" indent="0">
              <a:buNone/>
              <a:spcBef>
                <a:spcPts val="500"/>
              </a:spcBef>
            </a:pPr>
            <a:r>
              <a:rPr lang="en-IN" sz="1250" b="1" i="0" dirty="0">
                <a:solidFill>
                  <a:srgbClr val="1F6FEB"/>
                </a:solidFill>
                <a:latin typeface="Calibri"/>
              </a:rPr>
              <a:t>FOUR PILLARS</a:t>
            </a:r>
          </a:p>
          <a:p>
            <a:pPr marL="285750" indent="-285750">
              <a:spcBef>
                <a:spcPts val="240"/>
              </a:spcBef>
              <a:buClr>
                <a:srgbClr val="1F6FEB"/>
              </a:buClr>
              <a:buChar char="•"/>
            </a:pPr>
            <a:r>
              <a:rPr lang="en-IN" sz="1200" b="0" i="0" dirty="0">
                <a:solidFill>
                  <a:srgbClr val="0D1117"/>
                </a:solidFill>
                <a:latin typeface="Calibri"/>
              </a:rPr>
              <a:t>Intent Classification — 17 business intents, weighted concept scoring</a:t>
            </a:r>
          </a:p>
          <a:p>
            <a:pPr marL="285750" indent="-285750">
              <a:spcBef>
                <a:spcPts val="240"/>
              </a:spcBef>
              <a:buClr>
                <a:srgbClr val="1F6FEB"/>
              </a:buClr>
              <a:buChar char="•"/>
            </a:pPr>
            <a:r>
              <a:rPr lang="en-IN" sz="1200" b="0" i="0" dirty="0">
                <a:solidFill>
                  <a:srgbClr val="0D1117"/>
                </a:solidFill>
                <a:latin typeface="Calibri"/>
              </a:rPr>
              <a:t>Named Entity Recognition — live gazetteer over products, people, partners, regions</a:t>
            </a:r>
          </a:p>
          <a:p>
            <a:pPr marL="285750" indent="-285750">
              <a:spcBef>
                <a:spcPts val="240"/>
              </a:spcBef>
              <a:buClr>
                <a:srgbClr val="1F6FEB"/>
              </a:buClr>
              <a:buChar char="•"/>
            </a:pPr>
            <a:r>
              <a:rPr lang="en-IN" sz="1200" b="0" i="0" dirty="0">
                <a:solidFill>
                  <a:srgbClr val="0D1117"/>
                </a:solidFill>
                <a:latin typeface="Calibri"/>
              </a:rPr>
              <a:t>Fuzzy Matching — Damerau-Levenshtein typo tolerance</a:t>
            </a:r>
          </a:p>
          <a:p>
            <a:pPr marL="285750" indent="-285750">
              <a:spcBef>
                <a:spcPts val="240"/>
              </a:spcBef>
              <a:buClr>
                <a:srgbClr val="1F6FEB"/>
              </a:buClr>
              <a:buChar char="•"/>
            </a:pPr>
            <a:r>
              <a:rPr lang="en-IN" sz="1200" b="0" i="0" dirty="0">
                <a:solidFill>
                  <a:srgbClr val="0D1117"/>
                </a:solidFill>
                <a:latin typeface="Calibri"/>
              </a:rPr>
              <a:t>Dialogue State Tracking — follow-up questions inherit prior context</a:t>
            </a:r>
          </a:p>
        </p:txBody>
      </p:sp>
      <p:sp>
        <p:nvSpPr>
          <p:cNvPr id="6" name="PageNo"/>
          <p:cNvSpPr txBox="1"/>
          <p:nvPr/>
        </p:nvSpPr>
        <p:spPr>
          <a:xfrm>
            <a:off x="10992000" y="6438000"/>
            <a:ext cx="700000" cy="260000"/>
          </a:xfrm>
          <a:prstGeom prst="rect">
            <a:avLst/>
          </a:prstGeom>
          <a:noFill/>
        </p:spPr>
        <p:txBody>
          <a:bodyPr wrap="square" anchor="t">
            <a:normAutofit/>
          </a:bodyPr>
          <a:lstStyle/>
          <a:p>
            <a:pPr algn="r">
              <a:buNone/>
            </a:pPr>
            <a:r>
              <a:rPr lang="en-IN" sz="1000" b="0" i="0" dirty="0">
                <a:solidFill>
                  <a:srgbClr val="57606A"/>
                </a:solidFill>
                <a:latin typeface="Calibri"/>
              </a:rPr>
              <a:t>3</a:t>
            </a:r>
          </a:p>
        </p:txBody>
      </p:sp>
    </p:spTree>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ule 2"/>
          <p:cNvSpPr/>
          <p:nvPr/>
        </p:nvSpPr>
        <p:spPr>
          <a:xfrm>
            <a:off x="685800" y="640000"/>
            <a:ext cx="260000" cy="62000"/>
          </a:xfrm>
          <a:prstGeom prst="rect">
            <a:avLst/>
          </a:prstGeom>
          <a:solidFill>
            <a:srgbClr val="1F6FEB"/>
          </a:solidFill>
          <a:ln/>
        </p:spPr>
        <p:txBody>
          <a:bodyPr/>
          <a:lstStyle/>
          <a:p/>
        </p:txBody>
      </p:sp>
      <p:sp>
        <p:nvSpPr>
          <p:cNvPr id="3" name="Title"/>
          <p:cNvSpPr txBox="1"/>
          <p:nvPr/>
        </p:nvSpPr>
        <p:spPr>
          <a:xfrm>
            <a:off x="685800" y="300000"/>
            <a:ext cx="10820400" cy="560000"/>
          </a:xfrm>
          <a:prstGeom prst="rect">
            <a:avLst/>
          </a:prstGeom>
          <a:noFill/>
        </p:spPr>
        <p:txBody>
          <a:bodyPr wrap="square" anchor="t">
            <a:normAutofit/>
          </a:bodyPr>
          <a:lstStyle/>
          <a:p>
            <a:pPr>
              <a:buNone/>
            </a:pPr>
            <a:r>
              <a:rPr lang="en-IN" sz="2800" b="1" i="0" dirty="0">
                <a:solidFill>
                  <a:srgbClr val="1F6FEB"/>
                </a:solidFill>
                <a:latin typeface="Calibri"/>
              </a:rPr>
              <a:t>Organisation Overview</a:t>
            </a:r>
          </a:p>
        </p:txBody>
      </p:sp>
      <p:sp>
        <p:nvSpPr>
          <p:cNvPr id="4" name="Subtitle"/>
          <p:cNvSpPr txBox="1"/>
          <p:nvPr/>
        </p:nvSpPr>
        <p:spPr>
          <a:xfrm>
            <a:off x="685800" y="745000"/>
            <a:ext cx="10820400" cy="340000"/>
          </a:xfrm>
          <a:prstGeom prst="rect">
            <a:avLst/>
          </a:prstGeom>
          <a:noFill/>
        </p:spPr>
        <p:txBody>
          <a:bodyPr wrap="square" anchor="t">
            <a:normAutofit/>
          </a:bodyPr>
          <a:lstStyle/>
          <a:p>
            <a:pPr>
              <a:buNone/>
            </a:pPr>
            <a:r>
              <a:rPr lang="en-IN" sz="1250" b="0" i="1" dirty="0">
                <a:solidFill>
                  <a:srgbClr val="57606A"/>
                </a:solidFill>
                <a:latin typeface="Calibri"/>
              </a:rPr>
              <a:t>Internship context and programme structure</a:t>
            </a:r>
          </a:p>
        </p:txBody>
      </p:sp>
      <p:sp>
        <p:nvSpPr>
          <p:cNvPr id="5" name="Body"/>
          <p:cNvSpPr txBox="1"/>
          <p:nvPr/>
        </p:nvSpPr>
        <p:spPr>
          <a:xfrm>
            <a:off x="685800" y="1120000"/>
            <a:ext cx="10820400" cy="5278000"/>
          </a:xfrm>
          <a:prstGeom prst="rect">
            <a:avLst/>
          </a:prstGeom>
          <a:noFill/>
        </p:spPr>
        <p:txBody>
          <a:bodyPr wrap="square" anchor="t">
            <a:normAutofit/>
          </a:bodyPr>
          <a:lstStyle/>
          <a:p>
            <a:pPr marL="0" indent="0">
              <a:buNone/>
              <a:spcBef>
                <a:spcPts val="500"/>
              </a:spcBef>
            </a:pPr>
            <a:r>
              <a:rPr lang="en-IN" sz="1250" b="1" i="0" dirty="0">
                <a:solidFill>
                  <a:srgbClr val="1F6FEB"/>
                </a:solidFill>
                <a:latin typeface="Calibri"/>
              </a:rPr>
              <a:t>ABOUT THE ORGANISATION</a:t>
            </a:r>
          </a:p>
          <a:p>
            <a:pPr marL="0" indent="0">
              <a:buNone/>
              <a:spcBef>
                <a:spcPts val="240"/>
              </a:spcBef>
            </a:pPr>
            <a:r>
              <a:rPr lang="en-IN" sz="1200" b="0" i="0" dirty="0">
                <a:solidFill>
                  <a:srgbClr val="0D1117"/>
                </a:solidFill>
                <a:latin typeface="Calibri"/>
              </a:rPr>
              <a:t>[Company Name] — [two to three lines: year established, location, principal business activity, and domains served. If routed through a training provider, note accreditation.]</a:t>
            </a:r>
          </a:p>
          <a:p>
            <a:pPr marL="0" indent="0">
              <a:buNone/>
            </a:pPr>
          </a:p>
          <a:p>
            <a:pPr marL="0" indent="0">
              <a:buNone/>
              <a:spcBef>
                <a:spcPts val="500"/>
              </a:spcBef>
            </a:pPr>
            <a:r>
              <a:rPr lang="en-IN" sz="1250" b="1" i="0" dirty="0">
                <a:solidFill>
                  <a:srgbClr val="1F6FEB"/>
                </a:solidFill>
                <a:latin typeface="Calibri"/>
              </a:rPr>
              <a:t>MY INTERNSHIP</a:t>
            </a:r>
          </a:p>
          <a:p>
            <a:pPr marL="285750" indent="-285750">
              <a:spcBef>
                <a:spcPts val="240"/>
              </a:spcBef>
              <a:buClr>
                <a:srgbClr val="1F6FEB"/>
              </a:buClr>
              <a:buChar char="•"/>
            </a:pPr>
            <a:r>
              <a:rPr lang="en-IN" sz="1200" b="0" i="0" dirty="0">
                <a:solidFill>
                  <a:srgbClr val="0D1117"/>
                </a:solidFill>
                <a:latin typeface="Calibri"/>
              </a:rPr>
              <a:t>Role — Artificial Intelligence Intern</a:t>
            </a:r>
          </a:p>
          <a:p>
            <a:pPr marL="285750" indent="-285750">
              <a:spcBef>
                <a:spcPts val="240"/>
              </a:spcBef>
              <a:buClr>
                <a:srgbClr val="1F6FEB"/>
              </a:buClr>
              <a:buChar char="•"/>
            </a:pPr>
            <a:r>
              <a:rPr lang="en-IN" sz="1200" b="0" i="0" dirty="0">
                <a:solidFill>
                  <a:srgbClr val="0D1117"/>
                </a:solidFill>
                <a:latin typeface="Calibri"/>
              </a:rPr>
              <a:t>Duration — [N] weeks, [Start Date] to [End Date]</a:t>
            </a:r>
          </a:p>
          <a:p>
            <a:pPr marL="285750" indent="-285750">
              <a:spcBef>
                <a:spcPts val="240"/>
              </a:spcBef>
              <a:buClr>
                <a:srgbClr val="1F6FEB"/>
              </a:buClr>
              <a:buChar char="•"/>
            </a:pPr>
            <a:r>
              <a:rPr lang="en-IN" sz="1200" b="0" i="0" dirty="0">
                <a:solidFill>
                  <a:srgbClr val="0D1117"/>
                </a:solidFill>
                <a:latin typeface="Calibri"/>
              </a:rPr>
              <a:t>Mode — [Remote / Hybrid / On-site]</a:t>
            </a:r>
          </a:p>
          <a:p>
            <a:pPr marL="285750" indent="-285750">
              <a:spcBef>
                <a:spcPts val="240"/>
              </a:spcBef>
              <a:buClr>
                <a:srgbClr val="1F6FEB"/>
              </a:buClr>
              <a:buChar char="•"/>
            </a:pPr>
            <a:r>
              <a:rPr lang="en-IN" sz="1200" b="0" i="0" dirty="0">
                <a:solidFill>
                  <a:srgbClr val="0D1117"/>
                </a:solidFill>
                <a:latin typeface="Calibri"/>
              </a:rPr>
              <a:t>Deployment — Prismora, a production CRM/ERP platform with live order, invoice, inventory and channel-partner data</a:t>
            </a:r>
          </a:p>
          <a:p>
            <a:pPr marL="0" indent="0">
              <a:buNone/>
            </a:pPr>
          </a:p>
          <a:p>
            <a:pPr marL="0" indent="0">
              <a:buNone/>
              <a:spcBef>
                <a:spcPts val="500"/>
              </a:spcBef>
            </a:pPr>
            <a:r>
              <a:rPr lang="en-IN" sz="1250" b="1" i="0" dirty="0">
                <a:solidFill>
                  <a:srgbClr val="1F6FEB"/>
                </a:solidFill>
                <a:latin typeface="Calibri"/>
              </a:rPr>
              <a:t>PHASE STRUCTURE</a:t>
            </a:r>
          </a:p>
          <a:p>
            <a:pPr marL="285750" indent="-285750">
              <a:spcBef>
                <a:spcPts val="240"/>
              </a:spcBef>
              <a:buClr>
                <a:srgbClr val="1F6FEB"/>
              </a:buClr>
              <a:buChar char="•"/>
            </a:pPr>
            <a:r>
              <a:rPr lang="en-IN" sz="1200" b="0" i="0" dirty="0">
                <a:solidFill>
                  <a:srgbClr val="0D1117"/>
                </a:solidFill>
                <a:latin typeface="Calibri"/>
              </a:rPr>
              <a:t>Phase 1 — Domain analysis; catalogue of real operator questions</a:t>
            </a:r>
          </a:p>
          <a:p>
            <a:pPr marL="285750" indent="-285750">
              <a:spcBef>
                <a:spcPts val="240"/>
              </a:spcBef>
              <a:buClr>
                <a:srgbClr val="1F6FEB"/>
              </a:buClr>
              <a:buChar char="•"/>
            </a:pPr>
            <a:r>
              <a:rPr lang="en-IN" sz="1200" b="0" i="0" dirty="0">
                <a:solidFill>
                  <a:srgbClr val="0D1117"/>
                </a:solidFill>
                <a:latin typeface="Calibri"/>
              </a:rPr>
              <a:t>Phase 2 — Symbolic NLP pipeline across 17 intents</a:t>
            </a:r>
          </a:p>
          <a:p>
            <a:pPr marL="285750" indent="-285750">
              <a:spcBef>
                <a:spcPts val="240"/>
              </a:spcBef>
              <a:buClr>
                <a:srgbClr val="1F6FEB"/>
              </a:buClr>
              <a:buChar char="•"/>
            </a:pPr>
            <a:r>
              <a:rPr lang="en-IN" sz="1200" b="0" i="0" dirty="0">
                <a:solidFill>
                  <a:srgbClr val="0D1117"/>
                </a:solidFill>
                <a:latin typeface="Calibri"/>
              </a:rPr>
              <a:t>Phase 3 — Fuzzy matching and dialogue state tracking</a:t>
            </a:r>
          </a:p>
          <a:p>
            <a:pPr marL="285750" indent="-285750">
              <a:spcBef>
                <a:spcPts val="240"/>
              </a:spcBef>
              <a:buClr>
                <a:srgbClr val="1F6FEB"/>
              </a:buClr>
              <a:buChar char="•"/>
            </a:pPr>
            <a:r>
              <a:rPr lang="en-IN" sz="1200" b="0" i="0" dirty="0">
                <a:solidFill>
                  <a:srgbClr val="0D1117"/>
                </a:solidFill>
                <a:latin typeface="Calibri"/>
              </a:rPr>
              <a:t>Phase 4 — Labelled corpus; TF-IDF and Naive Bayes from first principles</a:t>
            </a:r>
          </a:p>
          <a:p>
            <a:pPr marL="285750" indent="-285750">
              <a:spcBef>
                <a:spcPts val="240"/>
              </a:spcBef>
              <a:buClr>
                <a:srgbClr val="1F6FEB"/>
              </a:buClr>
              <a:buChar char="•"/>
            </a:pPr>
            <a:r>
              <a:rPr lang="en-IN" sz="1200" b="0" i="0" dirty="0">
                <a:solidFill>
                  <a:srgbClr val="0D1117"/>
                </a:solidFill>
                <a:latin typeface="Calibri"/>
              </a:rPr>
              <a:t>Phase 5 — Cross-validated evaluation and iterative improvement</a:t>
            </a:r>
          </a:p>
          <a:p>
            <a:pPr marL="285750" indent="-285750">
              <a:spcBef>
                <a:spcPts val="240"/>
              </a:spcBef>
              <a:buClr>
                <a:srgbClr val="1F6FEB"/>
              </a:buClr>
              <a:buChar char="•"/>
            </a:pPr>
            <a:r>
              <a:rPr lang="en-IN" sz="1200" b="0" i="0" dirty="0">
                <a:solidFill>
                  <a:srgbClr val="0D1117"/>
                </a:solidFill>
                <a:latin typeface="Calibri"/>
              </a:rPr>
              <a:t>Phase 6 — Integration, evaluation dashboard, documentation</a:t>
            </a:r>
          </a:p>
        </p:txBody>
      </p:sp>
      <p:sp>
        <p:nvSpPr>
          <p:cNvPr id="6" name="PageNo"/>
          <p:cNvSpPr txBox="1"/>
          <p:nvPr/>
        </p:nvSpPr>
        <p:spPr>
          <a:xfrm>
            <a:off x="10992000" y="6438000"/>
            <a:ext cx="700000" cy="260000"/>
          </a:xfrm>
          <a:prstGeom prst="rect">
            <a:avLst/>
          </a:prstGeom>
          <a:noFill/>
        </p:spPr>
        <p:txBody>
          <a:bodyPr wrap="square" anchor="t">
            <a:normAutofit/>
          </a:bodyPr>
          <a:lstStyle/>
          <a:p>
            <a:pPr algn="r">
              <a:buNone/>
            </a:pPr>
            <a:r>
              <a:rPr lang="en-IN" sz="1000" b="0" i="0" dirty="0">
                <a:solidFill>
                  <a:srgbClr val="57606A"/>
                </a:solidFill>
                <a:latin typeface="Calibri"/>
              </a:rPr>
              <a:t>4</a:t>
            </a:r>
          </a:p>
        </p:txBody>
      </p:sp>
    </p:spTree>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ule 2"/>
          <p:cNvSpPr/>
          <p:nvPr/>
        </p:nvSpPr>
        <p:spPr>
          <a:xfrm>
            <a:off x="685800" y="640000"/>
            <a:ext cx="260000" cy="62000"/>
          </a:xfrm>
          <a:prstGeom prst="rect">
            <a:avLst/>
          </a:prstGeom>
          <a:solidFill>
            <a:srgbClr val="1F6FEB"/>
          </a:solidFill>
          <a:ln/>
        </p:spPr>
        <p:txBody>
          <a:bodyPr/>
          <a:lstStyle/>
          <a:p/>
        </p:txBody>
      </p:sp>
      <p:sp>
        <p:nvSpPr>
          <p:cNvPr id="3" name="Title"/>
          <p:cNvSpPr txBox="1"/>
          <p:nvPr/>
        </p:nvSpPr>
        <p:spPr>
          <a:xfrm>
            <a:off x="685800" y="300000"/>
            <a:ext cx="10820400" cy="560000"/>
          </a:xfrm>
          <a:prstGeom prst="rect">
            <a:avLst/>
          </a:prstGeom>
          <a:noFill/>
        </p:spPr>
        <p:txBody>
          <a:bodyPr wrap="square" anchor="t">
            <a:normAutofit/>
          </a:bodyPr>
          <a:lstStyle/>
          <a:p>
            <a:pPr>
              <a:buNone/>
            </a:pPr>
            <a:r>
              <a:rPr lang="en-IN" sz="2800" b="1" i="0" dirty="0">
                <a:solidFill>
                  <a:srgbClr val="1F6FEB"/>
                </a:solidFill>
                <a:latin typeface="Calibri"/>
              </a:rPr>
              <a:t>Proposed System Overview</a:t>
            </a:r>
          </a:p>
        </p:txBody>
      </p:sp>
      <p:sp>
        <p:nvSpPr>
          <p:cNvPr id="4" name="Subtitle"/>
          <p:cNvSpPr txBox="1"/>
          <p:nvPr/>
        </p:nvSpPr>
        <p:spPr>
          <a:xfrm>
            <a:off x="685800" y="745000"/>
            <a:ext cx="10820400" cy="340000"/>
          </a:xfrm>
          <a:prstGeom prst="rect">
            <a:avLst/>
          </a:prstGeom>
          <a:noFill/>
        </p:spPr>
        <p:txBody>
          <a:bodyPr wrap="square" anchor="t">
            <a:normAutofit/>
          </a:bodyPr>
          <a:lstStyle/>
          <a:p>
            <a:pPr>
              <a:buNone/>
            </a:pPr>
            <a:r>
              <a:rPr lang="en-IN" sz="1250" b="0" i="1" dirty="0">
                <a:solidFill>
                  <a:srgbClr val="57606A"/>
                </a:solidFill>
                <a:latin typeface="Calibri"/>
              </a:rPr>
              <a:t>A hybrid architecture: symbolic engine for operations, statistical classifier for evaluation</a:t>
            </a:r>
          </a:p>
        </p:txBody>
      </p:sp>
      <p:sp>
        <p:nvSpPr>
          <p:cNvPr id="5" name="Body"/>
          <p:cNvSpPr txBox="1"/>
          <p:nvPr/>
        </p:nvSpPr>
        <p:spPr>
          <a:xfrm>
            <a:off x="685800" y="1120000"/>
            <a:ext cx="10820400" cy="5278000"/>
          </a:xfrm>
          <a:prstGeom prst="rect">
            <a:avLst/>
          </a:prstGeom>
          <a:noFill/>
        </p:spPr>
        <p:txBody>
          <a:bodyPr wrap="square" anchor="t">
            <a:normAutofit/>
          </a:bodyPr>
          <a:lstStyle/>
          <a:p>
            <a:pPr marL="0" indent="0">
              <a:buNone/>
              <a:spcBef>
                <a:spcPts val="500"/>
              </a:spcBef>
            </a:pPr>
            <a:r>
              <a:rPr lang="en-IN" sz="1250" b="1" i="0" dirty="0">
                <a:solidFill>
                  <a:srgbClr val="1F6FEB"/>
                </a:solidFill>
                <a:latin typeface="Calibri"/>
              </a:rPr>
              <a:t>WHY HYBRID</a:t>
            </a:r>
          </a:p>
          <a:p>
            <a:pPr marL="0" indent="0">
              <a:buNone/>
              <a:spcBef>
                <a:spcPts val="240"/>
              </a:spcBef>
            </a:pPr>
            <a:r>
              <a:rPr lang="en-IN" sz="1200" b="0" i="0" dirty="0">
                <a:solidFill>
                  <a:srgbClr val="0D1117"/>
                </a:solidFill>
                <a:latin typeface="Calibri"/>
              </a:rPr>
              <a:t>Rule systems fail on unseen phrasing but never fail silently. Statistical models generalise but inherit any inconsistency in their labels. Retaining both gives coverage plus an auditable fallback — and their disagreements reveal gaps in the rule vocabulary.</a:t>
            </a:r>
          </a:p>
          <a:p>
            <a:pPr marL="0" indent="0">
              <a:buNone/>
            </a:pPr>
          </a:p>
          <a:p>
            <a:pPr marL="0" indent="0">
              <a:buNone/>
              <a:spcBef>
                <a:spcPts val="500"/>
              </a:spcBef>
            </a:pPr>
            <a:r>
              <a:rPr lang="en-IN" sz="1250" b="1" i="0" dirty="0">
                <a:solidFill>
                  <a:srgbClr val="1F6FEB"/>
                </a:solidFill>
                <a:latin typeface="Calibri"/>
              </a:rPr>
              <a:t>CAPABILITIES DELIVERED</a:t>
            </a:r>
          </a:p>
          <a:p>
            <a:pPr marL="285750" indent="-285750">
              <a:spcBef>
                <a:spcPts val="240"/>
              </a:spcBef>
              <a:buClr>
                <a:srgbClr val="1F6FEB"/>
              </a:buClr>
              <a:buChar char="•"/>
            </a:pPr>
            <a:r>
              <a:rPr lang="en-IN" sz="1200" b="0" i="0" dirty="0">
                <a:solidFill>
                  <a:srgbClr val="0D1117"/>
                </a:solidFill>
                <a:latin typeface="Calibri"/>
              </a:rPr>
              <a:t>Symbolic Engine — 7-stage pipeline: normalise, tokenise, stem, expand, classify, extract entities, track dialogue state</a:t>
            </a:r>
          </a:p>
          <a:p>
            <a:pPr marL="285750" indent="-285750">
              <a:spcBef>
                <a:spcPts val="240"/>
              </a:spcBef>
              <a:buClr>
                <a:srgbClr val="1F6FEB"/>
              </a:buClr>
              <a:buChar char="•"/>
            </a:pPr>
            <a:r>
              <a:rPr lang="en-IN" sz="1200" b="0" i="0" dirty="0">
                <a:solidFill>
                  <a:srgbClr val="0D1117"/>
                </a:solidFill>
                <a:latin typeface="Calibri"/>
              </a:rPr>
              <a:t>Statistical Classifier — TF-IDF over unigrams and bigrams feeding Multinomial Naive Bayes, implemented from scratch with no ML library</a:t>
            </a:r>
          </a:p>
          <a:p>
            <a:pPr marL="285750" indent="-285750">
              <a:spcBef>
                <a:spcPts val="240"/>
              </a:spcBef>
              <a:buClr>
                <a:srgbClr val="1F6FEB"/>
              </a:buClr>
              <a:buChar char="•"/>
            </a:pPr>
            <a:r>
              <a:rPr lang="en-IN" sz="1200" b="0" i="0" dirty="0">
                <a:solidFill>
                  <a:srgbClr val="0D1117"/>
                </a:solidFill>
                <a:latin typeface="Calibri"/>
              </a:rPr>
              <a:t>Typo Tolerance — Damerau-Levenshtein with an asymmetric edit budget</a:t>
            </a:r>
          </a:p>
          <a:p>
            <a:pPr marL="285750" indent="-285750">
              <a:spcBef>
                <a:spcPts val="240"/>
              </a:spcBef>
              <a:buClr>
                <a:srgbClr val="1F6FEB"/>
              </a:buClr>
              <a:buChar char="•"/>
            </a:pPr>
            <a:r>
              <a:rPr lang="en-IN" sz="1200" b="0" i="0" dirty="0">
                <a:solidFill>
                  <a:srgbClr val="0D1117"/>
                </a:solidFill>
                <a:latin typeface="Calibri"/>
              </a:rPr>
              <a:t>Conversation Memory — continuation markers, referential expressions, entity merging</a:t>
            </a:r>
          </a:p>
          <a:p>
            <a:pPr marL="285750" indent="-285750">
              <a:spcBef>
                <a:spcPts val="240"/>
              </a:spcBef>
              <a:buClr>
                <a:srgbClr val="1F6FEB"/>
              </a:buClr>
              <a:buChar char="•"/>
            </a:pPr>
            <a:r>
              <a:rPr lang="en-IN" sz="1200" b="0" i="0" dirty="0">
                <a:solidFill>
                  <a:srgbClr val="0D1117"/>
                </a:solidFill>
                <a:latin typeface="Calibri"/>
              </a:rPr>
              <a:t>Predictive Analytics — demand projection, depletion forecasting, disengagement scoring (statistical heuristics, explicitly not machine learning)</a:t>
            </a:r>
          </a:p>
          <a:p>
            <a:pPr marL="285750" indent="-285750">
              <a:spcBef>
                <a:spcPts val="240"/>
              </a:spcBef>
              <a:buClr>
                <a:srgbClr val="1F6FEB"/>
              </a:buClr>
              <a:buChar char="•"/>
            </a:pPr>
            <a:r>
              <a:rPr lang="en-IN" sz="1200" b="0" i="0" dirty="0">
                <a:solidFill>
                  <a:srgbClr val="0D1117"/>
                </a:solidFill>
                <a:latin typeface="Calibri"/>
              </a:rPr>
              <a:t>Evaluation Dashboard — live in-app metrics, confusion matrix, error listing</a:t>
            </a:r>
          </a:p>
          <a:p>
            <a:pPr marL="0" indent="0">
              <a:buNone/>
            </a:pPr>
          </a:p>
          <a:p>
            <a:pPr marL="0" indent="0">
              <a:buNone/>
              <a:spcBef>
                <a:spcPts val="500"/>
              </a:spcBef>
            </a:pPr>
            <a:r>
              <a:rPr lang="en-IN" sz="1250" b="1" i="0" dirty="0">
                <a:solidFill>
                  <a:srgbClr val="1F6FEB"/>
                </a:solidFill>
                <a:latin typeface="Calibri"/>
              </a:rPr>
              <a:t>KEY CONSTRAINT SATISFIED</a:t>
            </a:r>
          </a:p>
          <a:p>
            <a:pPr marL="0" indent="0">
              <a:buNone/>
              <a:spcBef>
                <a:spcPts val="240"/>
              </a:spcBef>
            </a:pPr>
            <a:r>
              <a:rPr lang="en-IN" sz="1200" b="0" i="0" dirty="0">
                <a:solidFill>
                  <a:srgbClr val="0D1117"/>
                </a:solidFill>
                <a:latin typeface="Calibri"/>
              </a:rPr>
              <a:t>No business data leaves the client. Numbers are computed, never generated.</a:t>
            </a:r>
          </a:p>
        </p:txBody>
      </p:sp>
      <p:sp>
        <p:nvSpPr>
          <p:cNvPr id="6" name="PageNo"/>
          <p:cNvSpPr txBox="1"/>
          <p:nvPr/>
        </p:nvSpPr>
        <p:spPr>
          <a:xfrm>
            <a:off x="10992000" y="6438000"/>
            <a:ext cx="700000" cy="260000"/>
          </a:xfrm>
          <a:prstGeom prst="rect">
            <a:avLst/>
          </a:prstGeom>
          <a:noFill/>
        </p:spPr>
        <p:txBody>
          <a:bodyPr wrap="square" anchor="t">
            <a:normAutofit/>
          </a:bodyPr>
          <a:lstStyle/>
          <a:p>
            <a:pPr algn="r">
              <a:buNone/>
            </a:pPr>
            <a:r>
              <a:rPr lang="en-IN" sz="1000" b="0" i="0" dirty="0">
                <a:solidFill>
                  <a:srgbClr val="57606A"/>
                </a:solidFill>
                <a:latin typeface="Calibri"/>
              </a:rPr>
              <a:t>5</a:t>
            </a:r>
          </a:p>
        </p:txBody>
      </p:sp>
    </p:spTree>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ule 2"/>
          <p:cNvSpPr/>
          <p:nvPr/>
        </p:nvSpPr>
        <p:spPr>
          <a:xfrm>
            <a:off x="685800" y="640000"/>
            <a:ext cx="260000" cy="62000"/>
          </a:xfrm>
          <a:prstGeom prst="rect">
            <a:avLst/>
          </a:prstGeom>
          <a:solidFill>
            <a:srgbClr val="1F6FEB"/>
          </a:solidFill>
          <a:ln/>
        </p:spPr>
        <p:txBody>
          <a:bodyPr/>
          <a:lstStyle/>
          <a:p/>
        </p:txBody>
      </p:sp>
      <p:sp>
        <p:nvSpPr>
          <p:cNvPr id="3" name="Title"/>
          <p:cNvSpPr txBox="1"/>
          <p:nvPr/>
        </p:nvSpPr>
        <p:spPr>
          <a:xfrm>
            <a:off x="685800" y="300000"/>
            <a:ext cx="10820400" cy="560000"/>
          </a:xfrm>
          <a:prstGeom prst="rect">
            <a:avLst/>
          </a:prstGeom>
          <a:noFill/>
        </p:spPr>
        <p:txBody>
          <a:bodyPr wrap="square" anchor="t">
            <a:normAutofit/>
          </a:bodyPr>
          <a:lstStyle/>
          <a:p>
            <a:pPr>
              <a:buNone/>
            </a:pPr>
            <a:r>
              <a:rPr lang="en-IN" sz="2800" b="1" i="0" dirty="0">
                <a:solidFill>
                  <a:srgbClr val="1F6FEB"/>
                </a:solidFill>
                <a:latin typeface="Calibri"/>
              </a:rPr>
              <a:t>Implementation Details</a:t>
            </a:r>
          </a:p>
        </p:txBody>
      </p:sp>
      <p:sp>
        <p:nvSpPr>
          <p:cNvPr id="4" name="Subtitle"/>
          <p:cNvSpPr txBox="1"/>
          <p:nvPr/>
        </p:nvSpPr>
        <p:spPr>
          <a:xfrm>
            <a:off x="685800" y="745000"/>
            <a:ext cx="10820400" cy="340000"/>
          </a:xfrm>
          <a:prstGeom prst="rect">
            <a:avLst/>
          </a:prstGeom>
          <a:noFill/>
        </p:spPr>
        <p:txBody>
          <a:bodyPr wrap="square" anchor="t">
            <a:normAutofit/>
          </a:bodyPr>
          <a:lstStyle/>
          <a:p>
            <a:pPr>
              <a:buNone/>
            </a:pPr>
            <a:r>
              <a:rPr lang="en-IN" sz="1250" b="0" i="1" dirty="0">
                <a:solidFill>
                  <a:srgbClr val="57606A"/>
                </a:solidFill>
                <a:latin typeface="Calibri"/>
              </a:rPr>
              <a:t>Seven processing stages from raw text to a computed answer</a:t>
            </a:r>
          </a:p>
        </p:txBody>
      </p:sp>
      <p:sp>
        <p:nvSpPr>
          <p:cNvPr id="5" name="Body"/>
          <p:cNvSpPr txBox="1"/>
          <p:nvPr/>
        </p:nvSpPr>
        <p:spPr>
          <a:xfrm>
            <a:off x="685800" y="1120000"/>
            <a:ext cx="10820400" cy="5278000"/>
          </a:xfrm>
          <a:prstGeom prst="rect">
            <a:avLst/>
          </a:prstGeom>
          <a:noFill/>
        </p:spPr>
        <p:txBody>
          <a:bodyPr wrap="square" anchor="t">
            <a:normAutofit/>
          </a:bodyPr>
          <a:lstStyle/>
          <a:p>
            <a:pPr marL="0" indent="0">
              <a:buNone/>
              <a:spcBef>
                <a:spcPts val="500"/>
              </a:spcBef>
            </a:pPr>
            <a:r>
              <a:rPr lang="en-IN" sz="1250" b="1" i="0" dirty="0">
                <a:solidFill>
                  <a:srgbClr val="1F6FEB"/>
                </a:solidFill>
                <a:latin typeface="Calibri"/>
              </a:rPr>
              <a:t>STAGE 1 — NORMALISATION</a:t>
            </a:r>
          </a:p>
          <a:p>
            <a:pPr marL="0" indent="0">
              <a:buNone/>
              <a:spcBef>
                <a:spcPts val="240"/>
              </a:spcBef>
            </a:pPr>
            <a:r>
              <a:rPr lang="en-IN" sz="1200" b="0" i="0" dirty="0">
                <a:solidFill>
                  <a:srgbClr val="0D1117"/>
                </a:solidFill>
                <a:latin typeface="Calibri"/>
              </a:rPr>
              <a:t>Lowercase and strip punctuation, preserving currency, percent, decimal and hyphen</a:t>
            </a:r>
          </a:p>
          <a:p>
            <a:pPr marL="0" indent="0">
              <a:buNone/>
            </a:pPr>
          </a:p>
          <a:p>
            <a:pPr marL="0" indent="0">
              <a:buNone/>
              <a:spcBef>
                <a:spcPts val="500"/>
              </a:spcBef>
            </a:pPr>
            <a:r>
              <a:rPr lang="en-IN" sz="1250" b="1" i="0" dirty="0">
                <a:solidFill>
                  <a:srgbClr val="1F6FEB"/>
                </a:solidFill>
                <a:latin typeface="Calibri"/>
              </a:rPr>
              <a:t>STAGE 2 — TOKENISATION AND STOP-WORDS</a:t>
            </a:r>
          </a:p>
          <a:p>
            <a:pPr marL="0" indent="0">
              <a:buNone/>
              <a:spcBef>
                <a:spcPts val="240"/>
              </a:spcBef>
            </a:pPr>
            <a:r>
              <a:rPr lang="en-IN" sz="1200" b="0" i="0" dirty="0">
                <a:solidFill>
                  <a:srgbClr val="0D1117"/>
                </a:solidFill>
                <a:latin typeface="Calibri"/>
              </a:rPr>
              <a:t>Interrogatives (how, which, who) deliberately retained — strongest count-vs-value signal</a:t>
            </a:r>
          </a:p>
          <a:p>
            <a:pPr marL="0" indent="0">
              <a:buNone/>
            </a:pPr>
          </a:p>
          <a:p>
            <a:pPr marL="0" indent="0">
              <a:buNone/>
              <a:spcBef>
                <a:spcPts val="500"/>
              </a:spcBef>
            </a:pPr>
            <a:r>
              <a:rPr lang="en-IN" sz="1250" b="1" i="0" dirty="0">
                <a:solidFill>
                  <a:srgbClr val="1F6FEB"/>
                </a:solidFill>
                <a:latin typeface="Calibri"/>
              </a:rPr>
              <a:t>STAGE 3 — STEMMING</a:t>
            </a:r>
          </a:p>
          <a:p>
            <a:pPr marL="0" indent="0">
              <a:buNone/>
              <a:spcBef>
                <a:spcPts val="240"/>
              </a:spcBef>
            </a:pPr>
            <a:r>
              <a:rPr lang="en-IN" sz="1200" b="0" i="0" dirty="0">
                <a:solidFill>
                  <a:srgbClr val="0D1117"/>
                </a:solidFill>
                <a:latin typeface="Calibri"/>
              </a:rPr>
              <a:t>Suffix stripping collapses invoices / invoicing / invoiced to a shared root</a:t>
            </a:r>
          </a:p>
          <a:p>
            <a:pPr marL="0" indent="0">
              <a:buNone/>
            </a:pPr>
          </a:p>
          <a:p>
            <a:pPr marL="0" indent="0">
              <a:buNone/>
              <a:spcBef>
                <a:spcPts val="500"/>
              </a:spcBef>
            </a:pPr>
            <a:r>
              <a:rPr lang="en-IN" sz="1250" b="1" i="0" dirty="0">
                <a:solidFill>
                  <a:srgbClr val="1F6FEB"/>
                </a:solidFill>
                <a:latin typeface="Calibri"/>
              </a:rPr>
              <a:t>STAGE 4 — CONCEPT EXPANSION</a:t>
            </a:r>
          </a:p>
          <a:p>
            <a:pPr marL="0" indent="0">
              <a:buNone/>
              <a:spcBef>
                <a:spcPts val="240"/>
              </a:spcBef>
            </a:pPr>
            <a:r>
              <a:rPr lang="en-IN" sz="1200" b="0" i="0" dirty="0">
                <a:solidFill>
                  <a:srgbClr val="0D1117"/>
                </a:solidFill>
                <a:latin typeface="Calibri"/>
              </a:rPr>
              <a:t>23 synonym groups map turnover / sales / topline / billing onto one concept</a:t>
            </a:r>
          </a:p>
          <a:p>
            <a:pPr marL="0" indent="0">
              <a:buNone/>
            </a:pPr>
          </a:p>
          <a:p>
            <a:pPr marL="0" indent="0">
              <a:buNone/>
              <a:spcBef>
                <a:spcPts val="500"/>
              </a:spcBef>
            </a:pPr>
            <a:r>
              <a:rPr lang="en-IN" sz="1250" b="1" i="0" dirty="0">
                <a:solidFill>
                  <a:srgbClr val="1F6FEB"/>
                </a:solidFill>
                <a:latin typeface="Calibri"/>
              </a:rPr>
              <a:t>STAGE 5 — INTENT CLASSIFICATION</a:t>
            </a:r>
          </a:p>
          <a:p>
            <a:pPr marL="0" indent="0">
              <a:buNone/>
              <a:spcBef>
                <a:spcPts val="240"/>
              </a:spcBef>
            </a:pPr>
            <a:r>
              <a:rPr lang="en-IN" sz="1200" b="0" i="0" dirty="0">
                <a:solidFill>
                  <a:srgbClr val="0D1117"/>
                </a:solidFill>
                <a:latin typeface="Calibri"/>
              </a:rPr>
              <a:t>Required, supporting and negative concepts per intent; declines below a confidence floor</a:t>
            </a:r>
          </a:p>
          <a:p>
            <a:pPr marL="0" indent="0">
              <a:buNone/>
            </a:pPr>
          </a:p>
          <a:p>
            <a:pPr marL="0" indent="0">
              <a:buNone/>
              <a:spcBef>
                <a:spcPts val="500"/>
              </a:spcBef>
            </a:pPr>
            <a:r>
              <a:rPr lang="en-IN" sz="1250" b="1" i="0" dirty="0">
                <a:solidFill>
                  <a:srgbClr val="1F6FEB"/>
                </a:solidFill>
                <a:latin typeface="Calibri"/>
              </a:rPr>
              <a:t>STAGE 6 — ENTITY RECOGNITION</a:t>
            </a:r>
          </a:p>
          <a:p>
            <a:pPr marL="0" indent="0">
              <a:buNone/>
              <a:spcBef>
                <a:spcPts val="240"/>
              </a:spcBef>
            </a:pPr>
            <a:r>
              <a:rPr lang="en-IN" sz="1200" b="0" i="0" dirty="0">
                <a:solidFill>
                  <a:srgbClr val="0D1117"/>
                </a:solidFill>
                <a:latin typeface="Calibri"/>
              </a:rPr>
              <a:t>Gazetteer built from live tables — new products are recognised the moment they are saved</a:t>
            </a:r>
          </a:p>
          <a:p>
            <a:pPr marL="0" indent="0">
              <a:buNone/>
            </a:pPr>
          </a:p>
          <a:p>
            <a:pPr marL="0" indent="0">
              <a:buNone/>
              <a:spcBef>
                <a:spcPts val="500"/>
              </a:spcBef>
            </a:pPr>
            <a:r>
              <a:rPr lang="en-IN" sz="1250" b="1" i="0" dirty="0">
                <a:solidFill>
                  <a:srgbClr val="1F6FEB"/>
                </a:solidFill>
                <a:latin typeface="Calibri"/>
              </a:rPr>
              <a:t>STAGE 7 — DIALOGUE STATE</a:t>
            </a:r>
          </a:p>
          <a:p>
            <a:pPr marL="0" indent="0">
              <a:buNone/>
              <a:spcBef>
                <a:spcPts val="240"/>
              </a:spcBef>
            </a:pPr>
            <a:r>
              <a:rPr lang="en-IN" sz="1200" b="0" i="0" dirty="0">
                <a:solidFill>
                  <a:srgbClr val="0D1117"/>
                </a:solidFill>
                <a:latin typeface="Calibri"/>
              </a:rPr>
              <a:t>Prior intent and entities retained; new values override, unmentioned ones persist</a:t>
            </a:r>
          </a:p>
        </p:txBody>
      </p:sp>
      <p:sp>
        <p:nvSpPr>
          <p:cNvPr id="6" name="PageNo"/>
          <p:cNvSpPr txBox="1"/>
          <p:nvPr/>
        </p:nvSpPr>
        <p:spPr>
          <a:xfrm>
            <a:off x="10992000" y="6438000"/>
            <a:ext cx="700000" cy="260000"/>
          </a:xfrm>
          <a:prstGeom prst="rect">
            <a:avLst/>
          </a:prstGeom>
          <a:noFill/>
        </p:spPr>
        <p:txBody>
          <a:bodyPr wrap="square" anchor="t">
            <a:normAutofit/>
          </a:bodyPr>
          <a:lstStyle/>
          <a:p>
            <a:pPr algn="r">
              <a:buNone/>
            </a:pPr>
            <a:r>
              <a:rPr lang="en-IN" sz="1000" b="0" i="0" dirty="0">
                <a:solidFill>
                  <a:srgbClr val="57606A"/>
                </a:solidFill>
                <a:latin typeface="Calibri"/>
              </a:rPr>
              <a:t>6</a:t>
            </a:r>
          </a:p>
        </p:txBody>
      </p:sp>
    </p:spTree>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ule 2"/>
          <p:cNvSpPr/>
          <p:nvPr/>
        </p:nvSpPr>
        <p:spPr>
          <a:xfrm>
            <a:off x="685800" y="640000"/>
            <a:ext cx="260000" cy="62000"/>
          </a:xfrm>
          <a:prstGeom prst="rect">
            <a:avLst/>
          </a:prstGeom>
          <a:solidFill>
            <a:srgbClr val="1F6FEB"/>
          </a:solidFill>
          <a:ln/>
        </p:spPr>
        <p:txBody>
          <a:bodyPr/>
          <a:lstStyle/>
          <a:p/>
        </p:txBody>
      </p:sp>
      <p:sp>
        <p:nvSpPr>
          <p:cNvPr id="3" name="Title"/>
          <p:cNvSpPr txBox="1"/>
          <p:nvPr/>
        </p:nvSpPr>
        <p:spPr>
          <a:xfrm>
            <a:off x="685800" y="300000"/>
            <a:ext cx="10820400" cy="560000"/>
          </a:xfrm>
          <a:prstGeom prst="rect">
            <a:avLst/>
          </a:prstGeom>
          <a:noFill/>
        </p:spPr>
        <p:txBody>
          <a:bodyPr wrap="square" anchor="t">
            <a:normAutofit/>
          </a:bodyPr>
          <a:lstStyle/>
          <a:p>
            <a:pPr>
              <a:buNone/>
            </a:pPr>
            <a:r>
              <a:rPr lang="en-IN" sz="2800" b="1" i="0" dirty="0">
                <a:solidFill>
                  <a:srgbClr val="1F6FEB"/>
                </a:solidFill>
                <a:latin typeface="Calibri"/>
              </a:rPr>
              <a:t>Working Demonstration</a:t>
            </a:r>
          </a:p>
        </p:txBody>
      </p:sp>
      <p:sp>
        <p:nvSpPr>
          <p:cNvPr id="4" name="Subtitle"/>
          <p:cNvSpPr txBox="1"/>
          <p:nvPr/>
        </p:nvSpPr>
        <p:spPr>
          <a:xfrm>
            <a:off x="685800" y="745000"/>
            <a:ext cx="10820400" cy="340000"/>
          </a:xfrm>
          <a:prstGeom prst="rect">
            <a:avLst/>
          </a:prstGeom>
          <a:noFill/>
        </p:spPr>
        <p:txBody>
          <a:bodyPr wrap="square" anchor="t">
            <a:normAutofit/>
          </a:bodyPr>
          <a:lstStyle/>
          <a:p>
            <a:pPr>
              <a:buNone/>
            </a:pPr>
            <a:r>
              <a:rPr lang="en-IN" sz="1250" b="0" i="1" dirty="0">
                <a:solidFill>
                  <a:srgbClr val="57606A"/>
                </a:solidFill>
                <a:latin typeface="Calibri"/>
              </a:rPr>
              <a:t>Behaviour observed in the running application</a:t>
            </a:r>
          </a:p>
        </p:txBody>
      </p:sp>
      <p:sp>
        <p:nvSpPr>
          <p:cNvPr id="5" name="Body"/>
          <p:cNvSpPr txBox="1"/>
          <p:nvPr/>
        </p:nvSpPr>
        <p:spPr>
          <a:xfrm>
            <a:off x="685800" y="1120000"/>
            <a:ext cx="10820400" cy="5278000"/>
          </a:xfrm>
          <a:prstGeom prst="rect">
            <a:avLst/>
          </a:prstGeom>
          <a:noFill/>
        </p:spPr>
        <p:txBody>
          <a:bodyPr wrap="square" anchor="t">
            <a:normAutofit/>
          </a:bodyPr>
          <a:lstStyle/>
          <a:p>
            <a:pPr marL="0" indent="0">
              <a:buNone/>
              <a:spcBef>
                <a:spcPts val="500"/>
              </a:spcBef>
            </a:pPr>
            <a:r>
              <a:rPr lang="en-IN" sz="1250" b="1" i="0" dirty="0">
                <a:solidFill>
                  <a:srgbClr val="1F6FEB"/>
                </a:solidFill>
                <a:latin typeface="Calibri"/>
              </a:rPr>
              <a:t>TYPO TOLERANCE</a:t>
            </a:r>
          </a:p>
          <a:p>
            <a:pPr marL="0" indent="0">
              <a:buNone/>
              <a:spcBef>
                <a:spcPts val="240"/>
              </a:spcBef>
            </a:pPr>
            <a:r>
              <a:rPr lang="en-IN" sz="1200" b="0" i="0" dirty="0">
                <a:solidFill>
                  <a:srgbClr val="0D1117"/>
                </a:solidFill>
                <a:latin typeface="Calibri"/>
              </a:rPr>
              <a:t>"which distribtors are at churn risk"  -&gt;  full churn report  [distribtor -&gt; distributor]</a:t>
            </a:r>
          </a:p>
          <a:p>
            <a:pPr marL="0" indent="0">
              <a:buNone/>
              <a:spcBef>
                <a:spcPts val="240"/>
              </a:spcBef>
            </a:pPr>
            <a:r>
              <a:rPr lang="en-IN" sz="1200" b="0" i="0" dirty="0">
                <a:solidFill>
                  <a:srgbClr val="0D1117"/>
                </a:solidFill>
                <a:latin typeface="Calibri"/>
              </a:rPr>
              <a:t>"show unpiad invoces"  -&gt;  outstanding receivables  [2 corrections applied]</a:t>
            </a:r>
          </a:p>
          <a:p>
            <a:pPr marL="0" indent="0">
              <a:buNone/>
            </a:pPr>
          </a:p>
          <a:p>
            <a:pPr marL="0" indent="0">
              <a:buNone/>
              <a:spcBef>
                <a:spcPts val="500"/>
              </a:spcBef>
            </a:pPr>
            <a:r>
              <a:rPr lang="en-IN" sz="1250" b="1" i="0" dirty="0">
                <a:solidFill>
                  <a:srgbClr val="1F6FEB"/>
                </a:solidFill>
                <a:latin typeface="Calibri"/>
              </a:rPr>
              <a:t>CONVERSATION MEMORY</a:t>
            </a:r>
          </a:p>
          <a:p>
            <a:pPr marL="0" indent="0">
              <a:buNone/>
              <a:spcBef>
                <a:spcPts val="240"/>
              </a:spcBef>
            </a:pPr>
            <a:r>
              <a:rPr lang="en-IN" sz="1200" b="0" i="0" dirty="0">
                <a:solidFill>
                  <a:srgbClr val="0D1117"/>
                </a:solidFill>
                <a:latin typeface="Calibri"/>
              </a:rPr>
              <a:t>User: revenue by state    -&gt;  Gujarat Rs 95,000 (76%) | Maharashtra Rs 30,000 (24%)</a:t>
            </a:r>
          </a:p>
          <a:p>
            <a:pPr marL="0" indent="0">
              <a:buNone/>
              <a:spcBef>
                <a:spcPts val="240"/>
              </a:spcBef>
            </a:pPr>
            <a:r>
              <a:rPr lang="en-IN" sz="1200" b="0" i="0" dirty="0">
                <a:solidFill>
                  <a:srgbClr val="0D1117"/>
                </a:solidFill>
                <a:latin typeface="Calibri"/>
              </a:rPr>
              <a:t>User: what about Gujarat? -&gt;  Gujarat detail        [continuation marker: intent inherited]</a:t>
            </a:r>
          </a:p>
          <a:p>
            <a:pPr marL="0" indent="0">
              <a:buNone/>
              <a:spcBef>
                <a:spcPts val="240"/>
              </a:spcBef>
            </a:pPr>
            <a:r>
              <a:rPr lang="en-IN" sz="1200" b="0" i="0" dirty="0">
                <a:solidFill>
                  <a:srgbClr val="0D1117"/>
                </a:solidFill>
                <a:latin typeface="Calibri"/>
              </a:rPr>
              <a:t>User: and last 30 days?   -&gt;  Gujarat, 30 days      [state retained, timeframe added]</a:t>
            </a:r>
          </a:p>
          <a:p>
            <a:pPr marL="0" indent="0">
              <a:buNone/>
            </a:pPr>
          </a:p>
          <a:p>
            <a:pPr marL="0" indent="0">
              <a:buNone/>
              <a:spcBef>
                <a:spcPts val="500"/>
              </a:spcBef>
            </a:pPr>
            <a:r>
              <a:rPr lang="en-IN" sz="1250" b="1" i="0" dirty="0">
                <a:solidFill>
                  <a:srgbClr val="1F6FEB"/>
                </a:solidFill>
                <a:latin typeface="Calibri"/>
              </a:rPr>
              <a:t>TRANSPARENCY</a:t>
            </a:r>
          </a:p>
          <a:p>
            <a:pPr marL="0" indent="0">
              <a:buNone/>
              <a:spcBef>
                <a:spcPts val="240"/>
              </a:spcBef>
            </a:pPr>
            <a:r>
              <a:rPr lang="en-IN" sz="1200" b="0" i="0" dirty="0">
                <a:solidFill>
                  <a:srgbClr val="0D1117"/>
                </a:solidFill>
                <a:latin typeface="Calibri"/>
              </a:rPr>
              <a:t>Every answer carries its resolved intent, the entities extracted, any spelling corrections applied, and a follow-up indicator — so the user can judge whether the question they asked is the question that was answered.</a:t>
            </a:r>
          </a:p>
          <a:p>
            <a:pPr marL="0" indent="0">
              <a:buNone/>
            </a:pPr>
          </a:p>
          <a:p>
            <a:pPr marL="0" indent="0">
              <a:buNone/>
              <a:spcBef>
                <a:spcPts val="500"/>
              </a:spcBef>
            </a:pPr>
            <a:r>
              <a:rPr lang="en-IN" sz="1250" b="1" i="0" dirty="0">
                <a:solidFill>
                  <a:srgbClr val="1F6FEB"/>
                </a:solidFill>
                <a:latin typeface="Calibri"/>
              </a:rPr>
              <a:t>EVALUATION DASHBOARD</a:t>
            </a:r>
          </a:p>
          <a:p>
            <a:pPr marL="0" indent="0">
              <a:buNone/>
              <a:spcBef>
                <a:spcPts val="240"/>
              </a:spcBef>
            </a:pPr>
            <a:r>
              <a:rPr lang="en-IN" sz="1200" b="0" i="0" dirty="0">
                <a:solidFill>
                  <a:srgbClr val="0D1117"/>
                </a:solidFill>
                <a:latin typeface="Calibri"/>
              </a:rPr>
              <a:t>The ML Lab route trains the classifier in-browser on load and displays headline metrics, the per-class table, the confusion matrix, and every misclassified test query. A live comparison box shows the trained model and the rule engine side by side on any input.</a:t>
            </a:r>
          </a:p>
        </p:txBody>
      </p:sp>
      <p:sp>
        <p:nvSpPr>
          <p:cNvPr id="6" name="PageNo"/>
          <p:cNvSpPr txBox="1"/>
          <p:nvPr/>
        </p:nvSpPr>
        <p:spPr>
          <a:xfrm>
            <a:off x="10992000" y="6438000"/>
            <a:ext cx="700000" cy="260000"/>
          </a:xfrm>
          <a:prstGeom prst="rect">
            <a:avLst/>
          </a:prstGeom>
          <a:noFill/>
        </p:spPr>
        <p:txBody>
          <a:bodyPr wrap="square" anchor="t">
            <a:normAutofit/>
          </a:bodyPr>
          <a:lstStyle/>
          <a:p>
            <a:pPr algn="r">
              <a:buNone/>
            </a:pPr>
            <a:r>
              <a:rPr lang="en-IN" sz="1000" b="0" i="0" dirty="0">
                <a:solidFill>
                  <a:srgbClr val="57606A"/>
                </a:solidFill>
                <a:latin typeface="Calibri"/>
              </a:rPr>
              <a:t>7</a:t>
            </a:r>
          </a:p>
        </p:txBody>
      </p:sp>
    </p:spTree>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ule 2"/>
          <p:cNvSpPr/>
          <p:nvPr/>
        </p:nvSpPr>
        <p:spPr>
          <a:xfrm>
            <a:off x="685800" y="640000"/>
            <a:ext cx="260000" cy="62000"/>
          </a:xfrm>
          <a:prstGeom prst="rect">
            <a:avLst/>
          </a:prstGeom>
          <a:solidFill>
            <a:srgbClr val="1F6FEB"/>
          </a:solidFill>
          <a:ln/>
        </p:spPr>
        <p:txBody>
          <a:bodyPr/>
          <a:lstStyle/>
          <a:p/>
        </p:txBody>
      </p:sp>
      <p:sp>
        <p:nvSpPr>
          <p:cNvPr id="3" name="Title"/>
          <p:cNvSpPr txBox="1"/>
          <p:nvPr/>
        </p:nvSpPr>
        <p:spPr>
          <a:xfrm>
            <a:off x="685800" y="300000"/>
            <a:ext cx="10820400" cy="560000"/>
          </a:xfrm>
          <a:prstGeom prst="rect">
            <a:avLst/>
          </a:prstGeom>
          <a:noFill/>
        </p:spPr>
        <p:txBody>
          <a:bodyPr wrap="square" anchor="t">
            <a:normAutofit/>
          </a:bodyPr>
          <a:lstStyle/>
          <a:p>
            <a:pPr>
              <a:buNone/>
            </a:pPr>
            <a:r>
              <a:rPr lang="en-IN" sz="2800" b="1" i="0" dirty="0">
                <a:solidFill>
                  <a:srgbClr val="1F6FEB"/>
                </a:solidFill>
                <a:latin typeface="Calibri"/>
              </a:rPr>
              <a:t>Testing and Validation</a:t>
            </a:r>
          </a:p>
        </p:txBody>
      </p:sp>
      <p:sp>
        <p:nvSpPr>
          <p:cNvPr id="4" name="Subtitle"/>
          <p:cNvSpPr txBox="1"/>
          <p:nvPr/>
        </p:nvSpPr>
        <p:spPr>
          <a:xfrm>
            <a:off x="685800" y="745000"/>
            <a:ext cx="10820400" cy="340000"/>
          </a:xfrm>
          <a:prstGeom prst="rect">
            <a:avLst/>
          </a:prstGeom>
          <a:noFill/>
        </p:spPr>
        <p:txBody>
          <a:bodyPr wrap="square" anchor="t">
            <a:normAutofit/>
          </a:bodyPr>
          <a:lstStyle/>
          <a:p>
            <a:pPr>
              <a:buNone/>
            </a:pPr>
            <a:r>
              <a:rPr lang="en-IN" sz="1250" b="0" i="1" dirty="0">
                <a:solidFill>
                  <a:srgbClr val="57606A"/>
                </a:solidFill>
                <a:latin typeface="Calibri"/>
              </a:rPr>
              <a:t>Evaluation methodology and the discipline behind the reported figures</a:t>
            </a:r>
          </a:p>
        </p:txBody>
      </p:sp>
      <p:sp>
        <p:nvSpPr>
          <p:cNvPr id="5" name="Body"/>
          <p:cNvSpPr txBox="1"/>
          <p:nvPr/>
        </p:nvSpPr>
        <p:spPr>
          <a:xfrm>
            <a:off x="685800" y="1120000"/>
            <a:ext cx="10820400" cy="5278000"/>
          </a:xfrm>
          <a:prstGeom prst="rect">
            <a:avLst/>
          </a:prstGeom>
          <a:noFill/>
        </p:spPr>
        <p:txBody>
          <a:bodyPr wrap="square" anchor="t">
            <a:normAutofit/>
          </a:bodyPr>
          <a:lstStyle/>
          <a:p>
            <a:pPr marL="0" indent="0">
              <a:buNone/>
              <a:spcBef>
                <a:spcPts val="500"/>
              </a:spcBef>
            </a:pPr>
            <a:r>
              <a:rPr lang="en-IN" sz="1250" b="1" i="0" dirty="0">
                <a:solidFill>
                  <a:srgbClr val="1F6FEB"/>
                </a:solidFill>
                <a:latin typeface="Calibri"/>
              </a:rPr>
              <a:t>FOUR METHODOLOGICAL PRINCIPLES</a:t>
            </a:r>
          </a:p>
          <a:p>
            <a:pPr marL="285750" indent="-285750">
              <a:spcBef>
                <a:spcPts val="240"/>
              </a:spcBef>
              <a:buClr>
                <a:srgbClr val="1F6FEB"/>
              </a:buClr>
              <a:buChar char="•"/>
            </a:pPr>
            <a:r>
              <a:rPr lang="en-IN" sz="1200" b="0" i="0" dirty="0">
                <a:solidFill>
                  <a:srgbClr val="0D1117"/>
                </a:solidFill>
                <a:latin typeface="Calibri"/>
              </a:rPr>
              <a:t>Stratified splitting — 75:25 with class proportions preserved, so every intent appears in both partitions</a:t>
            </a:r>
          </a:p>
          <a:p>
            <a:pPr marL="285750" indent="-285750">
              <a:spcBef>
                <a:spcPts val="240"/>
              </a:spcBef>
              <a:buClr>
                <a:srgbClr val="1F6FEB"/>
              </a:buClr>
              <a:buChar char="•"/>
            </a:pPr>
            <a:r>
              <a:rPr lang="en-IN" sz="1200" b="0" i="0" dirty="0">
                <a:solidFill>
                  <a:srgbClr val="0D1117"/>
                </a:solidFill>
                <a:latin typeface="Calibri"/>
              </a:rPr>
              <a:t>Determinism — all shuffling from a seeded generator; every figure reproducible</a:t>
            </a:r>
          </a:p>
          <a:p>
            <a:pPr marL="285750" indent="-285750">
              <a:spcBef>
                <a:spcPts val="240"/>
              </a:spcBef>
              <a:buClr>
                <a:srgbClr val="1F6FEB"/>
              </a:buClr>
              <a:buChar char="•"/>
            </a:pPr>
            <a:r>
              <a:rPr lang="en-IN" sz="1200" b="0" i="0" dirty="0">
                <a:solidFill>
                  <a:srgbClr val="0D1117"/>
                </a:solidFill>
                <a:latin typeface="Calibri"/>
              </a:rPr>
              <a:t>Cross-validation — 5-fold reported alongside the single split, and treated as the honest estimate</a:t>
            </a:r>
          </a:p>
          <a:p>
            <a:pPr marL="285750" indent="-285750">
              <a:spcBef>
                <a:spcPts val="240"/>
              </a:spcBef>
              <a:buClr>
                <a:srgbClr val="1F6FEB"/>
              </a:buClr>
              <a:buChar char="•"/>
            </a:pPr>
            <a:r>
              <a:rPr lang="en-IN" sz="1200" b="0" i="0" dirty="0">
                <a:solidFill>
                  <a:srgbClr val="0D1117"/>
                </a:solidFill>
                <a:latin typeface="Calibri"/>
              </a:rPr>
              <a:t>Per-class reporting — precision, recall and F1 per intent, plus the confusion matrix</a:t>
            </a:r>
          </a:p>
          <a:p>
            <a:pPr marL="0" indent="0">
              <a:buNone/>
            </a:pPr>
          </a:p>
          <a:p>
            <a:pPr marL="0" indent="0">
              <a:buNone/>
              <a:spcBef>
                <a:spcPts val="500"/>
              </a:spcBef>
            </a:pPr>
            <a:r>
              <a:rPr lang="en-IN" sz="1250" b="1" i="0" dirty="0">
                <a:solidFill>
                  <a:srgbClr val="1F6FEB"/>
                </a:solidFill>
                <a:latin typeface="Calibri"/>
              </a:rPr>
              <a:t>WHY PER-CLASS REPORTING MATTERED</a:t>
            </a:r>
          </a:p>
          <a:p>
            <a:pPr marL="0" indent="0">
              <a:buNone/>
              <a:spcBef>
                <a:spcPts val="240"/>
              </a:spcBef>
            </a:pPr>
            <a:r>
              <a:rPr lang="en-IN" sz="1200" b="0" i="0" dirty="0">
                <a:solidFill>
                  <a:srgbClr val="0D1117"/>
                </a:solidFill>
                <a:latin typeface="Calibri"/>
              </a:rPr>
              <a:t>The defect that cost the most accuracy was invisible in the aggregate number. It appeared only in the confusion matrix, where one ordered pair accounted for 14% of all errors. Per-class reporting was not presentation — it was the instrument that located the fault.</a:t>
            </a:r>
          </a:p>
          <a:p>
            <a:pPr marL="0" indent="0">
              <a:buNone/>
            </a:pPr>
          </a:p>
          <a:p>
            <a:pPr marL="0" indent="0">
              <a:buNone/>
              <a:spcBef>
                <a:spcPts val="500"/>
              </a:spcBef>
            </a:pPr>
            <a:r>
              <a:rPr lang="en-IN" sz="1250" b="1" i="0" dirty="0">
                <a:solidFill>
                  <a:srgbClr val="1F6FEB"/>
                </a:solidFill>
                <a:latin typeface="Calibri"/>
              </a:rPr>
              <a:t>VALIDATION BEYOND THE TEST SET</a:t>
            </a:r>
          </a:p>
          <a:p>
            <a:pPr marL="0" indent="0">
              <a:buNone/>
              <a:spcBef>
                <a:spcPts val="240"/>
              </a:spcBef>
            </a:pPr>
            <a:r>
              <a:rPr lang="en-IN" sz="1200" b="0" i="0" dirty="0">
                <a:solidFill>
                  <a:srgbClr val="0D1117"/>
                </a:solidFill>
                <a:latin typeface="Calibri"/>
              </a:rPr>
              <a:t>Ten queries absent from the corpus entirely were used as a held-back sanity check. All ten were classified correctly, with confidence spanning 64% to 100%.</a:t>
            </a:r>
          </a:p>
        </p:txBody>
      </p:sp>
      <p:sp>
        <p:nvSpPr>
          <p:cNvPr id="6" name="PageNo"/>
          <p:cNvSpPr txBox="1"/>
          <p:nvPr/>
        </p:nvSpPr>
        <p:spPr>
          <a:xfrm>
            <a:off x="10992000" y="6438000"/>
            <a:ext cx="700000" cy="260000"/>
          </a:xfrm>
          <a:prstGeom prst="rect">
            <a:avLst/>
          </a:prstGeom>
          <a:noFill/>
        </p:spPr>
        <p:txBody>
          <a:bodyPr wrap="square" anchor="t">
            <a:normAutofit/>
          </a:bodyPr>
          <a:lstStyle/>
          <a:p>
            <a:pPr algn="r">
              <a:buNone/>
            </a:pPr>
            <a:r>
              <a:rPr lang="en-IN" sz="1000" b="0" i="0" dirty="0">
                <a:solidFill>
                  <a:srgbClr val="57606A"/>
                </a:solidFill>
                <a:latin typeface="Calibri"/>
              </a:rPr>
              <a:t>8</a:t>
            </a:r>
          </a:p>
        </p:txBody>
      </p:sp>
    </p:spTree>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ule 2"/>
          <p:cNvSpPr/>
          <p:nvPr/>
        </p:nvSpPr>
        <p:spPr>
          <a:xfrm>
            <a:off x="685800" y="640000"/>
            <a:ext cx="260000" cy="62000"/>
          </a:xfrm>
          <a:prstGeom prst="rect">
            <a:avLst/>
          </a:prstGeom>
          <a:solidFill>
            <a:srgbClr val="1F6FEB"/>
          </a:solidFill>
          <a:ln/>
        </p:spPr>
        <p:txBody>
          <a:bodyPr/>
          <a:lstStyle/>
          <a:p/>
        </p:txBody>
      </p:sp>
      <p:sp>
        <p:nvSpPr>
          <p:cNvPr id="3" name="Title"/>
          <p:cNvSpPr txBox="1"/>
          <p:nvPr/>
        </p:nvSpPr>
        <p:spPr>
          <a:xfrm>
            <a:off x="685800" y="300000"/>
            <a:ext cx="10820400" cy="560000"/>
          </a:xfrm>
          <a:prstGeom prst="rect">
            <a:avLst/>
          </a:prstGeom>
          <a:noFill/>
        </p:spPr>
        <p:txBody>
          <a:bodyPr wrap="square" anchor="t">
            <a:normAutofit/>
          </a:bodyPr>
          <a:lstStyle/>
          <a:p>
            <a:pPr>
              <a:buNone/>
            </a:pPr>
            <a:r>
              <a:rPr lang="en-IN" sz="2800" b="1" i="0" dirty="0">
                <a:solidFill>
                  <a:srgbClr val="1F6FEB"/>
                </a:solidFill>
                <a:latin typeface="Calibri"/>
              </a:rPr>
              <a:t>Methodology and Algorithms</a:t>
            </a:r>
          </a:p>
        </p:txBody>
      </p:sp>
      <p:sp>
        <p:nvSpPr>
          <p:cNvPr id="4" name="Subtitle"/>
          <p:cNvSpPr txBox="1"/>
          <p:nvPr/>
        </p:nvSpPr>
        <p:spPr>
          <a:xfrm>
            <a:off x="685800" y="745000"/>
            <a:ext cx="10820400" cy="340000"/>
          </a:xfrm>
          <a:prstGeom prst="rect">
            <a:avLst/>
          </a:prstGeom>
          <a:noFill/>
        </p:spPr>
        <p:txBody>
          <a:bodyPr wrap="square" anchor="t">
            <a:normAutofit/>
          </a:bodyPr>
          <a:lstStyle/>
          <a:p>
            <a:pPr>
              <a:buNone/>
            </a:pPr>
            <a:r>
              <a:rPr lang="en-IN" sz="1250" b="0" i="1" dirty="0">
                <a:solidFill>
                  <a:srgbClr val="57606A"/>
                </a:solidFill>
                <a:latin typeface="Calibri"/>
              </a:rPr>
              <a:t>From symbolic scoring to trained statistical classification</a:t>
            </a:r>
          </a:p>
        </p:txBody>
      </p:sp>
      <p:sp>
        <p:nvSpPr>
          <p:cNvPr id="5" name="Body"/>
          <p:cNvSpPr txBox="1"/>
          <p:nvPr/>
        </p:nvSpPr>
        <p:spPr>
          <a:xfrm>
            <a:off x="685800" y="1120000"/>
            <a:ext cx="10820400" cy="5278000"/>
          </a:xfrm>
          <a:prstGeom prst="rect">
            <a:avLst/>
          </a:prstGeom>
          <a:noFill/>
        </p:spPr>
        <p:txBody>
          <a:bodyPr wrap="square" anchor="t">
            <a:normAutofit/>
          </a:bodyPr>
          <a:lstStyle/>
          <a:p>
            <a:pPr marL="0" indent="0">
              <a:buNone/>
              <a:spcBef>
                <a:spcPts val="500"/>
              </a:spcBef>
            </a:pPr>
            <a:r>
              <a:rPr lang="en-IN" sz="1250" b="1" i="0" dirty="0">
                <a:solidFill>
                  <a:srgbClr val="1F6FEB"/>
                </a:solidFill>
                <a:latin typeface="Calibri"/>
              </a:rPr>
              <a:t>WEIGHTED INTENT SCORING (SYMBOLIC)</a:t>
            </a:r>
          </a:p>
          <a:p>
            <a:pPr marL="0" indent="0">
              <a:buNone/>
              <a:spcBef>
                <a:spcPts val="240"/>
              </a:spcBef>
            </a:pPr>
            <a:r>
              <a:rPr lang="en-IN" sz="1200" b="0" i="0" dirty="0">
                <a:solidFill>
                  <a:srgbClr val="0D1117"/>
                </a:solidFill>
                <a:latin typeface="Calibri"/>
              </a:rPr>
              <a:t>Each intent defines required, supporting and negative concepts. Presence accumulates weight; a negative concept disqualifies outright. Below a floor, the system declines.</a:t>
            </a:r>
          </a:p>
          <a:p>
            <a:pPr marL="0" indent="0">
              <a:buNone/>
            </a:pPr>
          </a:p>
          <a:p>
            <a:pPr marL="0" indent="0">
              <a:buNone/>
              <a:spcBef>
                <a:spcPts val="500"/>
              </a:spcBef>
            </a:pPr>
            <a:r>
              <a:rPr lang="en-IN" sz="1250" b="1" i="0" dirty="0">
                <a:solidFill>
                  <a:srgbClr val="1F6FEB"/>
                </a:solidFill>
                <a:latin typeface="Calibri"/>
              </a:rPr>
              <a:t>DAMERAU-LEVENSHTEIN EDIT DISTANCE</a:t>
            </a:r>
          </a:p>
          <a:p>
            <a:pPr marL="0" indent="0">
              <a:buNone/>
              <a:spcBef>
                <a:spcPts val="240"/>
              </a:spcBef>
            </a:pPr>
            <a:r>
              <a:rPr lang="en-IN" sz="1200" b="0" i="0" dirty="0">
                <a:solidFill>
                  <a:srgbClr val="0D1117"/>
                </a:solidFill>
                <a:latin typeface="Calibri"/>
              </a:rPr>
              <a:t>Chosen over plain Levenshtein because it charges one edit for an adjacent transposition, not two: unpiad -&gt; unpaid is distance 1 here, distance 2 otherwise. Since a tight budget is needed to suppress false positives, that single unit decides whether the most common real typo is corrected at all. Early row termination bounds the cost.</a:t>
            </a:r>
          </a:p>
          <a:p>
            <a:pPr marL="0" indent="0">
              <a:buNone/>
            </a:pPr>
          </a:p>
          <a:p>
            <a:pPr marL="0" indent="0">
              <a:buNone/>
              <a:spcBef>
                <a:spcPts val="500"/>
              </a:spcBef>
            </a:pPr>
            <a:r>
              <a:rPr lang="en-IN" sz="1250" b="1" i="0" dirty="0">
                <a:solidFill>
                  <a:srgbClr val="1F6FEB"/>
                </a:solidFill>
                <a:latin typeface="Calibri"/>
              </a:rPr>
              <a:t>TF-IDF FEATURE EXTRACTION</a:t>
            </a:r>
          </a:p>
          <a:p>
            <a:pPr marL="0" indent="0">
              <a:buNone/>
              <a:spcBef>
                <a:spcPts val="240"/>
              </a:spcBef>
            </a:pPr>
            <a:r>
              <a:rPr lang="en-IN" sz="1200" b="0" i="0" dirty="0">
                <a:solidFill>
                  <a:srgbClr val="0D1117"/>
                </a:solidFill>
                <a:latin typeface="Calibri"/>
              </a:rPr>
              <a:t>Smoothed IDF:  idf(t) = ln[(1+n)/(1+df(t))] + 1,  vectors L2-normalised.</a:t>
            </a:r>
          </a:p>
          <a:p>
            <a:pPr marL="0" indent="0">
              <a:buNone/>
              <a:spcBef>
                <a:spcPts val="240"/>
              </a:spcBef>
            </a:pPr>
            <a:r>
              <a:rPr lang="en-IN" sz="1200" b="0" i="0" dirty="0">
                <a:solidFill>
                  <a:srgbClr val="0D1117"/>
                </a:solidFill>
                <a:latin typeface="Calibri"/>
              </a:rPr>
              <a:t>Unigrams plus bigrams — short queries turn on word pairs (how many vs how much).</a:t>
            </a:r>
          </a:p>
          <a:p>
            <a:pPr marL="0" indent="0">
              <a:buNone/>
            </a:pPr>
          </a:p>
          <a:p>
            <a:pPr marL="0" indent="0">
              <a:buNone/>
              <a:spcBef>
                <a:spcPts val="500"/>
              </a:spcBef>
            </a:pPr>
            <a:r>
              <a:rPr lang="en-IN" sz="1250" b="1" i="0" dirty="0">
                <a:solidFill>
                  <a:srgbClr val="1F6FEB"/>
                </a:solidFill>
                <a:latin typeface="Calibri"/>
              </a:rPr>
              <a:t>MULTINOMIAL NAIVE BAYES</a:t>
            </a:r>
          </a:p>
          <a:p>
            <a:pPr marL="0" indent="0">
              <a:buNone/>
              <a:spcBef>
                <a:spcPts val="240"/>
              </a:spcBef>
            </a:pPr>
            <a:r>
              <a:rPr lang="en-IN" sz="1200" b="0" i="0" dirty="0">
                <a:solidFill>
                  <a:srgbClr val="0D1117"/>
                </a:solidFill>
                <a:latin typeface="Calibri"/>
              </a:rPr>
              <a:t>Lidstone smoothing, alpha = 0.3. Smoothing is mandatory, not optional: an unsmoothed zero probability collapses the entire log-space posterior to negative infinity.</a:t>
            </a:r>
          </a:p>
          <a:p>
            <a:pPr marL="0" indent="0">
              <a:buNone/>
              <a:spcBef>
                <a:spcPts val="240"/>
              </a:spcBef>
            </a:pPr>
            <a:r>
              <a:rPr lang="en-IN" sz="1200" b="0" i="0" dirty="0">
                <a:solidFill>
                  <a:srgbClr val="0D1117"/>
                </a:solidFill>
                <a:latin typeface="Calibri"/>
              </a:rPr>
              <a:t>Posterior via softmax with max-subtraction for numerical stability.</a:t>
            </a:r>
          </a:p>
        </p:txBody>
      </p:sp>
      <p:sp>
        <p:nvSpPr>
          <p:cNvPr id="6" name="PageNo"/>
          <p:cNvSpPr txBox="1"/>
          <p:nvPr/>
        </p:nvSpPr>
        <p:spPr>
          <a:xfrm>
            <a:off x="10992000" y="6438000"/>
            <a:ext cx="700000" cy="260000"/>
          </a:xfrm>
          <a:prstGeom prst="rect">
            <a:avLst/>
          </a:prstGeom>
          <a:noFill/>
        </p:spPr>
        <p:txBody>
          <a:bodyPr wrap="square" anchor="t">
            <a:normAutofit/>
          </a:bodyPr>
          <a:lstStyle/>
          <a:p>
            <a:pPr algn="r">
              <a:buNone/>
            </a:pPr>
            <a:r>
              <a:rPr lang="en-IN" sz="1000" b="0" i="0" dirty="0">
                <a:solidFill>
                  <a:srgbClr val="57606A"/>
                </a:solidFill>
                <a:latin typeface="Calibri"/>
              </a:rPr>
              <a:t>9</a:t>
            </a:r>
          </a:p>
        </p:txBody>
      </p:sp>
    </p:spTree>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ule 2"/>
          <p:cNvSpPr/>
          <p:nvPr/>
        </p:nvSpPr>
        <p:spPr>
          <a:xfrm>
            <a:off x="685800" y="640000"/>
            <a:ext cx="260000" cy="62000"/>
          </a:xfrm>
          <a:prstGeom prst="rect">
            <a:avLst/>
          </a:prstGeom>
          <a:solidFill>
            <a:srgbClr val="1F6FEB"/>
          </a:solidFill>
          <a:ln/>
        </p:spPr>
        <p:txBody>
          <a:bodyPr/>
          <a:lstStyle/>
          <a:p/>
        </p:txBody>
      </p:sp>
      <p:sp>
        <p:nvSpPr>
          <p:cNvPr id="3" name="Title"/>
          <p:cNvSpPr txBox="1"/>
          <p:nvPr/>
        </p:nvSpPr>
        <p:spPr>
          <a:xfrm>
            <a:off x="685800" y="300000"/>
            <a:ext cx="10820400" cy="560000"/>
          </a:xfrm>
          <a:prstGeom prst="rect">
            <a:avLst/>
          </a:prstGeom>
          <a:noFill/>
        </p:spPr>
        <p:txBody>
          <a:bodyPr wrap="square" anchor="t">
            <a:normAutofit/>
          </a:bodyPr>
          <a:lstStyle/>
          <a:p>
            <a:pPr>
              <a:buNone/>
            </a:pPr>
            <a:r>
              <a:rPr lang="en-IN" sz="2800" b="1" i="0" dirty="0">
                <a:solidFill>
                  <a:srgbClr val="1F6FEB"/>
                </a:solidFill>
                <a:latin typeface="Calibri"/>
              </a:rPr>
              <a:t>Tools and Technologies</a:t>
            </a:r>
          </a:p>
        </p:txBody>
      </p:sp>
      <p:sp>
        <p:nvSpPr>
          <p:cNvPr id="4" name="Subtitle"/>
          <p:cNvSpPr txBox="1"/>
          <p:nvPr/>
        </p:nvSpPr>
        <p:spPr>
          <a:xfrm>
            <a:off x="685800" y="745000"/>
            <a:ext cx="10820400" cy="340000"/>
          </a:xfrm>
          <a:prstGeom prst="rect">
            <a:avLst/>
          </a:prstGeom>
          <a:noFill/>
        </p:spPr>
        <p:txBody>
          <a:bodyPr wrap="square" anchor="t">
            <a:normAutofit/>
          </a:bodyPr>
          <a:lstStyle/>
          <a:p>
            <a:pPr>
              <a:buNone/>
            </a:pPr>
            <a:r>
              <a:rPr lang="en-IN" sz="1250" b="0" i="1" dirty="0">
                <a:solidFill>
                  <a:srgbClr val="57606A"/>
                </a:solidFill>
                <a:latin typeface="Calibri"/>
              </a:rPr>
              <a:t>The stack behind the engine, the classifier and the dashboard</a:t>
            </a:r>
          </a:p>
        </p:txBody>
      </p:sp>
      <p:sp>
        <p:nvSpPr>
          <p:cNvPr id="5" name="Body"/>
          <p:cNvSpPr txBox="1"/>
          <p:nvPr/>
        </p:nvSpPr>
        <p:spPr>
          <a:xfrm>
            <a:off x="685800" y="1120000"/>
            <a:ext cx="10820400" cy="5278000"/>
          </a:xfrm>
          <a:prstGeom prst="rect">
            <a:avLst/>
          </a:prstGeom>
          <a:noFill/>
        </p:spPr>
        <p:txBody>
          <a:bodyPr wrap="square" anchor="t">
            <a:normAutofit/>
          </a:bodyPr>
          <a:lstStyle/>
          <a:p>
            <a:pPr marL="0" indent="0">
              <a:buNone/>
              <a:spcBef>
                <a:spcPts val="500"/>
              </a:spcBef>
            </a:pPr>
            <a:r>
              <a:rPr lang="en-IN" sz="1250" b="1" i="0" dirty="0">
                <a:solidFill>
                  <a:srgbClr val="1F6FEB"/>
                </a:solidFill>
                <a:latin typeface="Calibri"/>
              </a:rPr>
              <a:t>LANGUAGE AND RUNTIME</a:t>
            </a:r>
          </a:p>
          <a:p>
            <a:pPr marL="0" indent="0">
              <a:buNone/>
              <a:spcBef>
                <a:spcPts val="240"/>
              </a:spcBef>
            </a:pPr>
            <a:r>
              <a:rPr lang="en-IN" sz="1200" b="0" i="0" dirty="0">
                <a:solidFill>
                  <a:srgbClr val="0D1117"/>
                </a:solidFill>
                <a:latin typeface="Calibri"/>
              </a:rPr>
              <a:t>JavaScript (ES2022) — the entire NLP and ML stack executes client-side in the browser</a:t>
            </a:r>
          </a:p>
          <a:p>
            <a:pPr marL="0" indent="0">
              <a:buNone/>
            </a:pPr>
          </a:p>
          <a:p>
            <a:pPr marL="0" indent="0">
              <a:buNone/>
              <a:spcBef>
                <a:spcPts val="500"/>
              </a:spcBef>
            </a:pPr>
            <a:r>
              <a:rPr lang="en-IN" sz="1250" b="1" i="0" dirty="0">
                <a:solidFill>
                  <a:srgbClr val="1F6FEB"/>
                </a:solidFill>
                <a:latin typeface="Calibri"/>
              </a:rPr>
              <a:t>NLP — IMPLEMENTED FROM SCRATCH</a:t>
            </a:r>
          </a:p>
          <a:p>
            <a:pPr marL="0" indent="0">
              <a:buNone/>
              <a:spcBef>
                <a:spcPts val="240"/>
              </a:spcBef>
            </a:pPr>
            <a:r>
              <a:rPr lang="en-IN" sz="1200" b="0" i="0" dirty="0">
                <a:solidFill>
                  <a:srgbClr val="0D1117"/>
                </a:solidFill>
                <a:latin typeface="Calibri"/>
              </a:rPr>
              <a:t>Normalisation, tokenisation, suffix stemming, synonym-concept expansion, weighted intent classification, gazetteer NER, Damerau-Levenshtein matching, dialogue state tracking</a:t>
            </a:r>
          </a:p>
          <a:p>
            <a:pPr marL="0" indent="0">
              <a:buNone/>
            </a:pPr>
          </a:p>
          <a:p>
            <a:pPr marL="0" indent="0">
              <a:buNone/>
              <a:spcBef>
                <a:spcPts val="500"/>
              </a:spcBef>
            </a:pPr>
            <a:r>
              <a:rPr lang="en-IN" sz="1250" b="1" i="0" dirty="0">
                <a:solidFill>
                  <a:srgbClr val="1F6FEB"/>
                </a:solidFill>
                <a:latin typeface="Calibri"/>
              </a:rPr>
              <a:t>MACHINE LEARNING — IMPLEMENTED FROM SCRATCH</a:t>
            </a:r>
          </a:p>
          <a:p>
            <a:pPr marL="0" indent="0">
              <a:buNone/>
              <a:spcBef>
                <a:spcPts val="240"/>
              </a:spcBef>
            </a:pPr>
            <a:r>
              <a:rPr lang="en-IN" sz="1200" b="0" i="0" dirty="0">
                <a:solidFill>
                  <a:srgbClr val="0D1117"/>
                </a:solidFill>
                <a:latin typeface="Calibri"/>
              </a:rPr>
              <a:t>TF-IDF vectoriser, Multinomial Naive Bayes, Complement Naive Bayes, stratified splitting, k-fold cross-validation, precision / recall / F1, confusion matrix</a:t>
            </a:r>
          </a:p>
          <a:p>
            <a:pPr marL="0" indent="0">
              <a:buNone/>
            </a:pPr>
          </a:p>
          <a:p>
            <a:pPr marL="0" indent="0">
              <a:buNone/>
              <a:spcBef>
                <a:spcPts val="500"/>
              </a:spcBef>
            </a:pPr>
            <a:r>
              <a:rPr lang="en-IN" sz="1250" b="1" i="0" dirty="0">
                <a:solidFill>
                  <a:srgbClr val="1F6FEB"/>
                </a:solidFill>
                <a:latin typeface="Calibri"/>
              </a:rPr>
              <a:t>APPLICATION LAYER</a:t>
            </a:r>
          </a:p>
          <a:p>
            <a:pPr marL="0" indent="0">
              <a:buNone/>
              <a:spcBef>
                <a:spcPts val="240"/>
              </a:spcBef>
            </a:pPr>
            <a:r>
              <a:rPr lang="en-IN" sz="1200" b="0" i="0" dirty="0">
                <a:solidFill>
                  <a:srgbClr val="0D1117"/>
                </a:solidFill>
                <a:latin typeface="Calibri"/>
              </a:rPr>
              <a:t>React 18, Vite, Tailwind CSS, Supabase (PostgreSQL), Recharts</a:t>
            </a:r>
          </a:p>
          <a:p>
            <a:pPr marL="0" indent="0">
              <a:buNone/>
            </a:pPr>
          </a:p>
          <a:p>
            <a:pPr marL="0" indent="0">
              <a:buNone/>
              <a:spcBef>
                <a:spcPts val="500"/>
              </a:spcBef>
            </a:pPr>
            <a:r>
              <a:rPr lang="en-IN" sz="1250" b="1" i="0" dirty="0">
                <a:solidFill>
                  <a:srgbClr val="1F6FEB"/>
                </a:solidFill>
                <a:latin typeface="Calibri"/>
              </a:rPr>
              <a:t>NOTE ON DEPENDENCIES</a:t>
            </a:r>
          </a:p>
          <a:p>
            <a:pPr marL="0" indent="0">
              <a:buNone/>
              <a:spcBef>
                <a:spcPts val="240"/>
              </a:spcBef>
            </a:pPr>
            <a:r>
              <a:rPr lang="en-IN" sz="1200" b="0" i="0" dirty="0">
                <a:solidFill>
                  <a:srgbClr val="0D1117"/>
                </a:solidFill>
                <a:latin typeface="Calibri"/>
              </a:rPr>
              <a:t>No ML library is used anywhere in this project. There is no scikit-learn, no TensorFlow, no NLP toolkit. Every algorithm above was written from its mathematical definition, so that each step could be examined rather than merely invoked.</a:t>
            </a:r>
          </a:p>
        </p:txBody>
      </p:sp>
      <p:sp>
        <p:nvSpPr>
          <p:cNvPr id="6" name="PageNo"/>
          <p:cNvSpPr txBox="1"/>
          <p:nvPr/>
        </p:nvSpPr>
        <p:spPr>
          <a:xfrm>
            <a:off x="10992000" y="6438000"/>
            <a:ext cx="700000" cy="260000"/>
          </a:xfrm>
          <a:prstGeom prst="rect">
            <a:avLst/>
          </a:prstGeom>
          <a:noFill/>
        </p:spPr>
        <p:txBody>
          <a:bodyPr wrap="square" anchor="t">
            <a:normAutofit/>
          </a:bodyPr>
          <a:lstStyle/>
          <a:p>
            <a:pPr algn="r">
              <a:buNone/>
            </a:pPr>
            <a:r>
              <a:rPr lang="en-IN" sz="1000" b="0" i="0" dirty="0">
                <a:solidFill>
                  <a:srgbClr val="57606A"/>
                </a:solidFill>
                <a:latin typeface="Calibri"/>
              </a:rPr>
              <a:t>10</a:t>
            </a:r>
          </a:p>
        </p:txBody>
      </p:sp>
    </p:spTree>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ule 2"/>
          <p:cNvSpPr/>
          <p:nvPr/>
        </p:nvSpPr>
        <p:spPr>
          <a:xfrm>
            <a:off x="685800" y="640000"/>
            <a:ext cx="260000" cy="62000"/>
          </a:xfrm>
          <a:prstGeom prst="rect">
            <a:avLst/>
          </a:prstGeom>
          <a:solidFill>
            <a:srgbClr val="1F6FEB"/>
          </a:solidFill>
          <a:ln/>
        </p:spPr>
        <p:txBody>
          <a:bodyPr/>
          <a:lstStyle/>
          <a:p/>
        </p:txBody>
      </p:sp>
      <p:sp>
        <p:nvSpPr>
          <p:cNvPr id="3" name="Title"/>
          <p:cNvSpPr txBox="1"/>
          <p:nvPr/>
        </p:nvSpPr>
        <p:spPr>
          <a:xfrm>
            <a:off x="685800" y="300000"/>
            <a:ext cx="10820400" cy="560000"/>
          </a:xfrm>
          <a:prstGeom prst="rect">
            <a:avLst/>
          </a:prstGeom>
          <a:noFill/>
        </p:spPr>
        <p:txBody>
          <a:bodyPr wrap="square" anchor="t">
            <a:normAutofit/>
          </a:bodyPr>
          <a:lstStyle/>
          <a:p>
            <a:pPr>
              <a:buNone/>
            </a:pPr>
            <a:r>
              <a:rPr lang="en-IN" sz="2800" b="1" i="0" dirty="0">
                <a:solidFill>
                  <a:srgbClr val="1F6FEB"/>
                </a:solidFill>
                <a:latin typeface="Calibri"/>
              </a:rPr>
              <a:t>Results and Outcomes</a:t>
            </a:r>
          </a:p>
        </p:txBody>
      </p:sp>
      <p:sp>
        <p:nvSpPr>
          <p:cNvPr id="4" name="Subtitle"/>
          <p:cNvSpPr txBox="1"/>
          <p:nvPr/>
        </p:nvSpPr>
        <p:spPr>
          <a:xfrm>
            <a:off x="685800" y="745000"/>
            <a:ext cx="10820400" cy="340000"/>
          </a:xfrm>
          <a:prstGeom prst="rect">
            <a:avLst/>
          </a:prstGeom>
          <a:noFill/>
        </p:spPr>
        <p:txBody>
          <a:bodyPr wrap="square" anchor="t">
            <a:normAutofit/>
          </a:bodyPr>
          <a:lstStyle/>
          <a:p>
            <a:pPr>
              <a:buNone/>
            </a:pPr>
            <a:r>
              <a:rPr lang="en-IN" sz="1250" b="0" i="1" dirty="0">
                <a:solidFill>
                  <a:srgbClr val="57606A"/>
                </a:solidFill>
                <a:latin typeface="Calibri"/>
              </a:rPr>
              <a:t>Measured performance of the trained classifier</a:t>
            </a:r>
          </a:p>
        </p:txBody>
      </p:sp>
      <p:sp>
        <p:nvSpPr>
          <p:cNvPr id="5" name="Body"/>
          <p:cNvSpPr txBox="1"/>
          <p:nvPr/>
        </p:nvSpPr>
        <p:spPr>
          <a:xfrm>
            <a:off x="685800" y="1120000"/>
            <a:ext cx="10820400" cy="5278000"/>
          </a:xfrm>
          <a:prstGeom prst="rect">
            <a:avLst/>
          </a:prstGeom>
          <a:noFill/>
        </p:spPr>
        <p:txBody>
          <a:bodyPr wrap="square" anchor="t">
            <a:normAutofit/>
          </a:bodyPr>
          <a:lstStyle/>
          <a:p>
            <a:pPr marL="0" indent="0">
              <a:buNone/>
              <a:spcBef>
                <a:spcPts val="500"/>
              </a:spcBef>
            </a:pPr>
            <a:r>
              <a:rPr lang="en-IN" sz="1250" b="1" i="0" dirty="0">
                <a:solidFill>
                  <a:srgbClr val="1F6FEB"/>
                </a:solidFill>
                <a:latin typeface="Calibri"/>
              </a:rPr>
              <a:t>HEADLINE METRICS</a:t>
            </a:r>
          </a:p>
          <a:p>
            <a:pPr marL="285750" indent="-285750">
              <a:spcBef>
                <a:spcPts val="240"/>
              </a:spcBef>
              <a:buClr>
                <a:srgbClr val="1F6FEB"/>
              </a:buClr>
              <a:buChar char="•"/>
            </a:pPr>
            <a:r>
              <a:rPr lang="en-IN" sz="1200" b="0" i="0" dirty="0">
                <a:solidFill>
                  <a:srgbClr val="0D1117"/>
                </a:solidFill>
                <a:latin typeface="Calibri"/>
              </a:rPr>
              <a:t>Test-set accuracy — 85.8%  (145 of 169 held-out queries)</a:t>
            </a:r>
          </a:p>
          <a:p>
            <a:pPr marL="285750" indent="-285750">
              <a:spcBef>
                <a:spcPts val="240"/>
              </a:spcBef>
              <a:buClr>
                <a:srgbClr val="1F6FEB"/>
              </a:buClr>
              <a:buChar char="•"/>
            </a:pPr>
            <a:r>
              <a:rPr lang="en-IN" sz="1200" b="0" i="0" dirty="0">
                <a:solidFill>
                  <a:srgbClr val="0D1117"/>
                </a:solidFill>
                <a:latin typeface="Calibri"/>
              </a:rPr>
              <a:t>Five-fold cross-validated accuracy — 78.7% +/- 2.7%</a:t>
            </a:r>
          </a:p>
          <a:p>
            <a:pPr marL="285750" indent="-285750">
              <a:spcBef>
                <a:spcPts val="240"/>
              </a:spcBef>
              <a:buClr>
                <a:srgbClr val="1F6FEB"/>
              </a:buClr>
              <a:buChar char="•"/>
            </a:pPr>
            <a:r>
              <a:rPr lang="en-IN" sz="1200" b="0" i="0" dirty="0">
                <a:solidFill>
                  <a:srgbClr val="0D1117"/>
                </a:solidFill>
                <a:latin typeface="Calibri"/>
              </a:rPr>
              <a:t>Macro-averaged F1 — 0.859</a:t>
            </a:r>
          </a:p>
          <a:p>
            <a:pPr marL="285750" indent="-285750">
              <a:spcBef>
                <a:spcPts val="240"/>
              </a:spcBef>
              <a:buClr>
                <a:srgbClr val="1F6FEB"/>
              </a:buClr>
              <a:buChar char="•"/>
            </a:pPr>
            <a:r>
              <a:rPr lang="en-IN" sz="1200" b="0" i="0" dirty="0">
                <a:solidFill>
                  <a:srgbClr val="0D1117"/>
                </a:solidFill>
                <a:latin typeface="Calibri"/>
              </a:rPr>
              <a:t>Random baseline — 5.9%  (model is approximately 13.3x better)</a:t>
            </a:r>
          </a:p>
          <a:p>
            <a:pPr marL="285750" indent="-285750">
              <a:spcBef>
                <a:spcPts val="240"/>
              </a:spcBef>
              <a:buClr>
                <a:srgbClr val="1F6FEB"/>
              </a:buClr>
              <a:buChar char="•"/>
            </a:pPr>
            <a:r>
              <a:rPr lang="en-IN" sz="1200" b="0" i="0" dirty="0">
                <a:solidFill>
                  <a:srgbClr val="0D1117"/>
                </a:solidFill>
                <a:latin typeface="Calibri"/>
              </a:rPr>
              <a:t>Corpus — 659 labelled queries across 17 intents</a:t>
            </a:r>
          </a:p>
          <a:p>
            <a:pPr marL="285750" indent="-285750">
              <a:spcBef>
                <a:spcPts val="240"/>
              </a:spcBef>
              <a:buClr>
                <a:srgbClr val="1F6FEB"/>
              </a:buClr>
              <a:buChar char="•"/>
            </a:pPr>
            <a:r>
              <a:rPr lang="en-IN" sz="1200" b="0" i="0" dirty="0">
                <a:solidFill>
                  <a:srgbClr val="0D1117"/>
                </a:solidFill>
                <a:latin typeface="Calibri"/>
              </a:rPr>
              <a:t>Vocabulary — 476 unigram and bigram features</a:t>
            </a:r>
          </a:p>
          <a:p>
            <a:pPr marL="285750" indent="-285750">
              <a:spcBef>
                <a:spcPts val="240"/>
              </a:spcBef>
              <a:buClr>
                <a:srgbClr val="1F6FEB"/>
              </a:buClr>
              <a:buChar char="•"/>
            </a:pPr>
            <a:r>
              <a:rPr lang="en-IN" sz="1200" b="0" i="0" dirty="0">
                <a:solidFill>
                  <a:srgbClr val="0D1117"/>
                </a:solidFill>
                <a:latin typeface="Calibri"/>
              </a:rPr>
              <a:t>Training time — approximately 48 ms, in-browser</a:t>
            </a:r>
          </a:p>
          <a:p>
            <a:pPr marL="0" indent="0">
              <a:buNone/>
            </a:pPr>
          </a:p>
          <a:p>
            <a:pPr marL="0" indent="0">
              <a:buNone/>
              <a:spcBef>
                <a:spcPts val="500"/>
              </a:spcBef>
            </a:pPr>
            <a:r>
              <a:rPr lang="en-IN" sz="1250" b="1" i="0" dirty="0">
                <a:solidFill>
                  <a:srgbClr val="1F6FEB"/>
                </a:solidFill>
                <a:latin typeface="Calibri"/>
              </a:rPr>
              <a:t>FOLD SCORES</a:t>
            </a:r>
          </a:p>
          <a:p>
            <a:pPr marL="0" indent="0">
              <a:buNone/>
              <a:spcBef>
                <a:spcPts val="240"/>
              </a:spcBef>
            </a:pPr>
            <a:r>
              <a:rPr lang="en-IN" sz="1200" b="0" i="0" dirty="0">
                <a:solidFill>
                  <a:srgbClr val="0D1117"/>
                </a:solidFill>
                <a:latin typeface="Calibri"/>
              </a:rPr>
              <a:t>81.0%   75.7%   80.3%   81.4%   75.2%      mean 78.7%,  std dev 2.7%</a:t>
            </a:r>
          </a:p>
          <a:p>
            <a:pPr marL="0" indent="0">
              <a:buNone/>
            </a:pPr>
          </a:p>
          <a:p>
            <a:pPr marL="0" indent="0">
              <a:buNone/>
              <a:spcBef>
                <a:spcPts val="500"/>
              </a:spcBef>
            </a:pPr>
            <a:r>
              <a:rPr lang="en-IN" sz="1250" b="1" i="0" dirty="0">
                <a:solidFill>
                  <a:srgbClr val="1F6FEB"/>
                </a:solidFill>
                <a:latin typeface="Calibri"/>
              </a:rPr>
              <a:t>STRONGEST CLASSES (F1)</a:t>
            </a:r>
          </a:p>
          <a:p>
            <a:pPr marL="0" indent="0">
              <a:buNone/>
              <a:spcBef>
                <a:spcPts val="240"/>
              </a:spcBef>
            </a:pPr>
            <a:r>
              <a:rPr lang="en-IN" sz="1200" b="0" i="0" dirty="0">
                <a:solidFill>
                  <a:srgbClr val="0D1117"/>
                </a:solidFill>
                <a:latin typeface="Calibri"/>
              </a:rPr>
              <a:t>profit 0.96  |  dead_stock 0.95  |  lead_summary 0.95  |  expense_breakdown 0.94</a:t>
            </a:r>
          </a:p>
          <a:p>
            <a:pPr marL="0" indent="0">
              <a:buNone/>
            </a:pPr>
          </a:p>
          <a:p>
            <a:pPr marL="0" indent="0">
              <a:buNone/>
              <a:spcBef>
                <a:spcPts val="500"/>
              </a:spcBef>
            </a:pPr>
            <a:r>
              <a:rPr lang="en-IN" sz="1250" b="1" i="0" dirty="0">
                <a:solidFill>
                  <a:srgbClr val="1F6FEB"/>
                </a:solidFill>
                <a:latin typeface="Calibri"/>
              </a:rPr>
              <a:t>WEAKEST CLASSES (F1)</a:t>
            </a:r>
          </a:p>
          <a:p>
            <a:pPr marL="0" indent="0">
              <a:buNone/>
              <a:spcBef>
                <a:spcPts val="240"/>
              </a:spcBef>
            </a:pPr>
            <a:r>
              <a:rPr lang="en-IN" sz="1200" b="0" i="0" dirty="0">
                <a:solidFill>
                  <a:srgbClr val="0D1117"/>
                </a:solidFill>
                <a:latin typeface="Calibri"/>
              </a:rPr>
              <a:t>order_summary 0.73  |  revenue_by_state 0.74  |  revenue_total 0.75</a:t>
            </a:r>
          </a:p>
          <a:p>
            <a:pPr marL="0" indent="0">
              <a:buNone/>
            </a:pPr>
          </a:p>
          <a:p>
            <a:pPr marL="0" indent="0">
              <a:buNone/>
              <a:spcBef>
                <a:spcPts val="240"/>
              </a:spcBef>
            </a:pPr>
            <a:r>
              <a:rPr lang="en-IN" sz="1200" b="0" i="0" dirty="0">
                <a:solidFill>
                  <a:srgbClr val="0D1117"/>
                </a:solidFill>
                <a:latin typeface="Calibri"/>
              </a:rPr>
              <a:t>The cross-validated figure is treated as authoritative. The single split exceeded it by 7.1 points, which quantifies how far one partition can flatter a model at this scale.</a:t>
            </a:r>
          </a:p>
        </p:txBody>
      </p:sp>
      <p:sp>
        <p:nvSpPr>
          <p:cNvPr id="6" name="PageNo"/>
          <p:cNvSpPr txBox="1"/>
          <p:nvPr/>
        </p:nvSpPr>
        <p:spPr>
          <a:xfrm>
            <a:off x="10992000" y="6438000"/>
            <a:ext cx="700000" cy="260000"/>
          </a:xfrm>
          <a:prstGeom prst="rect">
            <a:avLst/>
          </a:prstGeom>
          <a:noFill/>
        </p:spPr>
        <p:txBody>
          <a:bodyPr wrap="square" anchor="t">
            <a:normAutofit/>
          </a:bodyPr>
          <a:lstStyle/>
          <a:p>
            <a:pPr algn="r">
              <a:buNone/>
            </a:pPr>
            <a:r>
              <a:rPr lang="en-IN" sz="1000" b="0" i="0" dirty="0">
                <a:solidFill>
                  <a:srgbClr val="57606A"/>
                </a:solidFill>
                <a:latin typeface="Calibri"/>
              </a:rPr>
              <a:t>11</a:t>
            </a:r>
          </a:p>
        </p:txBody>
      </p:sp>
    </p:spTree>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ule 2"/>
          <p:cNvSpPr/>
          <p:nvPr/>
        </p:nvSpPr>
        <p:spPr>
          <a:xfrm>
            <a:off x="685800" y="640000"/>
            <a:ext cx="260000" cy="62000"/>
          </a:xfrm>
          <a:prstGeom prst="rect">
            <a:avLst/>
          </a:prstGeom>
          <a:solidFill>
            <a:srgbClr val="1F6FEB"/>
          </a:solidFill>
          <a:ln/>
        </p:spPr>
        <p:txBody>
          <a:bodyPr/>
          <a:lstStyle/>
          <a:p/>
        </p:txBody>
      </p:sp>
      <p:sp>
        <p:nvSpPr>
          <p:cNvPr id="3" name="Title"/>
          <p:cNvSpPr txBox="1"/>
          <p:nvPr/>
        </p:nvSpPr>
        <p:spPr>
          <a:xfrm>
            <a:off x="685800" y="300000"/>
            <a:ext cx="10820400" cy="560000"/>
          </a:xfrm>
          <a:prstGeom prst="rect">
            <a:avLst/>
          </a:prstGeom>
          <a:noFill/>
        </p:spPr>
        <p:txBody>
          <a:bodyPr wrap="square" anchor="t">
            <a:normAutofit/>
          </a:bodyPr>
          <a:lstStyle/>
          <a:p>
            <a:pPr>
              <a:buNone/>
            </a:pPr>
            <a:r>
              <a:rPr lang="en-IN" sz="2800" b="1" i="0" dirty="0">
                <a:solidFill>
                  <a:srgbClr val="1F6FEB"/>
                </a:solidFill>
                <a:latin typeface="Calibri"/>
              </a:rPr>
              <a:t>Challenges Faced and Solutions</a:t>
            </a:r>
          </a:p>
        </p:txBody>
      </p:sp>
      <p:sp>
        <p:nvSpPr>
          <p:cNvPr id="4" name="Subtitle"/>
          <p:cNvSpPr txBox="1"/>
          <p:nvPr/>
        </p:nvSpPr>
        <p:spPr>
          <a:xfrm>
            <a:off x="685800" y="745000"/>
            <a:ext cx="10820400" cy="340000"/>
          </a:xfrm>
          <a:prstGeom prst="rect">
            <a:avLst/>
          </a:prstGeom>
          <a:noFill/>
        </p:spPr>
        <p:txBody>
          <a:bodyPr wrap="square" anchor="t">
            <a:normAutofit/>
          </a:bodyPr>
          <a:lstStyle/>
          <a:p>
            <a:pPr>
              <a:buNone/>
            </a:pPr>
            <a:r>
              <a:rPr lang="en-IN" sz="1250" b="0" i="1" dirty="0">
                <a:solidFill>
                  <a:srgbClr val="57606A"/>
                </a:solidFill>
                <a:latin typeface="Calibri"/>
              </a:rPr>
              <a:t>Diagnosis preceded every change</a:t>
            </a:r>
          </a:p>
        </p:txBody>
      </p:sp>
      <p:sp>
        <p:nvSpPr>
          <p:cNvPr id="5" name="Body"/>
          <p:cNvSpPr txBox="1"/>
          <p:nvPr/>
        </p:nvSpPr>
        <p:spPr>
          <a:xfrm>
            <a:off x="685800" y="1120000"/>
            <a:ext cx="10820400" cy="5278000"/>
          </a:xfrm>
          <a:prstGeom prst="rect">
            <a:avLst/>
          </a:prstGeom>
          <a:noFill/>
        </p:spPr>
        <p:txBody>
          <a:bodyPr wrap="square" anchor="t">
            <a:normAutofit/>
          </a:bodyPr>
          <a:lstStyle/>
          <a:p>
            <a:pPr marL="0" indent="0">
              <a:buNone/>
              <a:spcBef>
                <a:spcPts val="500"/>
              </a:spcBef>
            </a:pPr>
            <a:r>
              <a:rPr lang="en-IN" sz="1250" b="1" i="0" dirty="0">
                <a:solidFill>
                  <a:srgbClr val="1F6FEB"/>
                </a:solidFill>
                <a:latin typeface="Calibri"/>
              </a:rPr>
              <a:t>1 — NEAR-UNIFORM POSTERIORS</a:t>
            </a:r>
          </a:p>
          <a:p>
            <a:pPr marL="0" indent="0">
              <a:buNone/>
              <a:spcBef>
                <a:spcPts val="240"/>
              </a:spcBef>
            </a:pPr>
            <a:r>
              <a:rPr lang="en-IN" sz="1200" b="0" i="0" dirty="0">
                <a:solidFill>
                  <a:srgbClr val="0D1117"/>
                </a:solidFill>
                <a:latin typeface="Calibri"/>
              </a:rPr>
              <a:t>Softmax reported roughly 10% across all 17 classes. Traced to L2 normalisation compressing the log-score range. A scaling factor sharpened the posterior without altering which class wins.</a:t>
            </a:r>
          </a:p>
          <a:p>
            <a:pPr marL="0" indent="0">
              <a:buNone/>
            </a:pPr>
          </a:p>
          <a:p>
            <a:pPr marL="0" indent="0">
              <a:buNone/>
              <a:spcBef>
                <a:spcPts val="500"/>
              </a:spcBef>
            </a:pPr>
            <a:r>
              <a:rPr lang="en-IN" sz="1250" b="1" i="0" dirty="0">
                <a:solidFill>
                  <a:srgbClr val="1F6FEB"/>
                </a:solidFill>
                <a:latin typeface="Calibri"/>
              </a:rPr>
              <a:t>2 — FUZZY MATCHING CORRUPTED VALID WORDS</a:t>
            </a:r>
          </a:p>
          <a:p>
            <a:pPr marL="0" indent="0">
              <a:buNone/>
              <a:spcBef>
                <a:spcPts val="240"/>
              </a:spcBef>
            </a:pPr>
            <a:r>
              <a:rPr lang="en-IN" sz="1200" b="0" i="0" dirty="0">
                <a:solidFill>
                  <a:srgbClr val="0D1117"/>
                </a:solidFill>
                <a:latin typeface="Calibri"/>
              </a:rPr>
              <a:t>"doing" -&gt; "owing" and "trader" -&gt; "order". Edit budget for short tokens cut to a single edit, plus a protected list so correctly spelled common words are never corrected.</a:t>
            </a:r>
          </a:p>
          <a:p>
            <a:pPr marL="0" indent="0">
              <a:buNone/>
            </a:pPr>
          </a:p>
          <a:p>
            <a:pPr marL="0" indent="0">
              <a:buNone/>
              <a:spcBef>
                <a:spcPts val="500"/>
              </a:spcBef>
            </a:pPr>
            <a:r>
              <a:rPr lang="en-IN" sz="1250" b="1" i="0" dirty="0">
                <a:solidFill>
                  <a:srgbClr val="1F6FEB"/>
                </a:solidFill>
                <a:latin typeface="Calibri"/>
              </a:rPr>
              <a:t>3 — SUBSTRING COLLISION</a:t>
            </a:r>
          </a:p>
          <a:p>
            <a:pPr marL="0" indent="0">
              <a:buNone/>
              <a:spcBef>
                <a:spcPts val="240"/>
              </a:spcBef>
            </a:pPr>
            <a:r>
              <a:rPr lang="en-IN" sz="1200" b="0" i="0" dirty="0">
                <a:solidFill>
                  <a:srgbClr val="0D1117"/>
                </a:solidFill>
                <a:latin typeface="Calibri"/>
              </a:rPr>
              <a:t>"total spending" matched the order status "pending". Replaced substring testing with whole-word boundary matching for short controlled vocabularies.</a:t>
            </a:r>
          </a:p>
          <a:p>
            <a:pPr marL="0" indent="0">
              <a:buNone/>
            </a:pPr>
          </a:p>
          <a:p>
            <a:pPr marL="0" indent="0">
              <a:buNone/>
              <a:spcBef>
                <a:spcPts val="500"/>
              </a:spcBef>
            </a:pPr>
            <a:r>
              <a:rPr lang="en-IN" sz="1250" b="1" i="0" dirty="0">
                <a:solidFill>
                  <a:srgbClr val="1F6FEB"/>
                </a:solidFill>
                <a:latin typeface="Calibri"/>
              </a:rPr>
              <a:t>4 — ONE CONFUSION PAIR CAUSED 14% OF ALL ERRORS</a:t>
            </a:r>
          </a:p>
          <a:p>
            <a:pPr marL="0" indent="0">
              <a:buNone/>
              <a:spcBef>
                <a:spcPts val="240"/>
              </a:spcBef>
            </a:pPr>
            <a:r>
              <a:rPr lang="en-IN" sz="1200" b="0" i="0" dirty="0">
                <a:solidFill>
                  <a:srgbClr val="0D1117"/>
                </a:solidFill>
                <a:latin typeface="Calibri"/>
              </a:rPr>
              <a:t>profit predicted as revenue_total. Root cause was ambiguous labelling in my own corpus: earn, money and make appeared under both labels. Restructuring the lexical territory of the two classes eliminated the error class entirely.</a:t>
            </a:r>
          </a:p>
          <a:p>
            <a:pPr marL="0" indent="0">
              <a:buNone/>
            </a:pPr>
          </a:p>
          <a:p>
            <a:pPr marL="0" indent="0">
              <a:buNone/>
              <a:spcBef>
                <a:spcPts val="500"/>
              </a:spcBef>
            </a:pPr>
            <a:r>
              <a:rPr lang="en-IN" sz="1250" b="1" i="0" dirty="0">
                <a:solidFill>
                  <a:srgbClr val="1F6FEB"/>
                </a:solidFill>
                <a:latin typeface="Calibri"/>
              </a:rPr>
              <a:t>5 — OVERCONFIDENT OUTPUT</a:t>
            </a:r>
          </a:p>
          <a:p>
            <a:pPr marL="0" indent="0">
              <a:buNone/>
              <a:spcBef>
                <a:spcPts val="240"/>
              </a:spcBef>
            </a:pPr>
            <a:r>
              <a:rPr lang="en-IN" sz="1200" b="0" i="0" dirty="0">
                <a:solidFill>
                  <a:srgbClr val="0D1117"/>
                </a:solidFill>
                <a:latin typeface="Calibri"/>
              </a:rPr>
              <a:t>The highest-scoring configuration reported 100% confidence on every query. A lower scale was chosen: accuracy statistically unchanged, but confidence spanning a usable 64-100%. A displayed number must mean something.</a:t>
            </a:r>
          </a:p>
        </p:txBody>
      </p:sp>
      <p:sp>
        <p:nvSpPr>
          <p:cNvPr id="6" name="PageNo"/>
          <p:cNvSpPr txBox="1"/>
          <p:nvPr/>
        </p:nvSpPr>
        <p:spPr>
          <a:xfrm>
            <a:off x="10992000" y="6438000"/>
            <a:ext cx="700000" cy="260000"/>
          </a:xfrm>
          <a:prstGeom prst="rect">
            <a:avLst/>
          </a:prstGeom>
          <a:noFill/>
        </p:spPr>
        <p:txBody>
          <a:bodyPr wrap="square" anchor="t">
            <a:normAutofit/>
          </a:bodyPr>
          <a:lstStyle/>
          <a:p>
            <a:pPr algn="r">
              <a:buNone/>
            </a:pPr>
            <a:r>
              <a:rPr lang="en-IN" sz="1000" b="0" i="0" dirty="0">
                <a:solidFill>
                  <a:srgbClr val="57606A"/>
                </a:solidFill>
                <a:latin typeface="Calibri"/>
              </a:rPr>
              <a:t>12</a:t>
            </a:r>
          </a:p>
        </p:txBody>
      </p:sp>
    </p:spTree>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ule 2"/>
          <p:cNvSpPr/>
          <p:nvPr/>
        </p:nvSpPr>
        <p:spPr>
          <a:xfrm>
            <a:off x="685800" y="640000"/>
            <a:ext cx="260000" cy="62000"/>
          </a:xfrm>
          <a:prstGeom prst="rect">
            <a:avLst/>
          </a:prstGeom>
          <a:solidFill>
            <a:srgbClr val="1F6FEB"/>
          </a:solidFill>
          <a:ln/>
        </p:spPr>
        <p:txBody>
          <a:bodyPr/>
          <a:lstStyle/>
          <a:p/>
        </p:txBody>
      </p:sp>
      <p:sp>
        <p:nvSpPr>
          <p:cNvPr id="3" name="Title"/>
          <p:cNvSpPr txBox="1"/>
          <p:nvPr/>
        </p:nvSpPr>
        <p:spPr>
          <a:xfrm>
            <a:off x="685800" y="300000"/>
            <a:ext cx="10820400" cy="560000"/>
          </a:xfrm>
          <a:prstGeom prst="rect">
            <a:avLst/>
          </a:prstGeom>
          <a:noFill/>
        </p:spPr>
        <p:txBody>
          <a:bodyPr wrap="square" anchor="t">
            <a:normAutofit/>
          </a:bodyPr>
          <a:lstStyle/>
          <a:p>
            <a:pPr>
              <a:buNone/>
            </a:pPr>
            <a:r>
              <a:rPr lang="en-IN" sz="2800" b="1" i="0" dirty="0">
                <a:solidFill>
                  <a:srgbClr val="1F6FEB"/>
                </a:solidFill>
                <a:latin typeface="Calibri"/>
              </a:rPr>
              <a:t>A Negative Result Worth Reporting</a:t>
            </a:r>
          </a:p>
        </p:txBody>
      </p:sp>
      <p:sp>
        <p:nvSpPr>
          <p:cNvPr id="4" name="Subtitle"/>
          <p:cNvSpPr txBox="1"/>
          <p:nvPr/>
        </p:nvSpPr>
        <p:spPr>
          <a:xfrm>
            <a:off x="685800" y="745000"/>
            <a:ext cx="10820400" cy="340000"/>
          </a:xfrm>
          <a:prstGeom prst="rect">
            <a:avLst/>
          </a:prstGeom>
          <a:noFill/>
        </p:spPr>
        <p:txBody>
          <a:bodyPr wrap="square" anchor="t">
            <a:normAutofit/>
          </a:bodyPr>
          <a:lstStyle/>
          <a:p>
            <a:pPr>
              <a:buNone/>
            </a:pPr>
            <a:r>
              <a:rPr lang="en-IN" sz="1250" b="0" i="1" dirty="0">
                <a:solidFill>
                  <a:srgbClr val="57606A"/>
                </a:solidFill>
                <a:latin typeface="Calibri"/>
              </a:rPr>
              <a:t>Complement Naive Bayes — the experiment that did not work</a:t>
            </a:r>
          </a:p>
        </p:txBody>
      </p:sp>
      <p:sp>
        <p:nvSpPr>
          <p:cNvPr id="5" name="Body"/>
          <p:cNvSpPr txBox="1"/>
          <p:nvPr/>
        </p:nvSpPr>
        <p:spPr>
          <a:xfrm>
            <a:off x="685800" y="1120000"/>
            <a:ext cx="10820400" cy="5278000"/>
          </a:xfrm>
          <a:prstGeom prst="rect">
            <a:avLst/>
          </a:prstGeom>
          <a:noFill/>
        </p:spPr>
        <p:txBody>
          <a:bodyPr wrap="square" anchor="t">
            <a:normAutofit/>
          </a:bodyPr>
          <a:lstStyle/>
          <a:p>
            <a:pPr marL="0" indent="0">
              <a:buNone/>
              <a:spcBef>
                <a:spcPts val="500"/>
              </a:spcBef>
            </a:pPr>
            <a:r>
              <a:rPr lang="en-IN" sz="1250" b="1" i="0" dirty="0">
                <a:solidFill>
                  <a:srgbClr val="1F6FEB"/>
                </a:solidFill>
                <a:latin typeface="Calibri"/>
              </a:rPr>
              <a:t>THE HYPOTHESIS</a:t>
            </a:r>
          </a:p>
          <a:p>
            <a:pPr marL="0" indent="0">
              <a:buNone/>
              <a:spcBef>
                <a:spcPts val="240"/>
              </a:spcBef>
            </a:pPr>
            <a:r>
              <a:rPr lang="en-IN" sz="1200" b="0" i="0" dirty="0">
                <a:solidFill>
                  <a:srgbClr val="0D1117"/>
                </a:solidFill>
                <a:latin typeface="Calibri"/>
              </a:rPr>
              <a:t>Error analysis identified overlapping class vocabulary as the dominant failure mode. Complement Naive Bayes (Rennie et al., 2003) is formulated for precisely this condition: it estimates each class from the complement of that class rather than from its own documents, and normalises weights so large vocabularies cannot dominate.</a:t>
            </a:r>
          </a:p>
          <a:p>
            <a:pPr marL="0" indent="0">
              <a:buNone/>
            </a:pPr>
          </a:p>
          <a:p>
            <a:pPr marL="0" indent="0">
              <a:buNone/>
              <a:spcBef>
                <a:spcPts val="500"/>
              </a:spcBef>
            </a:pPr>
            <a:r>
              <a:rPr lang="en-IN" sz="1250" b="1" i="0" dirty="0">
                <a:solidFill>
                  <a:srgbClr val="1F6FEB"/>
                </a:solidFill>
                <a:latin typeface="Calibri"/>
              </a:rPr>
              <a:t>THE MEASUREMENT</a:t>
            </a:r>
          </a:p>
          <a:p>
            <a:pPr marL="0" indent="0">
              <a:buNone/>
              <a:spcBef>
                <a:spcPts val="240"/>
              </a:spcBef>
            </a:pPr>
            <a:r>
              <a:rPr lang="en-IN" sz="1200" b="0" i="0" dirty="0">
                <a:solidFill>
                  <a:srgbClr val="0D1117"/>
                </a:solidFill>
                <a:latin typeface="Calibri"/>
              </a:rPr>
              <a:t>Implemented in full alongside sublinear TF scaling, then evaluated across 80 configurations under identical five-fold cross-validation.</a:t>
            </a:r>
          </a:p>
          <a:p>
            <a:pPr marL="285750" indent="-285750">
              <a:spcBef>
                <a:spcPts val="240"/>
              </a:spcBef>
              <a:buClr>
                <a:srgbClr val="1F6FEB"/>
              </a:buClr>
              <a:buChar char="•"/>
            </a:pPr>
            <a:r>
              <a:rPr lang="en-IN" sz="1200" b="0" i="0" dirty="0">
                <a:solidFill>
                  <a:srgbClr val="0D1117"/>
                </a:solidFill>
                <a:latin typeface="Calibri"/>
              </a:rPr>
              <a:t>Multinomial Naive Bayes — 75.3% best CV accuracy, 95% mean confidence</a:t>
            </a:r>
          </a:p>
          <a:p>
            <a:pPr marL="285750" indent="-285750">
              <a:spcBef>
                <a:spcPts val="240"/>
              </a:spcBef>
              <a:buClr>
                <a:srgbClr val="1F6FEB"/>
              </a:buClr>
              <a:buChar char="•"/>
            </a:pPr>
            <a:r>
              <a:rPr lang="en-IN" sz="1200" b="0" i="0" dirty="0">
                <a:solidFill>
                  <a:srgbClr val="0D1117"/>
                </a:solidFill>
                <a:latin typeface="Calibri"/>
              </a:rPr>
              <a:t>Complement Naive Bayes — 75.7% best CV accuracy, 6% mean confidence</a:t>
            </a:r>
          </a:p>
          <a:p>
            <a:pPr marL="0" indent="0">
              <a:buNone/>
            </a:pPr>
          </a:p>
          <a:p>
            <a:pPr marL="0" indent="0">
              <a:buNone/>
              <a:spcBef>
                <a:spcPts val="500"/>
              </a:spcBef>
            </a:pPr>
            <a:r>
              <a:rPr lang="en-IN" sz="1250" b="1" i="0" dirty="0">
                <a:solidFill>
                  <a:srgbClr val="1F6FEB"/>
                </a:solidFill>
                <a:latin typeface="Calibri"/>
              </a:rPr>
              <a:t>THE OUTCOME</a:t>
            </a:r>
          </a:p>
          <a:p>
            <a:pPr marL="0" indent="0">
              <a:buNone/>
              <a:spcBef>
                <a:spcPts val="240"/>
              </a:spcBef>
            </a:pPr>
            <a:r>
              <a:rPr lang="en-IN" sz="1200" b="0" i="0" dirty="0">
                <a:solidFill>
                  <a:srgbClr val="0D1117"/>
                </a:solidFill>
                <a:latin typeface="Calibri"/>
              </a:rPr>
              <a:t>An improvement of 0.4 points, well inside the 2.7-point fold standard deviation and indistinguishable from noise. Weight normalisation additionally collapsed reported confidence to roughly 6% — a correct argmax, but useless as a displayed value.</a:t>
            </a:r>
          </a:p>
          <a:p>
            <a:pPr marL="0" indent="0">
              <a:buNone/>
            </a:pPr>
          </a:p>
          <a:p>
            <a:pPr marL="0" indent="0">
              <a:buNone/>
              <a:spcBef>
                <a:spcPts val="500"/>
              </a:spcBef>
            </a:pPr>
            <a:r>
              <a:rPr lang="en-IN" sz="1250" b="1" i="0" dirty="0">
                <a:solidFill>
                  <a:srgbClr val="1F6FEB"/>
                </a:solidFill>
                <a:latin typeface="Calibri"/>
              </a:rPr>
              <a:t>WHY IT IS REPORTED</a:t>
            </a:r>
          </a:p>
          <a:p>
            <a:pPr marL="0" indent="0">
              <a:buNone/>
              <a:spcBef>
                <a:spcPts val="240"/>
              </a:spcBef>
            </a:pPr>
            <a:r>
              <a:rPr lang="en-IN" sz="1200" b="0" i="0" dirty="0">
                <a:solidFill>
                  <a:srgbClr val="0D1117"/>
                </a:solidFill>
                <a:latin typeface="Calibri"/>
              </a:rPr>
              <a:t>The hypothesis was that the algorithm was deficient. The measurement refuted that, and redirected effort to the training data where the defect actually lay. Adopting CNB on theoretical merit without measuring would have left the labelling fault undetected.</a:t>
            </a:r>
          </a:p>
        </p:txBody>
      </p:sp>
      <p:sp>
        <p:nvSpPr>
          <p:cNvPr id="6" name="PageNo"/>
          <p:cNvSpPr txBox="1"/>
          <p:nvPr/>
        </p:nvSpPr>
        <p:spPr>
          <a:xfrm>
            <a:off x="10992000" y="6438000"/>
            <a:ext cx="700000" cy="260000"/>
          </a:xfrm>
          <a:prstGeom prst="rect">
            <a:avLst/>
          </a:prstGeom>
          <a:noFill/>
        </p:spPr>
        <p:txBody>
          <a:bodyPr wrap="square" anchor="t">
            <a:normAutofit/>
          </a:bodyPr>
          <a:lstStyle/>
          <a:p>
            <a:pPr algn="r">
              <a:buNone/>
            </a:pPr>
            <a:r>
              <a:rPr lang="en-IN" sz="1000" b="0" i="0" dirty="0">
                <a:solidFill>
                  <a:srgbClr val="57606A"/>
                </a:solidFill>
                <a:latin typeface="Calibri"/>
              </a:rPr>
              <a:t>13</a:t>
            </a:r>
          </a:p>
        </p:txBody>
      </p:sp>
    </p:spTree>
  </p:cSld>
  <p:clrMapOvr>
    <a:overrideClrMapping bg1="lt1" tx1="dk1" bg2="lt2" tx2="dk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ule 2"/>
          <p:cNvSpPr/>
          <p:nvPr/>
        </p:nvSpPr>
        <p:spPr>
          <a:xfrm>
            <a:off x="685800" y="640000"/>
            <a:ext cx="260000" cy="62000"/>
          </a:xfrm>
          <a:prstGeom prst="rect">
            <a:avLst/>
          </a:prstGeom>
          <a:solidFill>
            <a:srgbClr val="1F6FEB"/>
          </a:solidFill>
          <a:ln/>
        </p:spPr>
        <p:txBody>
          <a:bodyPr/>
          <a:lstStyle/>
          <a:p/>
        </p:txBody>
      </p:sp>
      <p:sp>
        <p:nvSpPr>
          <p:cNvPr id="3" name="Title"/>
          <p:cNvSpPr txBox="1"/>
          <p:nvPr/>
        </p:nvSpPr>
        <p:spPr>
          <a:xfrm>
            <a:off x="685800" y="300000"/>
            <a:ext cx="10820400" cy="560000"/>
          </a:xfrm>
          <a:prstGeom prst="rect">
            <a:avLst/>
          </a:prstGeom>
          <a:noFill/>
        </p:spPr>
        <p:txBody>
          <a:bodyPr wrap="square" anchor="t">
            <a:normAutofit/>
          </a:bodyPr>
          <a:lstStyle/>
          <a:p>
            <a:pPr>
              <a:buNone/>
            </a:pPr>
            <a:r>
              <a:rPr lang="en-IN" sz="2800" b="1" i="0" dirty="0">
                <a:solidFill>
                  <a:srgbClr val="1F6FEB"/>
                </a:solidFill>
                <a:latin typeface="Calibri"/>
              </a:rPr>
              <a:t>Future Scope and Enhancements</a:t>
            </a:r>
          </a:p>
        </p:txBody>
      </p:sp>
      <p:sp>
        <p:nvSpPr>
          <p:cNvPr id="4" name="Subtitle"/>
          <p:cNvSpPr txBox="1"/>
          <p:nvPr/>
        </p:nvSpPr>
        <p:spPr>
          <a:xfrm>
            <a:off x="685800" y="745000"/>
            <a:ext cx="10820400" cy="340000"/>
          </a:xfrm>
          <a:prstGeom prst="rect">
            <a:avLst/>
          </a:prstGeom>
          <a:noFill/>
        </p:spPr>
        <p:txBody>
          <a:bodyPr wrap="square" anchor="t">
            <a:normAutofit/>
          </a:bodyPr>
          <a:lstStyle/>
          <a:p>
            <a:pPr>
              <a:buNone/>
            </a:pPr>
            <a:r>
              <a:rPr lang="en-IN" sz="1250" b="0" i="1" dirty="0">
                <a:solidFill>
                  <a:srgbClr val="57606A"/>
                </a:solidFill>
                <a:latin typeface="Calibri"/>
              </a:rPr>
              <a:t>Identified limitations and the next iterations they imply</a:t>
            </a:r>
          </a:p>
        </p:txBody>
      </p:sp>
      <p:sp>
        <p:nvSpPr>
          <p:cNvPr id="5" name="Body"/>
          <p:cNvSpPr txBox="1"/>
          <p:nvPr/>
        </p:nvSpPr>
        <p:spPr>
          <a:xfrm>
            <a:off x="685800" y="1120000"/>
            <a:ext cx="10820400" cy="5278000"/>
          </a:xfrm>
          <a:prstGeom prst="rect">
            <a:avLst/>
          </a:prstGeom>
          <a:noFill/>
        </p:spPr>
        <p:txBody>
          <a:bodyPr wrap="square" anchor="t">
            <a:normAutofit/>
          </a:bodyPr>
          <a:lstStyle/>
          <a:p>
            <a:pPr marL="0" indent="0">
              <a:buNone/>
              <a:spcBef>
                <a:spcPts val="500"/>
              </a:spcBef>
            </a:pPr>
            <a:r>
              <a:rPr lang="en-IN" sz="1250" b="1" i="0" dirty="0">
                <a:solidFill>
                  <a:srgbClr val="1F6FEB"/>
                </a:solidFill>
                <a:latin typeface="Calibri"/>
              </a:rPr>
              <a:t>ACKNOWLEDGED LIMITATIONS</a:t>
            </a:r>
          </a:p>
          <a:p>
            <a:pPr marL="285750" indent="-285750">
              <a:spcBef>
                <a:spcPts val="240"/>
              </a:spcBef>
              <a:buClr>
                <a:srgbClr val="1F6FEB"/>
              </a:buClr>
              <a:buChar char="•"/>
            </a:pPr>
            <a:r>
              <a:rPr lang="en-IN" sz="1200" b="0" i="0" dirty="0">
                <a:solidFill>
                  <a:srgbClr val="0D1117"/>
                </a:solidFill>
                <a:latin typeface="Calibri"/>
              </a:rPr>
              <a:t>Representational ceiling — bag-of-words with bigrams encodes no longer-range word order</a:t>
            </a:r>
          </a:p>
          <a:p>
            <a:pPr marL="285750" indent="-285750">
              <a:spcBef>
                <a:spcPts val="240"/>
              </a:spcBef>
              <a:buClr>
                <a:srgbClr val="1F6FEB"/>
              </a:buClr>
              <a:buChar char="•"/>
            </a:pPr>
            <a:r>
              <a:rPr lang="en-IN" sz="1200" b="0" i="0" dirty="0">
                <a:solidFill>
                  <a:srgbClr val="0D1117"/>
                </a:solidFill>
                <a:latin typeface="Calibri"/>
              </a:rPr>
              <a:t>Residual overfitting — 98.8% training against 78.7% cross-validated accuracy</a:t>
            </a:r>
          </a:p>
          <a:p>
            <a:pPr marL="285750" indent="-285750">
              <a:spcBef>
                <a:spcPts val="240"/>
              </a:spcBef>
              <a:buClr>
                <a:srgbClr val="1F6FEB"/>
              </a:buClr>
              <a:buChar char="•"/>
            </a:pPr>
            <a:r>
              <a:rPr lang="en-IN" sz="1200" b="0" i="0" dirty="0">
                <a:solidFill>
                  <a:srgbClr val="0D1117"/>
                </a:solidFill>
                <a:latin typeface="Calibri"/>
              </a:rPr>
              <a:t>Corpus provenance — authored by one person, so it reflects expected rather than observed phrasing</a:t>
            </a:r>
          </a:p>
          <a:p>
            <a:pPr marL="285750" indent="-285750">
              <a:spcBef>
                <a:spcPts val="240"/>
              </a:spcBef>
              <a:buClr>
                <a:srgbClr val="1F6FEB"/>
              </a:buClr>
              <a:buChar char="•"/>
            </a:pPr>
            <a:r>
              <a:rPr lang="en-IN" sz="1200" b="0" i="0" dirty="0">
                <a:solidFill>
                  <a:srgbClr val="0D1117"/>
                </a:solidFill>
                <a:latin typeface="Calibri"/>
              </a:rPr>
              <a:t>Bounded competence — 17 intents; no open-ended or multi-step reasoning</a:t>
            </a:r>
          </a:p>
          <a:p>
            <a:pPr marL="0" indent="0">
              <a:buNone/>
            </a:pPr>
          </a:p>
          <a:p>
            <a:pPr marL="0" indent="0">
              <a:buNone/>
              <a:spcBef>
                <a:spcPts val="500"/>
              </a:spcBef>
            </a:pPr>
            <a:r>
              <a:rPr lang="en-IN" sz="1250" b="1" i="0" dirty="0">
                <a:solidFill>
                  <a:srgbClr val="1F6FEB"/>
                </a:solidFill>
                <a:latin typeface="Calibri"/>
              </a:rPr>
              <a:t>PLANNED WORK</a:t>
            </a:r>
          </a:p>
          <a:p>
            <a:pPr marL="285750" indent="-285750">
              <a:spcBef>
                <a:spcPts val="240"/>
              </a:spcBef>
              <a:buClr>
                <a:srgbClr val="1F6FEB"/>
              </a:buClr>
              <a:buChar char="•"/>
            </a:pPr>
            <a:r>
              <a:rPr lang="en-IN" sz="1200" b="0" i="0" dirty="0">
                <a:solidFill>
                  <a:srgbClr val="0D1117"/>
                </a:solidFill>
                <a:latin typeface="Calibri"/>
              </a:rPr>
              <a:t>Collect real query logs — replace assumed phrasing with an observed distribution; the single highest-value next step</a:t>
            </a:r>
          </a:p>
          <a:p>
            <a:pPr marL="285750" indent="-285750">
              <a:spcBef>
                <a:spcPts val="240"/>
              </a:spcBef>
              <a:buClr>
                <a:srgbClr val="1F6FEB"/>
              </a:buClr>
              <a:buChar char="•"/>
            </a:pPr>
            <a:r>
              <a:rPr lang="en-IN" sz="1200" b="0" i="0" dirty="0">
                <a:solidFill>
                  <a:srgbClr val="0D1117"/>
                </a:solidFill>
                <a:latin typeface="Calibri"/>
              </a:rPr>
              <a:t>Sentence embeddings — a quantised sentence-transformer would break the bag-of-words ceiling by matching queries that share meaning but no vocabulary</a:t>
            </a:r>
          </a:p>
          <a:p>
            <a:pPr marL="285750" indent="-285750">
              <a:spcBef>
                <a:spcPts val="240"/>
              </a:spcBef>
              <a:buClr>
                <a:srgbClr val="1F6FEB"/>
              </a:buClr>
              <a:buChar char="•"/>
            </a:pPr>
            <a:r>
              <a:rPr lang="en-IN" sz="1200" b="0" i="0" dirty="0">
                <a:solidFill>
                  <a:srgbClr val="0D1117"/>
                </a:solidFill>
                <a:latin typeface="Calibri"/>
              </a:rPr>
              <a:t>Confidence calibration — Platt scaling or isotonic regression to align displayed confidence with observed correctness, enabling a principled abstention threshold</a:t>
            </a:r>
          </a:p>
          <a:p>
            <a:pPr marL="285750" indent="-285750">
              <a:spcBef>
                <a:spcPts val="240"/>
              </a:spcBef>
              <a:buClr>
                <a:srgbClr val="1F6FEB"/>
              </a:buClr>
              <a:buChar char="•"/>
            </a:pPr>
            <a:r>
              <a:rPr lang="en-IN" sz="1200" b="0" i="0" dirty="0">
                <a:solidFill>
                  <a:srgbClr val="0D1117"/>
                </a:solidFill>
                <a:latin typeface="Calibri"/>
              </a:rPr>
              <a:t>Unsupervised learning — k-means over RFM features for data-driven customer segmentation</a:t>
            </a:r>
          </a:p>
          <a:p>
            <a:pPr marL="285750" indent="-285750">
              <a:spcBef>
                <a:spcPts val="240"/>
              </a:spcBef>
              <a:buClr>
                <a:srgbClr val="1F6FEB"/>
              </a:buClr>
              <a:buChar char="•"/>
            </a:pPr>
            <a:r>
              <a:rPr lang="en-IN" sz="1200" b="0" i="0" dirty="0">
                <a:solidFill>
                  <a:srgbClr val="0D1117"/>
                </a:solidFill>
                <a:latin typeface="Calibri"/>
              </a:rPr>
              <a:t>Extend coverage — procurement, schemes, claims, complaints, field-force attendance</a:t>
            </a:r>
          </a:p>
          <a:p>
            <a:pPr marL="285750" indent="-285750">
              <a:spcBef>
                <a:spcPts val="240"/>
              </a:spcBef>
              <a:buClr>
                <a:srgbClr val="1F6FEB"/>
              </a:buClr>
              <a:buChar char="•"/>
            </a:pPr>
            <a:r>
              <a:rPr lang="en-IN" sz="1200" b="0" i="0" dirty="0">
                <a:solidFill>
                  <a:srgbClr val="0D1117"/>
                </a:solidFill>
                <a:latin typeface="Calibri"/>
              </a:rPr>
              <a:t>Put the classifier in the operational path — classifier for intent, symbolic engine for entities and dialogue state</a:t>
            </a:r>
          </a:p>
        </p:txBody>
      </p:sp>
      <p:sp>
        <p:nvSpPr>
          <p:cNvPr id="6" name="PageNo"/>
          <p:cNvSpPr txBox="1"/>
          <p:nvPr/>
        </p:nvSpPr>
        <p:spPr>
          <a:xfrm>
            <a:off x="10992000" y="6438000"/>
            <a:ext cx="700000" cy="260000"/>
          </a:xfrm>
          <a:prstGeom prst="rect">
            <a:avLst/>
          </a:prstGeom>
          <a:noFill/>
        </p:spPr>
        <p:txBody>
          <a:bodyPr wrap="square" anchor="t">
            <a:normAutofit/>
          </a:bodyPr>
          <a:lstStyle/>
          <a:p>
            <a:pPr algn="r">
              <a:buNone/>
            </a:pPr>
            <a:r>
              <a:rPr lang="en-IN" sz="1000" b="0" i="0" dirty="0">
                <a:solidFill>
                  <a:srgbClr val="57606A"/>
                </a:solidFill>
                <a:latin typeface="Calibri"/>
              </a:rPr>
              <a:t>14</a:t>
            </a:r>
          </a:p>
        </p:txBody>
      </p:sp>
    </p:spTree>
  </p:cSld>
  <p:clrMapOvr>
    <a:overrideClrMapping bg1="lt1" tx1="dk1" bg2="lt2" tx2="dk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ule 2"/>
          <p:cNvSpPr/>
          <p:nvPr/>
        </p:nvSpPr>
        <p:spPr>
          <a:xfrm>
            <a:off x="685800" y="640000"/>
            <a:ext cx="260000" cy="62000"/>
          </a:xfrm>
          <a:prstGeom prst="rect">
            <a:avLst/>
          </a:prstGeom>
          <a:solidFill>
            <a:srgbClr val="1F6FEB"/>
          </a:solidFill>
          <a:ln/>
        </p:spPr>
        <p:txBody>
          <a:bodyPr/>
          <a:lstStyle/>
          <a:p/>
        </p:txBody>
      </p:sp>
      <p:sp>
        <p:nvSpPr>
          <p:cNvPr id="3" name="Title"/>
          <p:cNvSpPr txBox="1"/>
          <p:nvPr/>
        </p:nvSpPr>
        <p:spPr>
          <a:xfrm>
            <a:off x="685800" y="300000"/>
            <a:ext cx="10820400" cy="560000"/>
          </a:xfrm>
          <a:prstGeom prst="rect">
            <a:avLst/>
          </a:prstGeom>
          <a:noFill/>
        </p:spPr>
        <p:txBody>
          <a:bodyPr wrap="square" anchor="t">
            <a:normAutofit/>
          </a:bodyPr>
          <a:lstStyle/>
          <a:p>
            <a:pPr>
              <a:buNone/>
            </a:pPr>
            <a:r>
              <a:rPr lang="en-IN" sz="2800" b="1" i="0" dirty="0">
                <a:solidFill>
                  <a:srgbClr val="1F6FEB"/>
                </a:solidFill>
                <a:latin typeface="Calibri"/>
              </a:rPr>
              <a:t>Conclusion</a:t>
            </a:r>
          </a:p>
        </p:txBody>
      </p:sp>
      <p:sp>
        <p:nvSpPr>
          <p:cNvPr id="4" name="Subtitle"/>
          <p:cNvSpPr txBox="1"/>
          <p:nvPr/>
        </p:nvSpPr>
        <p:spPr>
          <a:xfrm>
            <a:off x="685800" y="745000"/>
            <a:ext cx="10820400" cy="340000"/>
          </a:xfrm>
          <a:prstGeom prst="rect">
            <a:avLst/>
          </a:prstGeom>
          <a:noFill/>
        </p:spPr>
        <p:txBody>
          <a:bodyPr wrap="square" anchor="t">
            <a:normAutofit/>
          </a:bodyPr>
          <a:lstStyle/>
          <a:p>
            <a:pPr>
              <a:buNone/>
            </a:pPr>
            <a:r>
              <a:rPr lang="en-IN" sz="1250" b="0" i="1" dirty="0">
                <a:solidFill>
                  <a:srgbClr val="57606A"/>
                </a:solidFill>
                <a:latin typeface="Calibri"/>
              </a:rPr>
              <a:t>What was built, what was measured, and what it taught</a:t>
            </a:r>
          </a:p>
        </p:txBody>
      </p:sp>
      <p:sp>
        <p:nvSpPr>
          <p:cNvPr id="5" name="Body"/>
          <p:cNvSpPr txBox="1"/>
          <p:nvPr/>
        </p:nvSpPr>
        <p:spPr>
          <a:xfrm>
            <a:off x="685800" y="1120000"/>
            <a:ext cx="10820400" cy="5278000"/>
          </a:xfrm>
          <a:prstGeom prst="rect">
            <a:avLst/>
          </a:prstGeom>
          <a:noFill/>
        </p:spPr>
        <p:txBody>
          <a:bodyPr wrap="square" anchor="t">
            <a:normAutofit/>
          </a:bodyPr>
          <a:lstStyle/>
          <a:p>
            <a:pPr marL="0" indent="0">
              <a:buNone/>
              <a:spcBef>
                <a:spcPts val="500"/>
              </a:spcBef>
            </a:pPr>
            <a:r>
              <a:rPr lang="en-IN" sz="1250" b="1" i="0" dirty="0">
                <a:solidFill>
                  <a:srgbClr val="1F6FEB"/>
                </a:solidFill>
                <a:latin typeface="Calibri"/>
              </a:rPr>
              <a:t>WHAT WAS BUILT</a:t>
            </a:r>
          </a:p>
          <a:p>
            <a:pPr marL="0" indent="0">
              <a:buNone/>
              <a:spcBef>
                <a:spcPts val="240"/>
              </a:spcBef>
            </a:pPr>
            <a:r>
              <a:rPr lang="en-IN" sz="1200" b="0" i="0" dirty="0">
                <a:solidFill>
                  <a:srgbClr val="0D1117"/>
                </a:solidFill>
                <a:latin typeface="Calibri"/>
              </a:rPr>
              <a:t>A working natural language interface to a production enterprise system, implementing the three canonical components of a task-oriented dialogue system — intent classification, named entity recognition and dialogue state tracking — alongside a statistical classifier written from mathematical first principles with no ML library.</a:t>
            </a:r>
          </a:p>
          <a:p>
            <a:pPr marL="0" indent="0">
              <a:buNone/>
            </a:pPr>
          </a:p>
          <a:p>
            <a:pPr marL="0" indent="0">
              <a:buNone/>
              <a:spcBef>
                <a:spcPts val="500"/>
              </a:spcBef>
            </a:pPr>
            <a:r>
              <a:rPr lang="en-IN" sz="1250" b="1" i="0" dirty="0">
                <a:solidFill>
                  <a:srgbClr val="1F6FEB"/>
                </a:solidFill>
                <a:latin typeface="Calibri"/>
              </a:rPr>
              <a:t>WHAT WAS MEASURED</a:t>
            </a:r>
          </a:p>
          <a:p>
            <a:pPr marL="0" indent="0">
              <a:buNone/>
              <a:spcBef>
                <a:spcPts val="240"/>
              </a:spcBef>
            </a:pPr>
            <a:r>
              <a:rPr lang="en-IN" sz="1200" b="0" i="0" dirty="0">
                <a:solidFill>
                  <a:srgbClr val="0D1117"/>
                </a:solidFill>
                <a:latin typeface="Calibri"/>
              </a:rPr>
              <a:t>85.8% held-out accuracy and 78.7% +/- 2.7% under five-fold cross-validation across 17 intents, approximately 13.3 times the random baseline. No business data leaves the client; answers are computed, never generated.</a:t>
            </a:r>
          </a:p>
          <a:p>
            <a:pPr marL="0" indent="0">
              <a:buNone/>
            </a:pPr>
          </a:p>
          <a:p>
            <a:pPr marL="0" indent="0">
              <a:buNone/>
              <a:spcBef>
                <a:spcPts val="500"/>
              </a:spcBef>
            </a:pPr>
            <a:r>
              <a:rPr lang="en-IN" sz="1250" b="1" i="0" dirty="0">
                <a:solidFill>
                  <a:srgbClr val="1F6FEB"/>
                </a:solidFill>
                <a:latin typeface="Calibri"/>
              </a:rPr>
              <a:t>WHAT IT TAUGHT</a:t>
            </a:r>
          </a:p>
          <a:p>
            <a:pPr marL="0" indent="0">
              <a:buNone/>
              <a:spcBef>
                <a:spcPts val="240"/>
              </a:spcBef>
            </a:pPr>
            <a:r>
              <a:rPr lang="en-IN" sz="1200" b="0" i="0" dirty="0">
                <a:solidFill>
                  <a:srgbClr val="0D1117"/>
                </a:solidFill>
                <a:latin typeface="Calibri"/>
              </a:rPr>
              <a:t>The progression from 47.1% to 78.7% came from diagnosis, not from trying algorithms until one worked. Overfitting was identified from the train-test divergence. Flat posteriors were traced to normalisation. The dominant confusion was root-caused to my own labelling.</a:t>
            </a:r>
          </a:p>
          <a:p>
            <a:pPr marL="0" indent="0">
              <a:buNone/>
              <a:spcBef>
                <a:spcPts val="240"/>
              </a:spcBef>
            </a:pPr>
            <a:r>
              <a:rPr lang="en-IN" sz="1200" b="0" i="0" dirty="0">
                <a:solidFill>
                  <a:srgbClr val="0D1117"/>
                </a:solidFill>
                <a:latin typeface="Calibri"/>
              </a:rPr>
              <a:t>The largest gain came from corpus work (+24.1 points across two iterations). The change made on the strongest theoretical grounds delivered 0.4 points and was kept as a documented negative result.</a:t>
            </a:r>
          </a:p>
          <a:p>
            <a:pPr marL="0" indent="0">
              <a:buNone/>
            </a:pPr>
          </a:p>
          <a:p>
            <a:pPr marL="0" indent="0">
              <a:buNone/>
              <a:spcBef>
                <a:spcPts val="240"/>
              </a:spcBef>
            </a:pPr>
            <a:r>
              <a:rPr lang="en-IN" sz="1200" b="0" i="0" dirty="0">
                <a:solidFill>
                  <a:srgbClr val="0D1117"/>
                </a:solidFill>
                <a:latin typeface="Calibri"/>
              </a:rPr>
              <a:t>Measure before changing; keep the result when it contradicts the expectation.</a:t>
            </a:r>
          </a:p>
        </p:txBody>
      </p:sp>
      <p:sp>
        <p:nvSpPr>
          <p:cNvPr id="6" name="PageNo"/>
          <p:cNvSpPr txBox="1"/>
          <p:nvPr/>
        </p:nvSpPr>
        <p:spPr>
          <a:xfrm>
            <a:off x="10992000" y="6438000"/>
            <a:ext cx="700000" cy="260000"/>
          </a:xfrm>
          <a:prstGeom prst="rect">
            <a:avLst/>
          </a:prstGeom>
          <a:noFill/>
        </p:spPr>
        <p:txBody>
          <a:bodyPr wrap="square" anchor="t">
            <a:normAutofit/>
          </a:bodyPr>
          <a:lstStyle/>
          <a:p>
            <a:pPr algn="r">
              <a:buNone/>
            </a:pPr>
            <a:r>
              <a:rPr lang="en-IN" sz="1000" b="0" i="0" dirty="0">
                <a:solidFill>
                  <a:srgbClr val="57606A"/>
                </a:solidFill>
                <a:latin typeface="Calibri"/>
              </a:rPr>
              <a:t>15</a:t>
            </a:r>
          </a:p>
        </p:txBody>
      </p:sp>
    </p:spTree>
  </p:cSld>
  <p:clrMapOvr>
    <a:overrideClrMapping bg1="lt1" tx1="dk1" bg2="lt2" tx2="dk2" accent1="accent1" accent2="accent2" accent3="accent3" accent4="accent4" accent5="accent5" accent6="accent6" hlink="hlink" folHlink="folHlink"/>
  </p:clrMapOvr>
</p:sld>
</file>

<file path=ppt/theme/theme1.xml><?xml version="1.0" encoding="utf-8"?>
<a:theme xmlns:a="http://schemas.openxmlformats.org/drawingml/2006/main" name="PRISM">
  <a:themeElements>
    <a:clrScheme name="PRISM">
      <a:dk1>
        <a:srgbClr val="0D1117"/>
      </a:dk1>
      <a:lt1>
        <a:srgbClr val="FFFFFF"/>
      </a:lt1>
      <a:dk2>
        <a:srgbClr val="57606A"/>
      </a:dk2>
      <a:lt2>
        <a:srgbClr val="F6F8FA"/>
      </a:lt2>
      <a:accent1>
        <a:srgbClr val="1F6FEB"/>
      </a:accent1>
      <a:accent2>
        <a:srgbClr val="2DA44E"/>
      </a:accent2>
      <a:accent3>
        <a:srgbClr val="BC4C00"/>
      </a:accent3>
      <a:accent4>
        <a:srgbClr val="8250DF"/>
      </a:accent4>
      <a:accent5>
        <a:srgbClr val="0969DA"/>
      </a:accent5>
      <a:accent6>
        <a:srgbClr val="CF222E"/>
      </a:accent6>
      <a:hlink>
        <a:srgbClr val="0969DA"/>
      </a:hlink>
      <a:folHlink>
        <a:srgbClr val="8250DF"/>
      </a:folHlink>
    </a:clrScheme>
    <a:fontScheme name="PRISM">
      <a:majorFont>
        <a:latin typeface="Calibri Light"/>
        <a:ea typeface=""/>
        <a:cs typeface=""/>
      </a:majorFont>
      <a:minorFont>
        <a:latin typeface="Calibri"/>
        <a:ea typeface=""/>
        <a:cs typeface=""/>
      </a:minorFont>
    </a:fontScheme>
    <a:fmtScheme name="PRISM">
      <a:fillStyleLst>
        <a:solidFill>
          <a:schemeClr val="phClr"/>
        </a:solidFill>
        <a:solidFill>
          <a:schemeClr val="phClr"/>
        </a:solidFill>
        <a:solidFill>
          <a:schemeClr val="phClr"/>
        </a:solidFill>
      </a:fillStyleLst>
      <a:lnStyleLst>
        <a:ln w="6350">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Slides>15</Slides>
  <Application>Microsoft Office PowerPoint</Applicat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PRISM AI - Artificial Intelligence Internship Project</dc:title>
  <dc:subject>Hybrid Natural Language Interface for Enterprise Business Intelligence</dc:subject>
  <cp:revision>1</cp:revision>
</cp:coreProperties>
</file>