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4.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Ex2.xml" ContentType="application/vnd.ms-office.chartex+xml"/>
  <Override PartName="/ppt/charts/style8.xml" ContentType="application/vnd.ms-office.chartstyle+xml"/>
  <Override PartName="/ppt/charts/colors8.xml" ContentType="application/vnd.ms-office.chartcolorstyl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6.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6" r:id="rId2"/>
    <p:sldMasterId id="2147483691" r:id="rId3"/>
    <p:sldMasterId id="2147483708" r:id="rId4"/>
    <p:sldMasterId id="2147483749" r:id="rId5"/>
    <p:sldMasterId id="2147483766" r:id="rId6"/>
    <p:sldMasterId id="2147483824" r:id="rId7"/>
  </p:sldMasterIdLst>
  <p:notesMasterIdLst>
    <p:notesMasterId r:id="rId23"/>
  </p:notesMasterIdLst>
  <p:sldIdLst>
    <p:sldId id="256" r:id="rId8"/>
    <p:sldId id="322" r:id="rId9"/>
    <p:sldId id="258" r:id="rId10"/>
    <p:sldId id="259" r:id="rId11"/>
    <p:sldId id="260" r:id="rId12"/>
    <p:sldId id="261" r:id="rId13"/>
    <p:sldId id="267" r:id="rId14"/>
    <p:sldId id="270" r:id="rId15"/>
    <p:sldId id="271" r:id="rId16"/>
    <p:sldId id="272" r:id="rId17"/>
    <p:sldId id="273" r:id="rId18"/>
    <p:sldId id="274" r:id="rId19"/>
    <p:sldId id="275" r:id="rId20"/>
    <p:sldId id="276" r:id="rId21"/>
    <p:sldId id="277" r:id="rId2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9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 /><Relationship Id="rId13" Type="http://schemas.openxmlformats.org/officeDocument/2006/relationships/slide" Target="slides/slide6.xml" /><Relationship Id="rId18" Type="http://schemas.openxmlformats.org/officeDocument/2006/relationships/slide" Target="slides/slide11.xml" /><Relationship Id="rId26" Type="http://schemas.openxmlformats.org/officeDocument/2006/relationships/theme" Target="theme/theme1.xml" /><Relationship Id="rId3" Type="http://schemas.openxmlformats.org/officeDocument/2006/relationships/slideMaster" Target="slideMasters/slideMaster3.xml" /><Relationship Id="rId21" Type="http://schemas.openxmlformats.org/officeDocument/2006/relationships/slide" Target="slides/slide14.xml" /><Relationship Id="rId7" Type="http://schemas.openxmlformats.org/officeDocument/2006/relationships/slideMaster" Target="slideMasters/slideMaster7.xml" /><Relationship Id="rId12" Type="http://schemas.openxmlformats.org/officeDocument/2006/relationships/slide" Target="slides/slide5.xml" /><Relationship Id="rId17" Type="http://schemas.openxmlformats.org/officeDocument/2006/relationships/slide" Target="slides/slide10.xml" /><Relationship Id="rId25" Type="http://schemas.openxmlformats.org/officeDocument/2006/relationships/viewProps" Target="viewProps.xml" /><Relationship Id="rId2" Type="http://schemas.openxmlformats.org/officeDocument/2006/relationships/slideMaster" Target="slideMasters/slideMaster2.xml" /><Relationship Id="rId16" Type="http://schemas.openxmlformats.org/officeDocument/2006/relationships/slide" Target="slides/slide9.xml" /><Relationship Id="rId20" Type="http://schemas.openxmlformats.org/officeDocument/2006/relationships/slide" Target="slides/slide13.xml" /><Relationship Id="rId1" Type="http://schemas.openxmlformats.org/officeDocument/2006/relationships/slideMaster" Target="slideMasters/slideMaster1.xml" /><Relationship Id="rId6" Type="http://schemas.openxmlformats.org/officeDocument/2006/relationships/slideMaster" Target="slideMasters/slideMaster6.xml" /><Relationship Id="rId11" Type="http://schemas.openxmlformats.org/officeDocument/2006/relationships/slide" Target="slides/slide4.xml" /><Relationship Id="rId24" Type="http://schemas.openxmlformats.org/officeDocument/2006/relationships/presProps" Target="presProps.xml" /><Relationship Id="rId5" Type="http://schemas.openxmlformats.org/officeDocument/2006/relationships/slideMaster" Target="slideMasters/slideMaster5.xml" /><Relationship Id="rId15" Type="http://schemas.openxmlformats.org/officeDocument/2006/relationships/slide" Target="slides/slide8.xml" /><Relationship Id="rId23" Type="http://schemas.openxmlformats.org/officeDocument/2006/relationships/notesMaster" Target="notesMasters/notesMaster1.xml" /><Relationship Id="rId10" Type="http://schemas.openxmlformats.org/officeDocument/2006/relationships/slide" Target="slides/slide3.xml" /><Relationship Id="rId19" Type="http://schemas.openxmlformats.org/officeDocument/2006/relationships/slide" Target="slides/slide12.xml" /><Relationship Id="rId4" Type="http://schemas.openxmlformats.org/officeDocument/2006/relationships/slideMaster" Target="slideMasters/slideMaster4.xml" /><Relationship Id="rId9" Type="http://schemas.openxmlformats.org/officeDocument/2006/relationships/slide" Target="slides/slide2.xml" /><Relationship Id="rId14" Type="http://schemas.openxmlformats.org/officeDocument/2006/relationships/slide" Target="slides/slide7.xml" /><Relationship Id="rId22" Type="http://schemas.openxmlformats.org/officeDocument/2006/relationships/slide" Target="slides/slide15.xml" /><Relationship Id="rId27" Type="http://schemas.openxmlformats.org/officeDocument/2006/relationships/tableStyles" Target="tableStyles.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 /><Relationship Id="rId2" Type="http://schemas.microsoft.com/office/2011/relationships/chartColorStyle" Target="colors1.xml" /><Relationship Id="rId1" Type="http://schemas.microsoft.com/office/2011/relationships/chartStyle" Target="style1.xml" /></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2.xml" /><Relationship Id="rId1" Type="http://schemas.microsoft.com/office/2011/relationships/chartStyle" Target="style2.xml" /></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 /><Relationship Id="rId2" Type="http://schemas.microsoft.com/office/2011/relationships/chartColorStyle" Target="colors3.xml" /><Relationship Id="rId1" Type="http://schemas.microsoft.com/office/2011/relationships/chartStyle" Target="style3.xml" /></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 /><Relationship Id="rId2" Type="http://schemas.microsoft.com/office/2011/relationships/chartColorStyle" Target="colors5.xml" /><Relationship Id="rId1" Type="http://schemas.microsoft.com/office/2011/relationships/chartStyle" Target="style5.xml" /></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 /><Relationship Id="rId2" Type="http://schemas.microsoft.com/office/2011/relationships/chartColorStyle" Target="colors6.xml" /><Relationship Id="rId1" Type="http://schemas.microsoft.com/office/2011/relationships/chartStyle" Target="style6.xml" /></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 /><Relationship Id="rId2" Type="http://schemas.microsoft.com/office/2011/relationships/chartColorStyle" Target="colors7.xml" /><Relationship Id="rId1" Type="http://schemas.microsoft.com/office/2011/relationships/chartStyle" Target="style7.xml" /></Relationships>
</file>

<file path=ppt/charts/_rels/chartEx1.xml.rels><?xml version="1.0" encoding="UTF-8" standalone="yes"?>
<Relationships xmlns="http://schemas.openxmlformats.org/package/2006/relationships"><Relationship Id="rId3" Type="http://schemas.microsoft.com/office/2011/relationships/chartColorStyle" Target="colors4.xml" /><Relationship Id="rId2" Type="http://schemas.microsoft.com/office/2011/relationships/chartStyle" Target="style4.xml" /><Relationship Id="rId1" Type="http://schemas.openxmlformats.org/officeDocument/2006/relationships/package" Target="../embeddings/Microsoft_Excel_Worksheet3.xlsx" /></Relationships>
</file>

<file path=ppt/charts/_rels/chartEx2.xml.rels><?xml version="1.0" encoding="UTF-8" standalone="yes"?>
<Relationships xmlns="http://schemas.openxmlformats.org/package/2006/relationships"><Relationship Id="rId3" Type="http://schemas.microsoft.com/office/2011/relationships/chartColorStyle" Target="colors8.xml" /><Relationship Id="rId2" Type="http://schemas.microsoft.com/office/2011/relationships/chartStyle" Target="style8.xml" /><Relationship Id="rId1" Type="http://schemas.openxmlformats.org/officeDocument/2006/relationships/package" Target="../embeddings/Microsoft_Excel_Worksheet7.xlsx"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AA28F81-3194-A742-8464-20FDC695DFAC}" type="datetimeFigureOut">
              <a:rPr lang="en-US" smtClean="0"/>
              <a:t>8/4/2026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2A4A2D6-9343-EA48-9CF8-7D855C478023}" type="slidenum">
              <a:rPr lang="en-US" smtClean="0"/>
              <a:t>‹#›</a:t>
            </a:fld>
            <a:endParaRPr lang="en-US"/>
          </a:p>
        </p:txBody>
      </p:sp>
    </p:spTree>
    <p:extLst>
      <p:ext uri="{BB962C8B-B14F-4D97-AF65-F5344CB8AC3E}">
        <p14:creationId xmlns:p14="http://schemas.microsoft.com/office/powerpoint/2010/main" val="4290113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1.xml" /><Relationship Id="rId4" Type="http://schemas.openxmlformats.org/officeDocument/2006/relationships/hyperlink" Target="http://bit.ly/2TtBDfr" TargetMode="Externa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3.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9.xml.rels><?xml version="1.0" encoding="UTF-8" standalone="yes"?>
<Relationships xmlns="http://schemas.openxmlformats.org/package/2006/relationships"><Relationship Id="rId3" Type="http://schemas.openxmlformats.org/officeDocument/2006/relationships/chart" Target="../charts/chart2.xml" /><Relationship Id="rId2" Type="http://schemas.openxmlformats.org/officeDocument/2006/relationships/chart" Target="../charts/chart1.xml" /><Relationship Id="rId1" Type="http://schemas.openxmlformats.org/officeDocument/2006/relationships/slideMaster" Target="../slideMasters/slideMaster3.xml" /></Relationships>
</file>

<file path=ppt/slideLayouts/_rels/slideLayout50.xml.rels><?xml version="1.0" encoding="UTF-8" standalone="yes"?>
<Relationships xmlns="http://schemas.openxmlformats.org/package/2006/relationships"><Relationship Id="rId3" Type="http://schemas.microsoft.com/office/2014/relationships/chartEx" Target="../charts/chartEx1.xml" /><Relationship Id="rId2" Type="http://schemas.openxmlformats.org/officeDocument/2006/relationships/chart" Target="../charts/chart3.xml" /><Relationship Id="rId1" Type="http://schemas.openxmlformats.org/officeDocument/2006/relationships/slideMaster" Target="../slideMasters/slideMaster3.xml" /><Relationship Id="rId4" Type="http://schemas.openxmlformats.org/officeDocument/2006/relationships/image" Target="../media/image4.png"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svg" /><Relationship Id="rId1" Type="http://schemas.openxmlformats.org/officeDocument/2006/relationships/slideMaster" Target="../slideMasters/slideMaster3.xml" /><Relationship Id="rId6" Type="http://schemas.openxmlformats.org/officeDocument/2006/relationships/image" Target="../media/image8.svg" /><Relationship Id="rId5" Type="http://schemas.openxmlformats.org/officeDocument/2006/relationships/image" Target="../media/image7.svg" /><Relationship Id="rId4" Type="http://schemas.openxmlformats.org/officeDocument/2006/relationships/image" Target="../media/image6.svg" /></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3.xml" /></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3.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6.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4.xml" /><Relationship Id="rId4" Type="http://schemas.openxmlformats.org/officeDocument/2006/relationships/hyperlink" Target="http://bit.ly/2TtBDfr" TargetMode="Externa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5.xml" /></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99.xml.rels><?xml version="1.0" encoding="UTF-8" standalone="yes"?>
<Relationships xmlns="http://schemas.openxmlformats.org/package/2006/relationships"><Relationship Id="rId3" Type="http://schemas.openxmlformats.org/officeDocument/2006/relationships/chart" Target="../charts/chart5.xml" /><Relationship Id="rId2" Type="http://schemas.openxmlformats.org/officeDocument/2006/relationships/chart" Target="../charts/chart4.xml" /><Relationship Id="rId1" Type="http://schemas.openxmlformats.org/officeDocument/2006/relationships/slideMaster" Target="../slideMasters/slideMaster5.xml" /></Relationships>
</file>

<file path=ppt/slideLayouts/_rels/slideLayout100.xml.rels><?xml version="1.0" encoding="UTF-8" standalone="yes"?>
<Relationships xmlns="http://schemas.openxmlformats.org/package/2006/relationships"><Relationship Id="rId3" Type="http://schemas.microsoft.com/office/2014/relationships/chartEx" Target="../charts/chartEx2.xml" /><Relationship Id="rId2" Type="http://schemas.openxmlformats.org/officeDocument/2006/relationships/chart" Target="../charts/chart6.xml" /><Relationship Id="rId1" Type="http://schemas.openxmlformats.org/officeDocument/2006/relationships/slideMaster" Target="../slideMasters/slideMaster5.xml" /><Relationship Id="rId4" Type="http://schemas.openxmlformats.org/officeDocument/2006/relationships/image" Target="../media/image4.png"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svg" /><Relationship Id="rId1" Type="http://schemas.openxmlformats.org/officeDocument/2006/relationships/slideMaster" Target="../slideMasters/slideMaster5.xml" /><Relationship Id="rId6" Type="http://schemas.openxmlformats.org/officeDocument/2006/relationships/image" Target="../media/image8.svg" /><Relationship Id="rId5" Type="http://schemas.openxmlformats.org/officeDocument/2006/relationships/image" Target="../media/image7.svg" /><Relationship Id="rId4" Type="http://schemas.openxmlformats.org/officeDocument/2006/relationships/image" Target="../media/image6.svg" /></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5.xml" /></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5.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6.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6.xml" /><Relationship Id="rId4" Type="http://schemas.openxmlformats.org/officeDocument/2006/relationships/hyperlink" Target="http://bit.ly/2TtBDfr" TargetMode="External" /></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71.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7.xml" /><Relationship Id="rId4" Type="http://schemas.openxmlformats.org/officeDocument/2006/relationships/hyperlink" Target="http://bit.ly/2TtBDfr" TargetMode="External" /></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7785687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5749924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3763810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8667519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8914086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33993980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57271233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0185732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1015991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11685177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18610982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7987958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55248483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7099622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9539320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30359305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10338477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70708639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43748221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04014499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261303087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50167933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990767897"/>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3549012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68912067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76094440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69232821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541208532"/>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149439168"/>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417636109"/>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30256899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3245475744"/>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864009628"/>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7734284"/>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858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0"/>
        <p:cNvGrpSpPr/>
        <p:nvPr/>
      </p:nvGrpSpPr>
      <p:grpSpPr>
        <a:xfrm>
          <a:off x="0" y="0"/>
          <a:ext cx="0" cy="0"/>
          <a:chOff x="0" y="0"/>
          <a:chExt cx="0" cy="0"/>
        </a:xfrm>
      </p:grpSpPr>
    </p:spTree>
    <p:extLst>
      <p:ext uri="{BB962C8B-B14F-4D97-AF65-F5344CB8AC3E}">
        <p14:creationId xmlns:p14="http://schemas.microsoft.com/office/powerpoint/2010/main" val="683752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81"/>
        <p:cNvGrpSpPr/>
        <p:nvPr/>
      </p:nvGrpSpPr>
      <p:grpSpPr>
        <a:xfrm>
          <a:off x="0" y="0"/>
          <a:ext cx="0" cy="0"/>
          <a:chOff x="0" y="0"/>
          <a:chExt cx="0" cy="0"/>
        </a:xfrm>
      </p:grpSpPr>
      <p:sp>
        <p:nvSpPr>
          <p:cNvPr id="482" name="Google Shape;482;p3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28733697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8567991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2533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227819805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205083015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8472140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40741014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2162003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7209141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11834880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992945069"/>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327643309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237025370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86265643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8684297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97415516"/>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2555814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13688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15577406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263962939"/>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210119780"/>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985948557"/>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1122031954"/>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585159047"/>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734175057"/>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515121611"/>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79647442"/>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166831608"/>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717944825"/>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1571199936"/>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72094993"/>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517016421"/>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23879500"/>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591045894"/>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406724910"/>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758133285"/>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414891940"/>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398634830"/>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697665043"/>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2953766309"/>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670373049"/>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4004393"/>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220019607"/>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07748686"/>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862187006"/>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192586932"/>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31717541"/>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187573226"/>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56269290"/>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2588236420"/>
      </p:ext>
    </p:extLst>
  </p:cSld>
  <p:clrMapOvr>
    <a:masterClrMapping/>
  </p:clrMapOvr>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926050178"/>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138378404"/>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6052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56955233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329740565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6711187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426835237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6538484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8750073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170615490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079182915"/>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187283564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372186686"/>
      </p:ext>
    </p:extLst>
  </p:cSld>
  <p:clrMapOvr>
    <a:overrideClrMapping bg1="lt1" tx1="dk1" bg2="lt2" tx2="dk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363890544"/>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15121783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879270145"/>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197617965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22359727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373832145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63261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514972752"/>
      </p:ext>
    </p:extLst>
  </p:cSld>
  <p:clrMapOvr>
    <a:masterClrMapping/>
  </p:clrMapOvr>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127216455"/>
      </p:ext>
    </p:extLst>
  </p:cSld>
  <p:clrMapOvr>
    <a:masterClrMapping/>
  </p:clrMapOvr>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3210410247"/>
      </p:ext>
    </p:extLst>
  </p:cSld>
  <p:clrMapOvr>
    <a:masterClrMapping/>
  </p:clrMapOvr>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4043207175"/>
      </p:ext>
    </p:extLst>
  </p:cSld>
  <p:clrMapOvr>
    <a:masterClrMapping/>
  </p:clrMapOvr>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202822516"/>
      </p:ext>
    </p:extLst>
  </p:cSld>
  <p:clrMapOvr>
    <a:masterClrMapping/>
  </p:clrMapOvr>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3798789066"/>
      </p:ext>
    </p:extLst>
  </p:cSld>
  <p:clrMapOvr>
    <a:masterClrMapping/>
  </p:clrMapOvr>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1890708049"/>
      </p:ext>
    </p:extLst>
  </p:cSld>
  <p:clrMapOvr>
    <a:masterClrMapping/>
  </p:clrMapOvr>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598573703"/>
      </p:ext>
    </p:extLst>
  </p:cSld>
  <p:clrMapOvr>
    <a:masterClrMapping/>
  </p:clrMapOvr>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543791424"/>
      </p:ext>
    </p:extLst>
  </p:cSld>
  <p:clrMapOvr>
    <a:masterClrMapping/>
  </p:clrMapOvr>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967583323"/>
      </p:ext>
    </p:extLst>
  </p:cSld>
  <p:clrMapOvr>
    <a:masterClrMapping/>
  </p:clrMapOvr>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128272323"/>
      </p:ext>
    </p:extLst>
  </p:cSld>
  <p:clrMapOvr>
    <a:masterClrMapping/>
  </p:clrMapOvr>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046530480"/>
      </p:ext>
    </p:extLst>
  </p:cSld>
  <p:clrMapOvr>
    <a:masterClrMapping/>
  </p:clrMapOvr>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879082807"/>
      </p:ext>
    </p:extLst>
  </p:cSld>
  <p:clrMapOvr>
    <a:masterClrMapping/>
  </p:clrMapOvr>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08066871"/>
      </p:ext>
    </p:extLst>
  </p:cSld>
  <p:clrMapOvr>
    <a:masterClrMapping/>
  </p:clrMapOvr>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534760069"/>
      </p:ext>
    </p:extLst>
  </p:cSld>
  <p:clrMapOvr>
    <a:masterClrMapping/>
  </p:clrMapOvr>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98295496"/>
      </p:ext>
    </p:extLst>
  </p:cSld>
  <p:clrMapOvr>
    <a:masterClrMapping/>
  </p:clrMapOvr>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027478987"/>
      </p:ext>
    </p:extLst>
  </p:cSld>
  <p:clrMapOvr>
    <a:masterClrMapping/>
  </p:clrMapOvr>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85536546"/>
      </p:ext>
    </p:extLst>
  </p:cSld>
  <p:clrMapOvr>
    <a:masterClrMapping/>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33937843"/>
      </p:ext>
    </p:extLst>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1107579949"/>
      </p:ext>
    </p:extLst>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563840957"/>
      </p:ext>
    </p:extLst>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137034209"/>
      </p:ext>
    </p:extLst>
  </p:cSld>
  <p:clrMapOvr>
    <a:masterClrMapping/>
  </p:clrMapOvr>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93097528"/>
      </p:ext>
    </p:extLst>
  </p:cSld>
  <p:clrMapOvr>
    <a:masterClrMapping/>
  </p:clrMapOvr>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01292713"/>
      </p:ext>
    </p:extLst>
  </p:cSld>
  <p:clrMapOvr>
    <a:masterClrMapping/>
  </p:clrMapOvr>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359552611"/>
      </p:ext>
    </p:extLst>
  </p:cSld>
  <p:clrMapOvr>
    <a:masterClrMapping/>
  </p:clrMapOvr>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379760818"/>
      </p:ext>
    </p:extLst>
  </p:cSld>
  <p:clrMapOvr>
    <a:masterClrMapping/>
  </p:clrMapOvr>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58536977"/>
      </p:ext>
    </p:extLst>
  </p:cSld>
  <p:clrMapOvr>
    <a:masterClrMapping/>
  </p:clrMapOvr>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93626769"/>
      </p:ext>
    </p:extLst>
  </p:cSld>
  <p:clrMapOvr>
    <a:masterClrMapping/>
  </p:clrMapOvr>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1859890575"/>
      </p:ext>
    </p:extLst>
  </p:cSld>
  <p:clrMapOvr>
    <a:masterClrMapping/>
  </p:clrMapOvr>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3005333418"/>
      </p:ext>
    </p:extLst>
  </p:cSld>
  <p:clrMapOvr>
    <a:masterClrMapping/>
  </p:clrMapOvr>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396443602"/>
      </p:ext>
    </p:extLst>
  </p:cSld>
  <p:clrMapOvr>
    <a:masterClrMapping/>
  </p:clrMapOvr>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814806189"/>
      </p:ext>
    </p:extLst>
  </p:cSld>
  <p:clrMapOvr>
    <a:masterClrMapping/>
  </p:clrMapOvr>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3968645"/>
      </p:ext>
    </p:extLst>
  </p:cSld>
  <p:clrMapOvr>
    <a:masterClrMapping/>
  </p:clrMapOvr>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4023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844541730"/>
      </p:ext>
    </p:extLst>
  </p:cSld>
  <p:clrMapOvr>
    <a:masterClrMapping/>
  </p:clrMapOvr>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765069392"/>
      </p:ext>
    </p:extLst>
  </p:cSld>
  <p:clrMapOvr>
    <a:masterClrMapping/>
  </p:clrMapOvr>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2785467741"/>
      </p:ext>
    </p:extLst>
  </p:cSld>
  <p:clrMapOvr>
    <a:masterClrMapping/>
  </p:clrMapOvr>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3391508398"/>
      </p:ext>
    </p:extLst>
  </p:cSld>
  <p:clrMapOvr>
    <a:masterClrMapping/>
  </p:clrMapOvr>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199690150"/>
      </p:ext>
    </p:extLst>
  </p:cSld>
  <p:clrMapOvr>
    <a:masterClrMapping/>
  </p:clrMapOvr>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2323396609"/>
      </p:ext>
    </p:extLst>
  </p:cSld>
  <p:clrMapOvr>
    <a:masterClrMapping/>
  </p:clrMapOvr>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854568544"/>
      </p:ext>
    </p:extLst>
  </p:cSld>
  <p:clrMapOvr>
    <a:masterClrMapping/>
  </p:clrMapOvr>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4258556845"/>
      </p:ext>
    </p:extLst>
  </p:cSld>
  <p:clrMapOvr>
    <a:masterClrMapping/>
  </p:clrMapOvr>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84701098"/>
      </p:ext>
    </p:extLst>
  </p:cSld>
  <p:clrMapOvr>
    <a:masterClrMapping/>
  </p:clrMapOvr>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391920277"/>
      </p:ext>
    </p:extLst>
  </p:cSld>
  <p:clrMapOvr>
    <a:masterClrMapping/>
  </p:clrMapOvr>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2136679192"/>
      </p:ext>
    </p:extLst>
  </p:cSld>
  <p:clrMapOvr>
    <a:masterClrMapping/>
  </p:clrMapOvr>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450104044"/>
      </p:ext>
    </p:extLst>
  </p:cSld>
  <p:clrMapOvr>
    <a:masterClrMapping/>
  </p:clrMapOvr>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473171251"/>
      </p:ext>
    </p:extLst>
  </p:cSld>
  <p:clrMapOvr>
    <a:masterClrMapping/>
  </p:clrMapOvr>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541575081"/>
      </p:ext>
    </p:extLst>
  </p:cSld>
  <p:clrMapOvr>
    <a:masterClrMapping/>
  </p:clrMapOvr>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595649950"/>
      </p:ext>
    </p:extLst>
  </p:cSld>
  <p:clrMapOvr>
    <a:masterClrMapping/>
  </p:clrMapOvr>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2182675016"/>
      </p:ext>
    </p:extLst>
  </p:cSld>
  <p:clrMapOvr>
    <a:masterClrMapping/>
  </p:clrMapOvr>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711725529"/>
      </p:ext>
    </p:extLst>
  </p:cSld>
  <p:clrMapOvr>
    <a:masterClrMapping/>
  </p:clrMapOvr>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1825609551"/>
      </p:ext>
    </p:extLst>
  </p:cSld>
  <p:clrMapOvr>
    <a:masterClrMapping/>
  </p:clrMapOvr>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408125245"/>
      </p:ext>
    </p:extLst>
  </p:cSld>
  <p:clrMapOvr>
    <a:masterClrMapping/>
  </p:clrMapOvr>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87399022"/>
      </p:ext>
    </p:extLst>
  </p:cSld>
  <p:clrMapOvr>
    <a:masterClrMapping/>
  </p:clrMapOvr>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3940352918"/>
      </p:ext>
    </p:extLst>
  </p:cSld>
  <p:clrMapOvr>
    <a:masterClrMapping/>
  </p:clrMapOvr>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345890173"/>
      </p:ext>
    </p:extLst>
  </p:cSld>
  <p:clrMapOvr>
    <a:masterClrMapping/>
  </p:clrMapOvr>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045116093"/>
      </p:ext>
    </p:extLst>
  </p:cSld>
  <p:clrMapOvr>
    <a:masterClrMapping/>
  </p:clrMapOvr>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065870721"/>
      </p:ext>
    </p:extLst>
  </p:cSld>
  <p:clrMapOvr>
    <a:masterClrMapping/>
  </p:clrMapOvr>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953218380"/>
      </p:ext>
    </p:extLst>
  </p:cSld>
  <p:clrMapOvr>
    <a:masterClrMapping/>
  </p:clrMapOvr>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601509402"/>
      </p:ext>
    </p:extLst>
  </p:cSld>
  <p:clrMapOvr>
    <a:masterClrMapping/>
  </p:clrMapOvr>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063696174"/>
      </p:ext>
    </p:extLst>
  </p:cSld>
  <p:clrMapOvr>
    <a:masterClrMapping/>
  </p:clrMapOvr>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57825256"/>
      </p:ext>
    </p:extLst>
  </p:cSld>
  <p:clrMapOvr>
    <a:masterClrMapping/>
  </p:clrMapOvr>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59087992"/>
      </p:ext>
    </p:extLst>
  </p:cSld>
  <p:clrMapOvr>
    <a:masterClrMapping/>
  </p:clrMapOvr>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652156922"/>
      </p:ext>
    </p:extLst>
  </p:cSld>
  <p:clrMapOvr>
    <a:masterClrMapping/>
  </p:clrMapOvr>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162732165"/>
      </p:ext>
    </p:extLst>
  </p:cSld>
  <p:clrMapOvr>
    <a:masterClrMapping/>
  </p:clrMapOvr>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995272199"/>
      </p:ext>
    </p:extLst>
  </p:cSld>
  <p:clrMapOvr>
    <a:masterClrMapping/>
  </p:clrMapOvr>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2037463514"/>
      </p:ext>
    </p:extLst>
  </p:cSld>
  <p:clrMapOvr>
    <a:masterClrMapping/>
  </p:clrMapOvr>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32911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4"/>
            <a:endParaRPr lang="en-US" dirty="0"/>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293467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theme" Target="../theme/theme1.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8.xml" /><Relationship Id="rId2" Type="http://schemas.openxmlformats.org/officeDocument/2006/relationships/slideLayout" Target="../slideLayouts/slideLayout37.xml" /><Relationship Id="rId1" Type="http://schemas.openxmlformats.org/officeDocument/2006/relationships/slideLayout" Target="../slideLayouts/slideLayout36.xml" /><Relationship Id="rId5" Type="http://schemas.openxmlformats.org/officeDocument/2006/relationships/theme" Target="../theme/theme2.xml" /><Relationship Id="rId4" Type="http://schemas.openxmlformats.org/officeDocument/2006/relationships/slideLayout" Target="../slideLayouts/slideLayout39.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 /><Relationship Id="rId13" Type="http://schemas.openxmlformats.org/officeDocument/2006/relationships/slideLayout" Target="../slideLayouts/slideLayout52.xml" /><Relationship Id="rId18" Type="http://schemas.openxmlformats.org/officeDocument/2006/relationships/image" Target="../media/image1.png" /><Relationship Id="rId3" Type="http://schemas.openxmlformats.org/officeDocument/2006/relationships/slideLayout" Target="../slideLayouts/slideLayout42.xml" /><Relationship Id="rId7" Type="http://schemas.openxmlformats.org/officeDocument/2006/relationships/slideLayout" Target="../slideLayouts/slideLayout46.xml" /><Relationship Id="rId12" Type="http://schemas.openxmlformats.org/officeDocument/2006/relationships/slideLayout" Target="../slideLayouts/slideLayout51.xml" /><Relationship Id="rId17" Type="http://schemas.openxmlformats.org/officeDocument/2006/relationships/theme" Target="../theme/theme3.xml" /><Relationship Id="rId2" Type="http://schemas.openxmlformats.org/officeDocument/2006/relationships/slideLayout" Target="../slideLayouts/slideLayout41.xml" /><Relationship Id="rId16" Type="http://schemas.openxmlformats.org/officeDocument/2006/relationships/slideLayout" Target="../slideLayouts/slideLayout55.xml" /><Relationship Id="rId1" Type="http://schemas.openxmlformats.org/officeDocument/2006/relationships/slideLayout" Target="../slideLayouts/slideLayout40.xml" /><Relationship Id="rId6" Type="http://schemas.openxmlformats.org/officeDocument/2006/relationships/slideLayout" Target="../slideLayouts/slideLayout45.xml" /><Relationship Id="rId11" Type="http://schemas.openxmlformats.org/officeDocument/2006/relationships/slideLayout" Target="../slideLayouts/slideLayout50.xml" /><Relationship Id="rId5" Type="http://schemas.openxmlformats.org/officeDocument/2006/relationships/slideLayout" Target="../slideLayouts/slideLayout44.xml" /><Relationship Id="rId15" Type="http://schemas.openxmlformats.org/officeDocument/2006/relationships/slideLayout" Target="../slideLayouts/slideLayout54.xml" /><Relationship Id="rId10" Type="http://schemas.openxmlformats.org/officeDocument/2006/relationships/slideLayout" Target="../slideLayouts/slideLayout49.xml" /><Relationship Id="rId4" Type="http://schemas.openxmlformats.org/officeDocument/2006/relationships/slideLayout" Target="../slideLayouts/slideLayout43.xml" /><Relationship Id="rId9" Type="http://schemas.openxmlformats.org/officeDocument/2006/relationships/slideLayout" Target="../slideLayouts/slideLayout48.xml" /><Relationship Id="rId14" Type="http://schemas.openxmlformats.org/officeDocument/2006/relationships/slideLayout" Target="../slideLayouts/slideLayout53.xml"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3.xml" /><Relationship Id="rId13" Type="http://schemas.openxmlformats.org/officeDocument/2006/relationships/slideLayout" Target="../slideLayouts/slideLayout68.xml" /><Relationship Id="rId18" Type="http://schemas.openxmlformats.org/officeDocument/2006/relationships/slideLayout" Target="../slideLayouts/slideLayout73.xml" /><Relationship Id="rId26" Type="http://schemas.openxmlformats.org/officeDocument/2006/relationships/slideLayout" Target="../slideLayouts/slideLayout81.xml" /><Relationship Id="rId3" Type="http://schemas.openxmlformats.org/officeDocument/2006/relationships/slideLayout" Target="../slideLayouts/slideLayout58.xml" /><Relationship Id="rId21" Type="http://schemas.openxmlformats.org/officeDocument/2006/relationships/slideLayout" Target="../slideLayouts/slideLayout76.xml" /><Relationship Id="rId34" Type="http://schemas.openxmlformats.org/officeDocument/2006/relationships/slideLayout" Target="../slideLayouts/slideLayout89.xml" /><Relationship Id="rId7" Type="http://schemas.openxmlformats.org/officeDocument/2006/relationships/slideLayout" Target="../slideLayouts/slideLayout62.xml" /><Relationship Id="rId12" Type="http://schemas.openxmlformats.org/officeDocument/2006/relationships/slideLayout" Target="../slideLayouts/slideLayout67.xml" /><Relationship Id="rId17" Type="http://schemas.openxmlformats.org/officeDocument/2006/relationships/slideLayout" Target="../slideLayouts/slideLayout72.xml" /><Relationship Id="rId25" Type="http://schemas.openxmlformats.org/officeDocument/2006/relationships/slideLayout" Target="../slideLayouts/slideLayout80.xml" /><Relationship Id="rId33" Type="http://schemas.openxmlformats.org/officeDocument/2006/relationships/slideLayout" Target="../slideLayouts/slideLayout88.xml" /><Relationship Id="rId2" Type="http://schemas.openxmlformats.org/officeDocument/2006/relationships/slideLayout" Target="../slideLayouts/slideLayout57.xml" /><Relationship Id="rId16" Type="http://schemas.openxmlformats.org/officeDocument/2006/relationships/slideLayout" Target="../slideLayouts/slideLayout71.xml" /><Relationship Id="rId20" Type="http://schemas.openxmlformats.org/officeDocument/2006/relationships/slideLayout" Target="../slideLayouts/slideLayout75.xml" /><Relationship Id="rId29" Type="http://schemas.openxmlformats.org/officeDocument/2006/relationships/slideLayout" Target="../slideLayouts/slideLayout84.xml" /><Relationship Id="rId1" Type="http://schemas.openxmlformats.org/officeDocument/2006/relationships/slideLayout" Target="../slideLayouts/slideLayout56.xml" /><Relationship Id="rId6" Type="http://schemas.openxmlformats.org/officeDocument/2006/relationships/slideLayout" Target="../slideLayouts/slideLayout61.xml" /><Relationship Id="rId11" Type="http://schemas.openxmlformats.org/officeDocument/2006/relationships/slideLayout" Target="../slideLayouts/slideLayout66.xml" /><Relationship Id="rId24" Type="http://schemas.openxmlformats.org/officeDocument/2006/relationships/slideLayout" Target="../slideLayouts/slideLayout79.xml" /><Relationship Id="rId32" Type="http://schemas.openxmlformats.org/officeDocument/2006/relationships/slideLayout" Target="../slideLayouts/slideLayout87.xml" /><Relationship Id="rId5" Type="http://schemas.openxmlformats.org/officeDocument/2006/relationships/slideLayout" Target="../slideLayouts/slideLayout60.xml" /><Relationship Id="rId15" Type="http://schemas.openxmlformats.org/officeDocument/2006/relationships/slideLayout" Target="../slideLayouts/slideLayout70.xml" /><Relationship Id="rId23" Type="http://schemas.openxmlformats.org/officeDocument/2006/relationships/slideLayout" Target="../slideLayouts/slideLayout78.xml" /><Relationship Id="rId28" Type="http://schemas.openxmlformats.org/officeDocument/2006/relationships/slideLayout" Target="../slideLayouts/slideLayout83.xml" /><Relationship Id="rId10" Type="http://schemas.openxmlformats.org/officeDocument/2006/relationships/slideLayout" Target="../slideLayouts/slideLayout65.xml" /><Relationship Id="rId19" Type="http://schemas.openxmlformats.org/officeDocument/2006/relationships/slideLayout" Target="../slideLayouts/slideLayout74.xml" /><Relationship Id="rId31" Type="http://schemas.openxmlformats.org/officeDocument/2006/relationships/slideLayout" Target="../slideLayouts/slideLayout86.xml" /><Relationship Id="rId4" Type="http://schemas.openxmlformats.org/officeDocument/2006/relationships/slideLayout" Target="../slideLayouts/slideLayout59.xml" /><Relationship Id="rId9" Type="http://schemas.openxmlformats.org/officeDocument/2006/relationships/slideLayout" Target="../slideLayouts/slideLayout64.xml" /><Relationship Id="rId14" Type="http://schemas.openxmlformats.org/officeDocument/2006/relationships/slideLayout" Target="../slideLayouts/slideLayout69.xml" /><Relationship Id="rId22" Type="http://schemas.openxmlformats.org/officeDocument/2006/relationships/slideLayout" Target="../slideLayouts/slideLayout77.xml" /><Relationship Id="rId27" Type="http://schemas.openxmlformats.org/officeDocument/2006/relationships/slideLayout" Target="../slideLayouts/slideLayout82.xml" /><Relationship Id="rId30" Type="http://schemas.openxmlformats.org/officeDocument/2006/relationships/slideLayout" Target="../slideLayouts/slideLayout85.xml" /><Relationship Id="rId35" Type="http://schemas.openxmlformats.org/officeDocument/2006/relationships/theme" Target="../theme/theme4.xm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7.xml" /><Relationship Id="rId13" Type="http://schemas.openxmlformats.org/officeDocument/2006/relationships/slideLayout" Target="../slideLayouts/slideLayout102.xml" /><Relationship Id="rId18" Type="http://schemas.openxmlformats.org/officeDocument/2006/relationships/theme" Target="../theme/theme5.xml" /><Relationship Id="rId3" Type="http://schemas.openxmlformats.org/officeDocument/2006/relationships/slideLayout" Target="../slideLayouts/slideLayout92.xml" /><Relationship Id="rId7" Type="http://schemas.openxmlformats.org/officeDocument/2006/relationships/slideLayout" Target="../slideLayouts/slideLayout96.xml" /><Relationship Id="rId12" Type="http://schemas.openxmlformats.org/officeDocument/2006/relationships/slideLayout" Target="../slideLayouts/slideLayout101.xml" /><Relationship Id="rId17" Type="http://schemas.openxmlformats.org/officeDocument/2006/relationships/slideLayout" Target="../slideLayouts/slideLayout106.xml" /><Relationship Id="rId2" Type="http://schemas.openxmlformats.org/officeDocument/2006/relationships/slideLayout" Target="../slideLayouts/slideLayout91.xml" /><Relationship Id="rId16" Type="http://schemas.openxmlformats.org/officeDocument/2006/relationships/slideLayout" Target="../slideLayouts/slideLayout105.xml" /><Relationship Id="rId1" Type="http://schemas.openxmlformats.org/officeDocument/2006/relationships/slideLayout" Target="../slideLayouts/slideLayout90.xml" /><Relationship Id="rId6" Type="http://schemas.openxmlformats.org/officeDocument/2006/relationships/slideLayout" Target="../slideLayouts/slideLayout95.xml" /><Relationship Id="rId11" Type="http://schemas.openxmlformats.org/officeDocument/2006/relationships/slideLayout" Target="../slideLayouts/slideLayout100.xml" /><Relationship Id="rId5" Type="http://schemas.openxmlformats.org/officeDocument/2006/relationships/slideLayout" Target="../slideLayouts/slideLayout94.xml" /><Relationship Id="rId15" Type="http://schemas.openxmlformats.org/officeDocument/2006/relationships/slideLayout" Target="../slideLayouts/slideLayout104.xml" /><Relationship Id="rId10" Type="http://schemas.openxmlformats.org/officeDocument/2006/relationships/slideLayout" Target="../slideLayouts/slideLayout99.xml" /><Relationship Id="rId19" Type="http://schemas.openxmlformats.org/officeDocument/2006/relationships/image" Target="../media/image1.png" /><Relationship Id="rId4" Type="http://schemas.openxmlformats.org/officeDocument/2006/relationships/slideLayout" Target="../slideLayouts/slideLayout93.xml" /><Relationship Id="rId9" Type="http://schemas.openxmlformats.org/officeDocument/2006/relationships/slideLayout" Target="../slideLayouts/slideLayout98.xml" /><Relationship Id="rId14" Type="http://schemas.openxmlformats.org/officeDocument/2006/relationships/slideLayout" Target="../slideLayouts/slideLayout103.xm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4.xml" /><Relationship Id="rId13" Type="http://schemas.openxmlformats.org/officeDocument/2006/relationships/slideLayout" Target="../slideLayouts/slideLayout119.xml" /><Relationship Id="rId18" Type="http://schemas.openxmlformats.org/officeDocument/2006/relationships/slideLayout" Target="../slideLayouts/slideLayout124.xml" /><Relationship Id="rId26" Type="http://schemas.openxmlformats.org/officeDocument/2006/relationships/slideLayout" Target="../slideLayouts/slideLayout132.xml" /><Relationship Id="rId3" Type="http://schemas.openxmlformats.org/officeDocument/2006/relationships/slideLayout" Target="../slideLayouts/slideLayout109.xml" /><Relationship Id="rId21" Type="http://schemas.openxmlformats.org/officeDocument/2006/relationships/slideLayout" Target="../slideLayouts/slideLayout127.xml" /><Relationship Id="rId34" Type="http://schemas.openxmlformats.org/officeDocument/2006/relationships/slideLayout" Target="../slideLayouts/slideLayout140.xml" /><Relationship Id="rId7" Type="http://schemas.openxmlformats.org/officeDocument/2006/relationships/slideLayout" Target="../slideLayouts/slideLayout113.xml" /><Relationship Id="rId12" Type="http://schemas.openxmlformats.org/officeDocument/2006/relationships/slideLayout" Target="../slideLayouts/slideLayout118.xml" /><Relationship Id="rId17" Type="http://schemas.openxmlformats.org/officeDocument/2006/relationships/slideLayout" Target="../slideLayouts/slideLayout123.xml" /><Relationship Id="rId25" Type="http://schemas.openxmlformats.org/officeDocument/2006/relationships/slideLayout" Target="../slideLayouts/slideLayout131.xml" /><Relationship Id="rId33" Type="http://schemas.openxmlformats.org/officeDocument/2006/relationships/slideLayout" Target="../slideLayouts/slideLayout139.xml" /><Relationship Id="rId2" Type="http://schemas.openxmlformats.org/officeDocument/2006/relationships/slideLayout" Target="../slideLayouts/slideLayout108.xml" /><Relationship Id="rId16" Type="http://schemas.openxmlformats.org/officeDocument/2006/relationships/slideLayout" Target="../slideLayouts/slideLayout122.xml" /><Relationship Id="rId20" Type="http://schemas.openxmlformats.org/officeDocument/2006/relationships/slideLayout" Target="../slideLayouts/slideLayout126.xml" /><Relationship Id="rId29" Type="http://schemas.openxmlformats.org/officeDocument/2006/relationships/slideLayout" Target="../slideLayouts/slideLayout135.xml" /><Relationship Id="rId1" Type="http://schemas.openxmlformats.org/officeDocument/2006/relationships/slideLayout" Target="../slideLayouts/slideLayout107.xml" /><Relationship Id="rId6" Type="http://schemas.openxmlformats.org/officeDocument/2006/relationships/slideLayout" Target="../slideLayouts/slideLayout112.xml" /><Relationship Id="rId11" Type="http://schemas.openxmlformats.org/officeDocument/2006/relationships/slideLayout" Target="../slideLayouts/slideLayout117.xml" /><Relationship Id="rId24" Type="http://schemas.openxmlformats.org/officeDocument/2006/relationships/slideLayout" Target="../slideLayouts/slideLayout130.xml" /><Relationship Id="rId32" Type="http://schemas.openxmlformats.org/officeDocument/2006/relationships/slideLayout" Target="../slideLayouts/slideLayout138.xml" /><Relationship Id="rId5" Type="http://schemas.openxmlformats.org/officeDocument/2006/relationships/slideLayout" Target="../slideLayouts/slideLayout111.xml" /><Relationship Id="rId15" Type="http://schemas.openxmlformats.org/officeDocument/2006/relationships/slideLayout" Target="../slideLayouts/slideLayout121.xml" /><Relationship Id="rId23" Type="http://schemas.openxmlformats.org/officeDocument/2006/relationships/slideLayout" Target="../slideLayouts/slideLayout129.xml" /><Relationship Id="rId28" Type="http://schemas.openxmlformats.org/officeDocument/2006/relationships/slideLayout" Target="../slideLayouts/slideLayout134.xml" /><Relationship Id="rId10" Type="http://schemas.openxmlformats.org/officeDocument/2006/relationships/slideLayout" Target="../slideLayouts/slideLayout116.xml" /><Relationship Id="rId19" Type="http://schemas.openxmlformats.org/officeDocument/2006/relationships/slideLayout" Target="../slideLayouts/slideLayout125.xml" /><Relationship Id="rId31" Type="http://schemas.openxmlformats.org/officeDocument/2006/relationships/slideLayout" Target="../slideLayouts/slideLayout137.xml" /><Relationship Id="rId4" Type="http://schemas.openxmlformats.org/officeDocument/2006/relationships/slideLayout" Target="../slideLayouts/slideLayout110.xml" /><Relationship Id="rId9" Type="http://schemas.openxmlformats.org/officeDocument/2006/relationships/slideLayout" Target="../slideLayouts/slideLayout115.xml" /><Relationship Id="rId14" Type="http://schemas.openxmlformats.org/officeDocument/2006/relationships/slideLayout" Target="../slideLayouts/slideLayout120.xml" /><Relationship Id="rId22" Type="http://schemas.openxmlformats.org/officeDocument/2006/relationships/slideLayout" Target="../slideLayouts/slideLayout128.xml" /><Relationship Id="rId27" Type="http://schemas.openxmlformats.org/officeDocument/2006/relationships/slideLayout" Target="../slideLayouts/slideLayout133.xml" /><Relationship Id="rId30" Type="http://schemas.openxmlformats.org/officeDocument/2006/relationships/slideLayout" Target="../slideLayouts/slideLayout136.xml" /><Relationship Id="rId35" Type="http://schemas.openxmlformats.org/officeDocument/2006/relationships/theme" Target="../theme/theme6.xml"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8.xml" /><Relationship Id="rId13" Type="http://schemas.openxmlformats.org/officeDocument/2006/relationships/slideLayout" Target="../slideLayouts/slideLayout153.xml" /><Relationship Id="rId18" Type="http://schemas.openxmlformats.org/officeDocument/2006/relationships/slideLayout" Target="../slideLayouts/slideLayout158.xml" /><Relationship Id="rId26" Type="http://schemas.openxmlformats.org/officeDocument/2006/relationships/slideLayout" Target="../slideLayouts/slideLayout166.xml" /><Relationship Id="rId3" Type="http://schemas.openxmlformats.org/officeDocument/2006/relationships/slideLayout" Target="../slideLayouts/slideLayout143.xml" /><Relationship Id="rId21" Type="http://schemas.openxmlformats.org/officeDocument/2006/relationships/slideLayout" Target="../slideLayouts/slideLayout161.xml" /><Relationship Id="rId34" Type="http://schemas.openxmlformats.org/officeDocument/2006/relationships/slideLayout" Target="../slideLayouts/slideLayout174.xml" /><Relationship Id="rId7" Type="http://schemas.openxmlformats.org/officeDocument/2006/relationships/slideLayout" Target="../slideLayouts/slideLayout147.xml" /><Relationship Id="rId12" Type="http://schemas.openxmlformats.org/officeDocument/2006/relationships/slideLayout" Target="../slideLayouts/slideLayout152.xml" /><Relationship Id="rId17" Type="http://schemas.openxmlformats.org/officeDocument/2006/relationships/slideLayout" Target="../slideLayouts/slideLayout157.xml" /><Relationship Id="rId25" Type="http://schemas.openxmlformats.org/officeDocument/2006/relationships/slideLayout" Target="../slideLayouts/slideLayout165.xml" /><Relationship Id="rId33" Type="http://schemas.openxmlformats.org/officeDocument/2006/relationships/slideLayout" Target="../slideLayouts/slideLayout173.xml" /><Relationship Id="rId2" Type="http://schemas.openxmlformats.org/officeDocument/2006/relationships/slideLayout" Target="../slideLayouts/slideLayout142.xml" /><Relationship Id="rId16" Type="http://schemas.openxmlformats.org/officeDocument/2006/relationships/slideLayout" Target="../slideLayouts/slideLayout156.xml" /><Relationship Id="rId20" Type="http://schemas.openxmlformats.org/officeDocument/2006/relationships/slideLayout" Target="../slideLayouts/slideLayout160.xml" /><Relationship Id="rId29" Type="http://schemas.openxmlformats.org/officeDocument/2006/relationships/slideLayout" Target="../slideLayouts/slideLayout169.xml" /><Relationship Id="rId1" Type="http://schemas.openxmlformats.org/officeDocument/2006/relationships/slideLayout" Target="../slideLayouts/slideLayout141.xml" /><Relationship Id="rId6" Type="http://schemas.openxmlformats.org/officeDocument/2006/relationships/slideLayout" Target="../slideLayouts/slideLayout146.xml" /><Relationship Id="rId11" Type="http://schemas.openxmlformats.org/officeDocument/2006/relationships/slideLayout" Target="../slideLayouts/slideLayout151.xml" /><Relationship Id="rId24" Type="http://schemas.openxmlformats.org/officeDocument/2006/relationships/slideLayout" Target="../slideLayouts/slideLayout164.xml" /><Relationship Id="rId32" Type="http://schemas.openxmlformats.org/officeDocument/2006/relationships/slideLayout" Target="../slideLayouts/slideLayout172.xml" /><Relationship Id="rId5" Type="http://schemas.openxmlformats.org/officeDocument/2006/relationships/slideLayout" Target="../slideLayouts/slideLayout145.xml" /><Relationship Id="rId15" Type="http://schemas.openxmlformats.org/officeDocument/2006/relationships/slideLayout" Target="../slideLayouts/slideLayout155.xml" /><Relationship Id="rId23" Type="http://schemas.openxmlformats.org/officeDocument/2006/relationships/slideLayout" Target="../slideLayouts/slideLayout163.xml" /><Relationship Id="rId28" Type="http://schemas.openxmlformats.org/officeDocument/2006/relationships/slideLayout" Target="../slideLayouts/slideLayout168.xml" /><Relationship Id="rId36" Type="http://schemas.openxmlformats.org/officeDocument/2006/relationships/theme" Target="../theme/theme7.xml" /><Relationship Id="rId10" Type="http://schemas.openxmlformats.org/officeDocument/2006/relationships/slideLayout" Target="../slideLayouts/slideLayout150.xml" /><Relationship Id="rId19" Type="http://schemas.openxmlformats.org/officeDocument/2006/relationships/slideLayout" Target="../slideLayouts/slideLayout159.xml" /><Relationship Id="rId31" Type="http://schemas.openxmlformats.org/officeDocument/2006/relationships/slideLayout" Target="../slideLayouts/slideLayout171.xml" /><Relationship Id="rId4" Type="http://schemas.openxmlformats.org/officeDocument/2006/relationships/slideLayout" Target="../slideLayouts/slideLayout144.xml" /><Relationship Id="rId9" Type="http://schemas.openxmlformats.org/officeDocument/2006/relationships/slideLayout" Target="../slideLayouts/slideLayout149.xml" /><Relationship Id="rId14" Type="http://schemas.openxmlformats.org/officeDocument/2006/relationships/slideLayout" Target="../slideLayouts/slideLayout154.xml" /><Relationship Id="rId22" Type="http://schemas.openxmlformats.org/officeDocument/2006/relationships/slideLayout" Target="../slideLayouts/slideLayout162.xml" /><Relationship Id="rId27" Type="http://schemas.openxmlformats.org/officeDocument/2006/relationships/slideLayout" Target="../slideLayouts/slideLayout167.xml" /><Relationship Id="rId30" Type="http://schemas.openxmlformats.org/officeDocument/2006/relationships/slideLayout" Target="../slideLayouts/slideLayout170.xml" /><Relationship Id="rId35" Type="http://schemas.openxmlformats.org/officeDocument/2006/relationships/slideLayout" Target="../slideLayouts/slideLayout175.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3052110348"/>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477"/>
        <p:cNvGrpSpPr/>
        <p:nvPr/>
      </p:nvGrpSpPr>
      <p:grpSpPr>
        <a:xfrm>
          <a:off x="0" y="0"/>
          <a:ext cx="0" cy="0"/>
          <a:chOff x="0" y="0"/>
          <a:chExt cx="0" cy="0"/>
        </a:xfrm>
      </p:grpSpPr>
      <p:sp>
        <p:nvSpPr>
          <p:cNvPr id="478" name="Google Shape;478;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79" name="Google Shape;479;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930357625"/>
      </p:ext>
    </p:extLst>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423205108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2098577459"/>
      </p:ext>
    </p:extLst>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3" r:id="rId3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2492999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883" r:id="rId17"/>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2008640517"/>
      </p:ext>
    </p:extLst>
  </p:cSld>
  <p:clrMap bg1="lt1" tx1="dk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545236"/>
      </p:ext>
    </p:extLst>
  </p:cSld>
  <p:clrMap bg1="lt1" tx1="dk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9" r:id="rId34"/>
    <p:sldLayoutId id="2147483882" r:id="rId3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xml" /><Relationship Id="rId1" Type="http://schemas.openxmlformats.org/officeDocument/2006/relationships/slideLayout" Target="../slideLayouts/slideLayout106.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4.xml" /></Relationships>
</file>

<file path=ppt/slides/_rels/slide3.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2.xml" /><Relationship Id="rId1" Type="http://schemas.openxmlformats.org/officeDocument/2006/relationships/slideLayout" Target="../slideLayouts/slideLayout106.xml" /></Relationships>
</file>

<file path=ppt/slides/_rels/slide4.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3.xml" /><Relationship Id="rId1" Type="http://schemas.openxmlformats.org/officeDocument/2006/relationships/slideLayout" Target="../slideLayouts/slideLayout106.xml" /></Relationships>
</file>

<file path=ppt/slides/_rels/slide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4.xml" /><Relationship Id="rId1" Type="http://schemas.openxmlformats.org/officeDocument/2006/relationships/slideLayout" Target="../slideLayouts/slideLayout106.xml" /></Relationships>
</file>

<file path=ppt/slides/_rels/slide6.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5.xml" /><Relationship Id="rId1" Type="http://schemas.openxmlformats.org/officeDocument/2006/relationships/slideLayout" Target="../slideLayouts/slideLayout106.xml" /></Relationships>
</file>

<file path=ppt/slides/_rels/slide7.xml.rels><?xml version="1.0" encoding="UTF-8" standalone="yes"?>
<Relationships xmlns="http://schemas.openxmlformats.org/package/2006/relationships"><Relationship Id="rId3" Type="http://schemas.openxmlformats.org/officeDocument/2006/relationships/image" Target="../media/image12.jpg" /><Relationship Id="rId2" Type="http://schemas.openxmlformats.org/officeDocument/2006/relationships/notesSlide" Target="../notesSlides/notesSlide6.xml" /><Relationship Id="rId1" Type="http://schemas.openxmlformats.org/officeDocument/2006/relationships/slideLayout" Target="../slideLayouts/slideLayout106.xml" /><Relationship Id="rId5" Type="http://schemas.openxmlformats.org/officeDocument/2006/relationships/image" Target="../media/image11.png" /><Relationship Id="rId4" Type="http://schemas.openxmlformats.org/officeDocument/2006/relationships/image" Target="../media/image13.jpg" /></Relationships>
</file>

<file path=ppt/slides/_rels/slide8.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7.xml" /><Relationship Id="rId1" Type="http://schemas.openxmlformats.org/officeDocument/2006/relationships/slideLayout" Target="../slideLayouts/slideLayout106.xml" /></Relationships>
</file>

<file path=ppt/slides/_rels/slide9.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8.xml" /><Relationship Id="rId1" Type="http://schemas.openxmlformats.org/officeDocument/2006/relationships/slideLayout" Target="../slideLayouts/slideLayout106.xml" /></Relationships>
</file>

<file path=ppt/slides/_rels/slide10.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9.xml" /><Relationship Id="rId1" Type="http://schemas.openxmlformats.org/officeDocument/2006/relationships/slideLayout" Target="../slideLayouts/slideLayout106.xml" /></Relationships>
</file>

<file path=ppt/slides/_rels/slide1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0.xml" /><Relationship Id="rId1" Type="http://schemas.openxmlformats.org/officeDocument/2006/relationships/slideLayout" Target="../slideLayouts/slideLayout106.xml" /></Relationships>
</file>

<file path=ppt/slides/_rels/slide12.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1.xml" /><Relationship Id="rId1" Type="http://schemas.openxmlformats.org/officeDocument/2006/relationships/slideLayout" Target="../slideLayouts/slideLayout106.xml" /></Relationships>
</file>

<file path=ppt/slides/_rels/slide13.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2.xml" /><Relationship Id="rId1" Type="http://schemas.openxmlformats.org/officeDocument/2006/relationships/slideLayout" Target="../slideLayouts/slideLayout106.xml" /></Relationships>
</file>

<file path=ppt/slides/_rels/slide14.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3.xml" /><Relationship Id="rId1" Type="http://schemas.openxmlformats.org/officeDocument/2006/relationships/slideLayout" Target="../slideLayouts/slideLayout106.xml" /></Relationships>
</file>

<file path=ppt/slides/_rels/slide1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4.xml" /><Relationship Id="rId1" Type="http://schemas.openxmlformats.org/officeDocument/2006/relationships/slideLayout" Target="../slideLayouts/slideLayout106.xml" /><Relationship Id="rId4" Type="http://schemas.openxmlformats.org/officeDocument/2006/relationships/image" Target="../media/image14.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815"/>
            <a:ext cx="12188952" cy="6858000"/>
          </a:xfrm>
          <a:prstGeom prst="rect">
            <a:avLst/>
          </a:prstGeom>
          <a:solidFill>
            <a:srgbClr val="FFFFFF"/>
          </a:solidFill>
          <a:ln/>
        </p:spPr>
      </p:sp>
      <p:sp>
        <p:nvSpPr>
          <p:cNvPr id="5" name="Text 3"/>
          <p:cNvSpPr/>
          <p:nvPr/>
        </p:nvSpPr>
        <p:spPr>
          <a:xfrm>
            <a:off x="7734278" y="3509889"/>
            <a:ext cx="5486400" cy="365760"/>
          </a:xfrm>
          <a:prstGeom prst="rect">
            <a:avLst/>
          </a:prstGeom>
          <a:noFill/>
          <a:ln/>
        </p:spPr>
        <p:txBody>
          <a:bodyPr wrap="square" rtlCol="0" anchor="ctr"/>
          <a:lstStyle/>
          <a:p>
            <a:pPr marL="0" indent="0">
              <a:buNone/>
            </a:pPr>
            <a:endParaRPr lang="en-US" sz="1300" dirty="0"/>
          </a:p>
        </p:txBody>
      </p:sp>
      <p:sp>
        <p:nvSpPr>
          <p:cNvPr id="6" name="Text 4"/>
          <p:cNvSpPr/>
          <p:nvPr/>
        </p:nvSpPr>
        <p:spPr>
          <a:xfrm>
            <a:off x="4389120" y="3794760"/>
            <a:ext cx="5486400" cy="365760"/>
          </a:xfrm>
          <a:prstGeom prst="rect">
            <a:avLst/>
          </a:prstGeom>
          <a:noFill/>
          <a:ln/>
        </p:spPr>
        <p:txBody>
          <a:bodyPr wrap="square" rtlCol="0" anchor="ctr"/>
          <a:lstStyle/>
          <a:p>
            <a:pPr marL="0" indent="0">
              <a:buNone/>
            </a:pPr>
            <a:r>
              <a:rPr lang="en-US" sz="1200" dirty="0">
                <a:solidFill>
                  <a:srgbClr val="5D739A"/>
                </a:solidFill>
                <a:latin typeface="Calibri" pitchFamily="34" charset="0"/>
                <a:ea typeface="Calibri" pitchFamily="34" charset="-122"/>
                <a:cs typeface="Calibri" pitchFamily="34" charset="-120"/>
              </a:rPr>
              <a:t>Artificial Intelligence Internship</a:t>
            </a:r>
            <a:endParaRPr lang="en-US" sz="1200" dirty="0"/>
          </a:p>
        </p:txBody>
      </p:sp>
      <p:sp>
        <p:nvSpPr>
          <p:cNvPr id="7" name="Text 5"/>
          <p:cNvSpPr/>
          <p:nvPr/>
        </p:nvSpPr>
        <p:spPr>
          <a:xfrm>
            <a:off x="731520" y="2468880"/>
            <a:ext cx="9601200" cy="1097280"/>
          </a:xfrm>
          <a:prstGeom prst="rect">
            <a:avLst/>
          </a:prstGeom>
          <a:noFill/>
          <a:ln/>
        </p:spPr>
        <p:txBody>
          <a:bodyPr wrap="square" rtlCol="0" anchor="ctr"/>
          <a:lstStyle/>
          <a:p>
            <a:pPr marL="0" indent="0" algn="ctr">
              <a:buNone/>
            </a:pPr>
            <a:r>
              <a:rPr lang="en-US" sz="5400" b="1" dirty="0">
                <a:solidFill>
                  <a:srgbClr val="000000"/>
                </a:solidFill>
                <a:latin typeface="Calibri" pitchFamily="34" charset="0"/>
                <a:ea typeface="Calibri" pitchFamily="34" charset="-122"/>
                <a:cs typeface="Calibri" pitchFamily="34" charset="-120"/>
              </a:rPr>
              <a:t>VisionTrack AI</a:t>
            </a:r>
            <a:endParaRPr lang="en-US" sz="5400" dirty="0"/>
          </a:p>
        </p:txBody>
      </p:sp>
      <p:sp>
        <p:nvSpPr>
          <p:cNvPr id="8" name="Text 6"/>
          <p:cNvSpPr/>
          <p:nvPr/>
        </p:nvSpPr>
        <p:spPr>
          <a:xfrm>
            <a:off x="960120" y="3367219"/>
            <a:ext cx="9144000" cy="548640"/>
          </a:xfrm>
          <a:prstGeom prst="rect">
            <a:avLst/>
          </a:prstGeom>
          <a:noFill/>
          <a:ln/>
        </p:spPr>
        <p:txBody>
          <a:bodyPr wrap="square" rtlCol="0" anchor="ctr"/>
          <a:lstStyle/>
          <a:p>
            <a:pPr algn="ctr"/>
            <a:r>
              <a:rPr lang="en-US" sz="2000" dirty="0">
                <a:solidFill>
                  <a:srgbClr val="AD84C6"/>
                </a:solidFill>
                <a:latin typeface="Calibri" pitchFamily="34" charset="0"/>
                <a:ea typeface="Calibri" pitchFamily="34" charset="-122"/>
                <a:cs typeface="Calibri" pitchFamily="34" charset="-120"/>
              </a:rPr>
              <a:t>Intelligent Real-Time Video Analytics System-</a:t>
            </a:r>
            <a:r>
              <a:rPr lang="en-US" sz="1600" b="1" spc="200" dirty="0">
                <a:solidFill>
                  <a:srgbClr val="AD84C6"/>
                </a:solidFill>
                <a:latin typeface="Calibri" pitchFamily="34" charset="0"/>
                <a:ea typeface="Calibri" pitchFamily="34" charset="-122"/>
                <a:cs typeface="Calibri" pitchFamily="34" charset="-120"/>
              </a:rPr>
              <a:t>CODEC TECHNOLOGIES</a:t>
            </a:r>
            <a:endParaRPr lang="en-US" sz="1600" dirty="0"/>
          </a:p>
          <a:p>
            <a:pPr marL="0" indent="0" algn="ctr">
              <a:buNone/>
            </a:pPr>
            <a:endParaRPr lang="en-US" sz="2000" dirty="0"/>
          </a:p>
        </p:txBody>
      </p:sp>
      <p:sp>
        <p:nvSpPr>
          <p:cNvPr id="9" name="Shape 7"/>
          <p:cNvSpPr/>
          <p:nvPr/>
        </p:nvSpPr>
        <p:spPr>
          <a:xfrm flipV="1">
            <a:off x="731519" y="4087446"/>
            <a:ext cx="11207453" cy="73074"/>
          </a:xfrm>
          <a:prstGeom prst="line">
            <a:avLst/>
          </a:prstGeom>
          <a:noFill/>
          <a:ln w="25400">
            <a:solidFill>
              <a:srgbClr val="AD84C6"/>
            </a:solidFill>
            <a:prstDash val="solid"/>
          </a:ln>
        </p:spPr>
      </p:sp>
      <p:sp>
        <p:nvSpPr>
          <p:cNvPr id="10" name="Text 8"/>
          <p:cNvSpPr/>
          <p:nvPr/>
        </p:nvSpPr>
        <p:spPr>
          <a:xfrm>
            <a:off x="5303520" y="4313741"/>
            <a:ext cx="6400800" cy="1737360"/>
          </a:xfrm>
          <a:prstGeom prst="rect">
            <a:avLst/>
          </a:prstGeom>
          <a:noFill/>
          <a:ln/>
        </p:spPr>
        <p:txBody>
          <a:bodyPr wrap="square" rtlCol="0" anchor="ctr"/>
          <a:lstStyle/>
          <a:p>
            <a:pPr marL="0" indent="0" algn="r">
              <a:lnSpc>
                <a:spcPts val="2200"/>
              </a:lnSpc>
              <a:buNone/>
            </a:pPr>
            <a:r>
              <a:rPr lang="en-US" sz="1300" dirty="0">
                <a:solidFill>
                  <a:srgbClr val="5D739A"/>
                </a:solidFill>
                <a:latin typeface="Calibri" pitchFamily="34" charset="0"/>
                <a:ea typeface="Calibri" pitchFamily="34" charset="-122"/>
                <a:cs typeface="Calibri" pitchFamily="34" charset="-120"/>
              </a:rPr>
              <a:t>Under the Guidance of
</a:t>
            </a:r>
            <a:r>
              <a:rPr lang="en-US" sz="1500" b="1" dirty="0">
                <a:solidFill>
                  <a:srgbClr val="000000"/>
                </a:solidFill>
                <a:latin typeface="Calibri" pitchFamily="34" charset="0"/>
                <a:ea typeface="Calibri" pitchFamily="34" charset="-122"/>
                <a:cs typeface="Calibri" pitchFamily="34" charset="-120"/>
              </a:rPr>
              <a:t>[Faculty / Mentor Name]
</a:t>
            </a:r>
            <a:r>
              <a:rPr lang="en-US" sz="1300" dirty="0">
                <a:solidFill>
                  <a:srgbClr val="5D739A"/>
                </a:solidFill>
                <a:latin typeface="Calibri" pitchFamily="34" charset="0"/>
                <a:ea typeface="Calibri" pitchFamily="34" charset="-122"/>
                <a:cs typeface="Calibri" pitchFamily="34" charset="-120"/>
              </a:rPr>
              <a:t>By
</a:t>
            </a:r>
            <a:r>
              <a:rPr lang="en-US" sz="1800" b="1" dirty="0">
                <a:solidFill>
                  <a:srgbClr val="000000"/>
                </a:solidFill>
                <a:latin typeface="Calibri" pitchFamily="34" charset="0"/>
                <a:ea typeface="Calibri" pitchFamily="34" charset="-122"/>
                <a:cs typeface="Calibri" pitchFamily="34" charset="-120"/>
              </a:rPr>
              <a:t>Dhruv </a:t>
            </a:r>
            <a:r>
              <a:rPr lang="en-US" sz="1800" b="1" dirty="0" err="1">
                <a:solidFill>
                  <a:srgbClr val="000000"/>
                </a:solidFill>
                <a:latin typeface="Calibri" pitchFamily="34" charset="0"/>
                <a:ea typeface="Calibri" pitchFamily="34" charset="-122"/>
                <a:cs typeface="Calibri" pitchFamily="34" charset="-120"/>
              </a:rPr>
              <a:t>Hiteshbhai</a:t>
            </a:r>
            <a:r>
              <a:rPr lang="en-US" sz="1800" b="1" dirty="0">
                <a:solidFill>
                  <a:srgbClr val="000000"/>
                </a:solidFill>
                <a:latin typeface="Calibri" pitchFamily="34" charset="0"/>
                <a:ea typeface="Calibri" pitchFamily="34" charset="-122"/>
                <a:cs typeface="Calibri" pitchFamily="34" charset="-120"/>
              </a:rPr>
              <a:t> Trivedi</a:t>
            </a:r>
          </a:p>
          <a:p>
            <a:pPr algn="r">
              <a:lnSpc>
                <a:spcPts val="2200"/>
              </a:lnSpc>
            </a:pPr>
            <a:r>
              <a:rPr lang="en-IN" dirty="0">
                <a:solidFill>
                  <a:schemeClr val="tx1"/>
                </a:solidFill>
              </a:rPr>
              <a:t>Department of Computer Science and Engineering, Adani University</a:t>
            </a:r>
          </a:p>
          <a:p>
            <a:pPr marL="0" indent="0" algn="r">
              <a:lnSpc>
                <a:spcPts val="2200"/>
              </a:lnSpc>
              <a:buNone/>
            </a:pPr>
            <a:endParaRPr lang="en-US" sz="1300" dirty="0"/>
          </a:p>
        </p:txBody>
      </p:sp>
      <p:sp>
        <p:nvSpPr>
          <p:cNvPr id="12" name="Text 10"/>
          <p:cNvSpPr/>
          <p:nvPr/>
        </p:nvSpPr>
        <p:spPr>
          <a:xfrm>
            <a:off x="11521440" y="6565392"/>
            <a:ext cx="548640" cy="274320"/>
          </a:xfrm>
          <a:prstGeom prst="rect">
            <a:avLst/>
          </a:prstGeom>
          <a:noFill/>
          <a:ln/>
        </p:spPr>
        <p:txBody>
          <a:bodyPr wrap="square" rtlCol="0" anchor="ctr"/>
          <a:lstStyle/>
          <a:p>
            <a:pPr marL="0" indent="0" algn="r">
              <a:buNone/>
            </a:pPr>
            <a:r>
              <a:rPr lang="en-US" sz="900" dirty="0">
                <a:solidFill>
                  <a:srgbClr val="5D739A"/>
                </a:solidFill>
                <a:latin typeface="Calibri" pitchFamily="34" charset="0"/>
                <a:ea typeface="Calibri" pitchFamily="34" charset="-122"/>
                <a:cs typeface="Calibri" pitchFamily="34" charset="-120"/>
              </a:rPr>
              <a:t>1</a:t>
            </a:r>
            <a:endParaRPr lang="en-US" sz="900" dirty="0"/>
          </a:p>
        </p:txBody>
      </p:sp>
      <p:pic>
        <p:nvPicPr>
          <p:cNvPr id="4" name="Picture 3">
            <a:extLst>
              <a:ext uri="{FF2B5EF4-FFF2-40B4-BE49-F238E27FC236}">
                <a16:creationId xmlns:a16="http://schemas.microsoft.com/office/drawing/2014/main" id="{2E94ACC8-4013-66FA-AAB3-D69B1A247D04}"/>
              </a:ext>
            </a:extLst>
          </p:cNvPr>
          <p:cNvPicPr>
            <a:picLocks noChangeAspect="1"/>
          </p:cNvPicPr>
          <p:nvPr/>
        </p:nvPicPr>
        <p:blipFill>
          <a:blip r:embed="rId3"/>
          <a:stretch>
            <a:fillRect/>
          </a:stretch>
        </p:blipFill>
        <p:spPr>
          <a:xfrm>
            <a:off x="9816123" y="148492"/>
            <a:ext cx="2122850" cy="8942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66801"/>
            <a:ext cx="8382000" cy="5410917"/>
          </a:xfrm>
        </p:spPr>
        <p:txBody>
          <a:bodyPr/>
          <a:lstStyle/>
          <a:p>
            <a:pPr lvl="0"/>
            <a:r>
              <a:rPr lang="en-US" sz="2000" dirty="0">
                <a:latin typeface="Adani Regular" panose="02000503000000020004" pitchFamily="2" charset="0"/>
              </a:rPr>
              <a:t>Title and Problem Statement</a:t>
            </a:r>
          </a:p>
          <a:p>
            <a:pPr lvl="0"/>
            <a:r>
              <a:rPr lang="en-US" sz="2000" dirty="0">
                <a:latin typeface="Adani Regular" panose="02000503000000020004" pitchFamily="2" charset="0"/>
              </a:rPr>
              <a:t>Organization / Company Overview . </a:t>
            </a:r>
          </a:p>
          <a:p>
            <a:pPr lvl="0"/>
            <a:r>
              <a:rPr lang="en-US" sz="2000" dirty="0">
                <a:latin typeface="Adani Regular" panose="02000503000000020004" pitchFamily="2" charset="0"/>
              </a:rPr>
              <a:t>Proposed System Overview</a:t>
            </a:r>
          </a:p>
          <a:p>
            <a:pPr lvl="0"/>
            <a:r>
              <a:rPr lang="en-US" sz="2000" dirty="0">
                <a:latin typeface="Adani Regular" panose="02000503000000020004" pitchFamily="2" charset="0"/>
              </a:rPr>
              <a:t>Implementation Details </a:t>
            </a:r>
          </a:p>
          <a:p>
            <a:pPr lvl="0"/>
            <a:r>
              <a:rPr lang="en-US" sz="2000" dirty="0">
                <a:latin typeface="Adani Regular" panose="02000503000000020004" pitchFamily="2" charset="0"/>
              </a:rPr>
              <a:t>Working Demonstration (Mandatory)</a:t>
            </a:r>
            <a:br>
              <a:rPr lang="en-US" sz="2000" dirty="0">
                <a:latin typeface="Adani Regular" panose="02000503000000020004" pitchFamily="2" charset="0"/>
              </a:rPr>
            </a:br>
            <a:r>
              <a:rPr lang="en-US" sz="2000" dirty="0">
                <a:latin typeface="Adani Regular" panose="02000503000000020004" pitchFamily="2" charset="0"/>
              </a:rPr>
              <a:t>Testing and Validation </a:t>
            </a:r>
          </a:p>
          <a:p>
            <a:pPr lvl="0"/>
            <a:r>
              <a:rPr lang="en-US" sz="2000" dirty="0">
                <a:latin typeface="Adani Regular" panose="02000503000000020004" pitchFamily="2" charset="0"/>
              </a:rPr>
              <a:t>Methodology / Algorithms Used</a:t>
            </a:r>
            <a:br>
              <a:rPr lang="en-US" sz="2000" dirty="0">
                <a:latin typeface="Adani Regular" panose="02000503000000020004" pitchFamily="2" charset="0"/>
              </a:rPr>
            </a:br>
            <a:r>
              <a:rPr lang="en-US" sz="2000" dirty="0">
                <a:latin typeface="Adani Regular" panose="02000503000000020004" pitchFamily="2" charset="0"/>
              </a:rPr>
              <a:t>Tools and Technologies</a:t>
            </a:r>
          </a:p>
          <a:p>
            <a:pPr lvl="0"/>
            <a:r>
              <a:rPr lang="en-US" sz="2000" dirty="0">
                <a:latin typeface="Adani Regular" panose="02000503000000020004" pitchFamily="2" charset="0"/>
              </a:rPr>
              <a:t>Results and Outcomes</a:t>
            </a:r>
          </a:p>
          <a:p>
            <a:pPr lvl="0"/>
            <a:r>
              <a:rPr lang="en-US" sz="2000" dirty="0">
                <a:latin typeface="Adani Regular" panose="02000503000000020004" pitchFamily="2" charset="0"/>
              </a:rPr>
              <a:t>Challenges Faced &amp; Solutions</a:t>
            </a:r>
          </a:p>
          <a:p>
            <a:pPr lvl="0"/>
            <a:r>
              <a:rPr lang="en-US" sz="2000" dirty="0">
                <a:latin typeface="Adani Regular" panose="02000503000000020004" pitchFamily="2" charset="0"/>
              </a:rPr>
              <a:t>Future Scope / Enhancements</a:t>
            </a:r>
          </a:p>
          <a:p>
            <a:pPr lvl="0"/>
            <a:r>
              <a:rPr lang="en-US" sz="2000" dirty="0">
                <a:latin typeface="Adani Regular" panose="02000503000000020004" pitchFamily="2" charset="0"/>
              </a:rPr>
              <a:t>Conclusion</a:t>
            </a:r>
          </a:p>
          <a:p>
            <a:pPr lvl="0"/>
            <a:r>
              <a:rPr lang="en-US" sz="2000" dirty="0">
                <a:latin typeface="Adani Regular" panose="02000503000000020004" pitchFamily="2" charset="0"/>
              </a:rPr>
              <a:t>Certificate</a:t>
            </a:r>
          </a:p>
          <a:p>
            <a:endParaRPr lang="en-IN" sz="2000" dirty="0">
              <a:latin typeface="Adani Regular" panose="02000503000000020004" pitchFamily="2" charset="0"/>
            </a:endParaRPr>
          </a:p>
        </p:txBody>
      </p:sp>
      <p:sp>
        <p:nvSpPr>
          <p:cNvPr id="2" name="Title 1"/>
          <p:cNvSpPr>
            <a:spLocks noGrp="1"/>
          </p:cNvSpPr>
          <p:nvPr>
            <p:ph type="title"/>
          </p:nvPr>
        </p:nvSpPr>
        <p:spPr>
          <a:xfrm>
            <a:off x="1949824" y="152400"/>
            <a:ext cx="8229600" cy="1066800"/>
          </a:xfrm>
          <a:prstGeom prst="rect">
            <a:avLst/>
          </a:prstGeom>
        </p:spPr>
        <p:txBody>
          <a:bodyPr/>
          <a:lstStyle/>
          <a:p>
            <a:r>
              <a:rPr lang="en-IN" sz="3600" b="1" dirty="0">
                <a:solidFill>
                  <a:srgbClr val="000000"/>
                </a:solidFill>
              </a:rPr>
              <a:t>Content</a:t>
            </a:r>
          </a:p>
        </p:txBody>
      </p:sp>
    </p:spTree>
    <p:extLst>
      <p:ext uri="{BB962C8B-B14F-4D97-AF65-F5344CB8AC3E}">
        <p14:creationId xmlns:p14="http://schemas.microsoft.com/office/powerpoint/2010/main" val="2027128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Title &amp; Problem Statement</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VisionTrack AI — Intelligent Real-Time Video Analytics</a:t>
            </a:r>
            <a:endParaRPr lang="en-US" sz="1400" dirty="0"/>
          </a:p>
        </p:txBody>
      </p:sp>
      <p:sp>
        <p:nvSpPr>
          <p:cNvPr id="4" name="Shape 2"/>
          <p:cNvSpPr/>
          <p:nvPr/>
        </p:nvSpPr>
        <p:spPr>
          <a:xfrm>
            <a:off x="548640" y="1554480"/>
            <a:ext cx="694944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822960" y="173736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822960" y="2057400"/>
            <a:ext cx="6400800" cy="1737360"/>
          </a:xfrm>
          <a:prstGeom prst="rect">
            <a:avLst/>
          </a:prstGeom>
          <a:noFill/>
          <a:ln/>
        </p:spPr>
        <p:txBody>
          <a:bodyPr wrap="square" rtlCol="0" anchor="ctr"/>
          <a:lstStyle/>
          <a:p>
            <a:pPr marL="0" indent="0">
              <a:lnSpc>
                <a:spcPts val="1800"/>
              </a:lnSpc>
              <a:buNone/>
            </a:pPr>
            <a:r>
              <a:rPr lang="en-US" sz="1250" dirty="0">
                <a:solidFill>
                  <a:srgbClr val="000000"/>
                </a:solidFill>
                <a:latin typeface="Calibri" pitchFamily="34" charset="0"/>
                <a:ea typeface="Calibri" pitchFamily="34" charset="-122"/>
                <a:cs typeface="Calibri" pitchFamily="34" charset="-120"/>
              </a:rPr>
              <a:t>Manually reviewing camera footage to count people, judge crowd flow, or spot how objects move through a space is slow and error-prone. Standard CCTV setups record video but give no structured, queryable insight into what actually happened in the frame — no counts, no speeds, no direction trends — without a person watching the whole clip.</a:t>
            </a:r>
            <a:endParaRPr lang="en-US" sz="1250" dirty="0"/>
          </a:p>
        </p:txBody>
      </p:sp>
      <p:sp>
        <p:nvSpPr>
          <p:cNvPr id="7" name="Shape 5"/>
          <p:cNvSpPr/>
          <p:nvPr/>
        </p:nvSpPr>
        <p:spPr>
          <a:xfrm>
            <a:off x="548640" y="4023360"/>
            <a:ext cx="6949440" cy="1920240"/>
          </a:xfrm>
          <a:prstGeom prst="roundRect">
            <a:avLst>
              <a:gd name="adj" fmla="val 3810"/>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822960" y="420624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PROJECT OBJECTIVE</a:t>
            </a:r>
            <a:endParaRPr lang="en-US" sz="1300" dirty="0"/>
          </a:p>
        </p:txBody>
      </p:sp>
      <p:sp>
        <p:nvSpPr>
          <p:cNvPr id="9" name="Text 7"/>
          <p:cNvSpPr/>
          <p:nvPr/>
        </p:nvSpPr>
        <p:spPr>
          <a:xfrm>
            <a:off x="822960" y="4526280"/>
            <a:ext cx="6400800" cy="1280160"/>
          </a:xfrm>
          <a:prstGeom prst="rect">
            <a:avLst/>
          </a:prstGeom>
          <a:noFill/>
          <a:ln/>
        </p:spPr>
        <p:txBody>
          <a:bodyPr wrap="square" rtlCol="0" anchor="ctr"/>
          <a:lstStyle/>
          <a:p>
            <a:pPr marL="0" indent="0">
              <a:lnSpc>
                <a:spcPts val="1800"/>
              </a:lnSpc>
              <a:buNone/>
            </a:pPr>
            <a:r>
              <a:rPr lang="en-US" sz="1250" dirty="0">
                <a:solidFill>
                  <a:srgbClr val="000000"/>
                </a:solidFill>
                <a:latin typeface="Calibri" pitchFamily="34" charset="0"/>
                <a:ea typeface="Calibri" pitchFamily="34" charset="-122"/>
                <a:cs typeface="Calibri" pitchFamily="34" charset="-120"/>
              </a:rPr>
              <a:t>Build a real-time computer-vision pipeline that detects and tracks objects from a live camera feed, automatically derives analytics — counts, direction, speed, line-crossing events — and surfaces them through session reports and an interactive dashboard.</a:t>
            </a:r>
            <a:endParaRPr lang="en-US" sz="1250" dirty="0"/>
          </a:p>
        </p:txBody>
      </p:sp>
      <p:sp>
        <p:nvSpPr>
          <p:cNvPr id="10" name="Shape 8"/>
          <p:cNvSpPr/>
          <p:nvPr/>
        </p:nvSpPr>
        <p:spPr>
          <a:xfrm>
            <a:off x="7772400" y="1554480"/>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8001000" y="1645920"/>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YOLOv8</a:t>
            </a:r>
            <a:endParaRPr lang="en-US" sz="1400" dirty="0"/>
          </a:p>
        </p:txBody>
      </p:sp>
      <p:sp>
        <p:nvSpPr>
          <p:cNvPr id="12" name="Text 10"/>
          <p:cNvSpPr/>
          <p:nvPr/>
        </p:nvSpPr>
        <p:spPr>
          <a:xfrm>
            <a:off x="8001000" y="1993392"/>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Real-time object detection on every frame</a:t>
            </a:r>
            <a:endParaRPr lang="en-US" sz="1100" dirty="0"/>
          </a:p>
        </p:txBody>
      </p:sp>
      <p:sp>
        <p:nvSpPr>
          <p:cNvPr id="13" name="Shape 11"/>
          <p:cNvSpPr/>
          <p:nvPr/>
        </p:nvSpPr>
        <p:spPr>
          <a:xfrm>
            <a:off x="7772400" y="2798064"/>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8001000" y="2889504"/>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ByteTrack</a:t>
            </a:r>
            <a:endParaRPr lang="en-US" sz="1400" dirty="0"/>
          </a:p>
        </p:txBody>
      </p:sp>
      <p:sp>
        <p:nvSpPr>
          <p:cNvPr id="15" name="Text 13"/>
          <p:cNvSpPr/>
          <p:nvPr/>
        </p:nvSpPr>
        <p:spPr>
          <a:xfrm>
            <a:off x="8001000" y="3236976"/>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Persistent multi-object ID tracking</a:t>
            </a:r>
            <a:endParaRPr lang="en-US" sz="1100" dirty="0"/>
          </a:p>
        </p:txBody>
      </p:sp>
      <p:sp>
        <p:nvSpPr>
          <p:cNvPr id="16" name="Shape 14"/>
          <p:cNvSpPr/>
          <p:nvPr/>
        </p:nvSpPr>
        <p:spPr>
          <a:xfrm>
            <a:off x="7772400" y="4041648"/>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001000" y="4133088"/>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Live Analytics</a:t>
            </a:r>
            <a:endParaRPr lang="en-US" sz="1400" dirty="0"/>
          </a:p>
        </p:txBody>
      </p:sp>
      <p:sp>
        <p:nvSpPr>
          <p:cNvPr id="18" name="Text 16"/>
          <p:cNvSpPr/>
          <p:nvPr/>
        </p:nvSpPr>
        <p:spPr>
          <a:xfrm>
            <a:off x="8001000" y="4480560"/>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Speed, direction &amp; line-crossing counts</a:t>
            </a:r>
            <a:endParaRPr lang="en-US" sz="1100" dirty="0"/>
          </a:p>
        </p:txBody>
      </p:sp>
      <p:sp>
        <p:nvSpPr>
          <p:cNvPr id="19" name="Shape 17"/>
          <p:cNvSpPr/>
          <p:nvPr/>
        </p:nvSpPr>
        <p:spPr>
          <a:xfrm>
            <a:off x="7772400" y="5285232"/>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8001000" y="5376672"/>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Session Reports</a:t>
            </a:r>
            <a:endParaRPr lang="en-US" sz="1400" dirty="0"/>
          </a:p>
        </p:txBody>
      </p:sp>
      <p:sp>
        <p:nvSpPr>
          <p:cNvPr id="21" name="Text 19"/>
          <p:cNvSpPr/>
          <p:nvPr/>
        </p:nvSpPr>
        <p:spPr>
          <a:xfrm>
            <a:off x="8001000" y="5724144"/>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Auto-exported CSV + dashboard view</a:t>
            </a:r>
            <a:endParaRPr lang="en-US" sz="1100" dirty="0"/>
          </a:p>
        </p:txBody>
      </p:sp>
      <p:pic>
        <p:nvPicPr>
          <p:cNvPr id="24" name="Picture 23">
            <a:extLst>
              <a:ext uri="{FF2B5EF4-FFF2-40B4-BE49-F238E27FC236}">
                <a16:creationId xmlns:a16="http://schemas.microsoft.com/office/drawing/2014/main" id="{E0498E3A-5E46-D9A6-64CF-77ACE800CED8}"/>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Organization / Company Overview</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ABOUT CODEC TECHNOLOGIES</a:t>
            </a:r>
            <a:endParaRPr lang="en-US" sz="1400" dirty="0"/>
          </a:p>
        </p:txBody>
      </p:sp>
      <p:sp>
        <p:nvSpPr>
          <p:cNvPr id="4" name="Shape 2"/>
          <p:cNvSpPr/>
          <p:nvPr/>
        </p:nvSpPr>
        <p:spPr>
          <a:xfrm>
            <a:off x="548640" y="1554480"/>
            <a:ext cx="7040880" cy="4791612"/>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822960" y="173736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MY INTERNSHIP</a:t>
            </a:r>
            <a:endParaRPr lang="en-US" sz="1300" dirty="0"/>
          </a:p>
        </p:txBody>
      </p:sp>
      <p:sp>
        <p:nvSpPr>
          <p:cNvPr id="6" name="Text 4"/>
          <p:cNvSpPr/>
          <p:nvPr/>
        </p:nvSpPr>
        <p:spPr>
          <a:xfrm>
            <a:off x="822960" y="2057400"/>
            <a:ext cx="6492240" cy="137160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Codec Technologies India is a Maharashtra-based technology company, established in 2020, providing Enterprise Hosting, IT Consultancy and Educational Support Services. It positions itself as one of India's leading enterprise server providers, alongside web, app and game development, cloud hosting and penetration-testing services for startups, SMEs and educational institutions.</a:t>
            </a:r>
            <a:endParaRPr lang="en-US" sz="1150" dirty="0"/>
          </a:p>
        </p:txBody>
      </p:sp>
      <p:sp>
        <p:nvSpPr>
          <p:cNvPr id="7" name="Text 5"/>
          <p:cNvSpPr/>
          <p:nvPr/>
        </p:nvSpPr>
        <p:spPr>
          <a:xfrm>
            <a:off x="822960" y="3429000"/>
            <a:ext cx="6492240" cy="11887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Beyond its core services, Codec Technologies runs AICTE &amp; ISO-certified Corporate Training and Internship programs across domains such as Artificial Intelligence, Python, Cloud Computing, MERN Stack and Data Analytics — combining structured weekly curricula with a hands-on capstone project.</a:t>
            </a:r>
            <a:endParaRPr lang="en-US" sz="1150" dirty="0"/>
          </a:p>
        </p:txBody>
      </p:sp>
      <p:sp>
        <p:nvSpPr>
          <p:cNvPr id="8" name="Text 6"/>
          <p:cNvSpPr/>
          <p:nvPr/>
        </p:nvSpPr>
        <p:spPr>
          <a:xfrm>
            <a:off x="822960" y="4663440"/>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Program</a:t>
            </a:r>
            <a:endParaRPr lang="en-US" sz="1150" dirty="0"/>
          </a:p>
        </p:txBody>
      </p:sp>
      <p:sp>
        <p:nvSpPr>
          <p:cNvPr id="9" name="Text 7"/>
          <p:cNvSpPr/>
          <p:nvPr/>
        </p:nvSpPr>
        <p:spPr>
          <a:xfrm>
            <a:off x="2560320" y="4663440"/>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2-Month Artificial Intelligence Internship</a:t>
            </a:r>
            <a:endParaRPr lang="en-US" sz="1150" dirty="0"/>
          </a:p>
        </p:txBody>
      </p:sp>
      <p:sp>
        <p:nvSpPr>
          <p:cNvPr id="10" name="Text 8"/>
          <p:cNvSpPr/>
          <p:nvPr/>
        </p:nvSpPr>
        <p:spPr>
          <a:xfrm>
            <a:off x="822960" y="4992624"/>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Role</a:t>
            </a:r>
            <a:endParaRPr lang="en-US" sz="1150" dirty="0"/>
          </a:p>
        </p:txBody>
      </p:sp>
      <p:sp>
        <p:nvSpPr>
          <p:cNvPr id="11" name="Text 9"/>
          <p:cNvSpPr/>
          <p:nvPr/>
        </p:nvSpPr>
        <p:spPr>
          <a:xfrm>
            <a:off x="2560320" y="4992624"/>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Artificial Intelligence Intern</a:t>
            </a:r>
            <a:endParaRPr lang="en-US" sz="1150" dirty="0"/>
          </a:p>
        </p:txBody>
      </p:sp>
      <p:sp>
        <p:nvSpPr>
          <p:cNvPr id="12" name="Text 10"/>
          <p:cNvSpPr/>
          <p:nvPr/>
        </p:nvSpPr>
        <p:spPr>
          <a:xfrm>
            <a:off x="822960" y="5321808"/>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Mode</a:t>
            </a:r>
            <a:endParaRPr lang="en-US" sz="1150" dirty="0"/>
          </a:p>
        </p:txBody>
      </p:sp>
      <p:sp>
        <p:nvSpPr>
          <p:cNvPr id="13" name="Text 11"/>
          <p:cNvSpPr/>
          <p:nvPr/>
        </p:nvSpPr>
        <p:spPr>
          <a:xfrm>
            <a:off x="2560320" y="5321808"/>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Remote · Flexible timing</a:t>
            </a:r>
            <a:endParaRPr lang="en-US" sz="1150" dirty="0"/>
          </a:p>
        </p:txBody>
      </p:sp>
      <p:sp>
        <p:nvSpPr>
          <p:cNvPr id="14" name="Text 12"/>
          <p:cNvSpPr/>
          <p:nvPr/>
        </p:nvSpPr>
        <p:spPr>
          <a:xfrm>
            <a:off x="822960" y="5650992"/>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Duration</a:t>
            </a:r>
            <a:endParaRPr lang="en-US" sz="1150" dirty="0"/>
          </a:p>
        </p:txBody>
      </p:sp>
      <p:sp>
        <p:nvSpPr>
          <p:cNvPr id="15" name="Text 13"/>
          <p:cNvSpPr/>
          <p:nvPr/>
        </p:nvSpPr>
        <p:spPr>
          <a:xfrm>
            <a:off x="2560320" y="5650992"/>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2 Months</a:t>
            </a:r>
            <a:endParaRPr lang="en-US" sz="1150" dirty="0"/>
          </a:p>
        </p:txBody>
      </p:sp>
      <p:sp>
        <p:nvSpPr>
          <p:cNvPr id="16" name="Text 14"/>
          <p:cNvSpPr/>
          <p:nvPr/>
        </p:nvSpPr>
        <p:spPr>
          <a:xfrm>
            <a:off x="822960" y="5980176"/>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Certification</a:t>
            </a:r>
            <a:endParaRPr lang="en-US" sz="1150" dirty="0"/>
          </a:p>
        </p:txBody>
      </p:sp>
      <p:sp>
        <p:nvSpPr>
          <p:cNvPr id="17" name="Text 15"/>
          <p:cNvSpPr/>
          <p:nvPr/>
        </p:nvSpPr>
        <p:spPr>
          <a:xfrm>
            <a:off x="2560320" y="5980176"/>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AICTE &amp; ISO-recognised, verifiable</a:t>
            </a:r>
            <a:endParaRPr lang="en-US" sz="1150" dirty="0"/>
          </a:p>
        </p:txBody>
      </p:sp>
      <p:sp>
        <p:nvSpPr>
          <p:cNvPr id="18" name="Shape 16"/>
          <p:cNvSpPr/>
          <p:nvPr/>
        </p:nvSpPr>
        <p:spPr>
          <a:xfrm>
            <a:off x="7818120" y="1554480"/>
            <a:ext cx="3840480" cy="4434840"/>
          </a:xfrm>
          <a:prstGeom prst="roundRect">
            <a:avLst>
              <a:gd name="adj" fmla="val 1905"/>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9" name="Text 17"/>
          <p:cNvSpPr/>
          <p:nvPr/>
        </p:nvSpPr>
        <p:spPr>
          <a:xfrm>
            <a:off x="8046720" y="1737360"/>
            <a:ext cx="3383280" cy="32004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2-MONTH AI CURRICULUM</a:t>
            </a:r>
            <a:endParaRPr lang="en-US" sz="1250" dirty="0"/>
          </a:p>
        </p:txBody>
      </p:sp>
      <p:sp>
        <p:nvSpPr>
          <p:cNvPr id="20" name="Text 18"/>
          <p:cNvSpPr/>
          <p:nvPr/>
        </p:nvSpPr>
        <p:spPr>
          <a:xfrm>
            <a:off x="8046720" y="2148840"/>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1</a:t>
            </a:r>
            <a:endParaRPr lang="en-US" sz="1150" dirty="0"/>
          </a:p>
        </p:txBody>
      </p:sp>
      <p:sp>
        <p:nvSpPr>
          <p:cNvPr id="21" name="Text 19"/>
          <p:cNvSpPr/>
          <p:nvPr/>
        </p:nvSpPr>
        <p:spPr>
          <a:xfrm>
            <a:off x="8046720" y="2404872"/>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AI foundations &amp; Python for data handling (NumPy, Pandas)</a:t>
            </a:r>
            <a:endParaRPr lang="en-US" sz="1050" dirty="0"/>
          </a:p>
        </p:txBody>
      </p:sp>
      <p:sp>
        <p:nvSpPr>
          <p:cNvPr id="22" name="Text 20"/>
          <p:cNvSpPr/>
          <p:nvPr/>
        </p:nvSpPr>
        <p:spPr>
          <a:xfrm>
            <a:off x="8046720" y="2935224"/>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2</a:t>
            </a:r>
            <a:endParaRPr lang="en-US" sz="1150" dirty="0"/>
          </a:p>
        </p:txBody>
      </p:sp>
      <p:sp>
        <p:nvSpPr>
          <p:cNvPr id="23" name="Text 21"/>
          <p:cNvSpPr/>
          <p:nvPr/>
        </p:nvSpPr>
        <p:spPr>
          <a:xfrm>
            <a:off x="8046720" y="3191256"/>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Machine learning basics — regression, evaluation &amp; tuning</a:t>
            </a:r>
            <a:endParaRPr lang="en-US" sz="1050" dirty="0"/>
          </a:p>
        </p:txBody>
      </p:sp>
      <p:sp>
        <p:nvSpPr>
          <p:cNvPr id="24" name="Text 22"/>
          <p:cNvSpPr/>
          <p:nvPr/>
        </p:nvSpPr>
        <p:spPr>
          <a:xfrm>
            <a:off x="8046720" y="3721608"/>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3</a:t>
            </a:r>
            <a:endParaRPr lang="en-US" sz="1150" dirty="0"/>
          </a:p>
        </p:txBody>
      </p:sp>
      <p:sp>
        <p:nvSpPr>
          <p:cNvPr id="25" name="Text 23"/>
          <p:cNvSpPr/>
          <p:nvPr/>
        </p:nvSpPr>
        <p:spPr>
          <a:xfrm>
            <a:off x="8046720" y="3977640"/>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Neural networks &amp; CNNs with TensorFlow / Keras</a:t>
            </a:r>
            <a:endParaRPr lang="en-US" sz="1050" dirty="0"/>
          </a:p>
        </p:txBody>
      </p:sp>
      <p:sp>
        <p:nvSpPr>
          <p:cNvPr id="26" name="Text 24"/>
          <p:cNvSpPr/>
          <p:nvPr/>
        </p:nvSpPr>
        <p:spPr>
          <a:xfrm>
            <a:off x="8046720" y="4507992"/>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4</a:t>
            </a:r>
            <a:endParaRPr lang="en-US" sz="1150" dirty="0"/>
          </a:p>
        </p:txBody>
      </p:sp>
      <p:sp>
        <p:nvSpPr>
          <p:cNvPr id="27" name="Text 25"/>
          <p:cNvSpPr/>
          <p:nvPr/>
        </p:nvSpPr>
        <p:spPr>
          <a:xfrm>
            <a:off x="8046720" y="4764024"/>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NLP, reinforcement learning &amp; capstone project</a:t>
            </a:r>
            <a:endParaRPr lang="en-US" sz="1050" dirty="0"/>
          </a:p>
        </p:txBody>
      </p:sp>
      <p:sp>
        <p:nvSpPr>
          <p:cNvPr id="28" name="Text 26"/>
          <p:cNvSpPr/>
          <p:nvPr/>
        </p:nvSpPr>
        <p:spPr>
          <a:xfrm>
            <a:off x="8046720" y="5294376"/>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Month 2</a:t>
            </a:r>
            <a:endParaRPr lang="en-US" sz="1150" dirty="0"/>
          </a:p>
        </p:txBody>
      </p:sp>
      <p:sp>
        <p:nvSpPr>
          <p:cNvPr id="29" name="Text 27"/>
          <p:cNvSpPr/>
          <p:nvPr/>
        </p:nvSpPr>
        <p:spPr>
          <a:xfrm>
            <a:off x="8046720" y="5550408"/>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End-to-end capstone project &amp; documentation</a:t>
            </a:r>
            <a:endParaRPr lang="en-US" sz="1050" dirty="0"/>
          </a:p>
        </p:txBody>
      </p:sp>
      <p:pic>
        <p:nvPicPr>
          <p:cNvPr id="32" name="Picture 31">
            <a:extLst>
              <a:ext uri="{FF2B5EF4-FFF2-40B4-BE49-F238E27FC236}">
                <a16:creationId xmlns:a16="http://schemas.microsoft.com/office/drawing/2014/main" id="{BC5072D7-7263-1803-525E-C4853DA12909}"/>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Proposed System Overview</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Vision: a lightweight, camera-to-dashboard pipeline that turns raw video into structured, actionable analytics.</a:t>
            </a:r>
            <a:endParaRPr lang="en-US" sz="1400" dirty="0"/>
          </a:p>
        </p:txBody>
      </p:sp>
      <p:sp>
        <p:nvSpPr>
          <p:cNvPr id="4" name="Shape 2"/>
          <p:cNvSpPr/>
          <p:nvPr/>
        </p:nvSpPr>
        <p:spPr>
          <a:xfrm>
            <a:off x="54864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548640"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YOLOv8n</a:t>
            </a:r>
            <a:endParaRPr lang="en-US" sz="2000" dirty="0"/>
          </a:p>
        </p:txBody>
      </p:sp>
      <p:sp>
        <p:nvSpPr>
          <p:cNvPr id="6" name="Text 4"/>
          <p:cNvSpPr/>
          <p:nvPr/>
        </p:nvSpPr>
        <p:spPr>
          <a:xfrm>
            <a:off x="548640"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Detector</a:t>
            </a:r>
            <a:endParaRPr lang="en-US" sz="1050" dirty="0"/>
          </a:p>
        </p:txBody>
      </p:sp>
      <p:sp>
        <p:nvSpPr>
          <p:cNvPr id="7" name="Shape 5"/>
          <p:cNvSpPr/>
          <p:nvPr/>
        </p:nvSpPr>
        <p:spPr>
          <a:xfrm>
            <a:off x="2505456"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2505456"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ByteTrack</a:t>
            </a:r>
            <a:endParaRPr lang="en-US" sz="2000" dirty="0"/>
          </a:p>
        </p:txBody>
      </p:sp>
      <p:sp>
        <p:nvSpPr>
          <p:cNvPr id="9" name="Text 7"/>
          <p:cNvSpPr/>
          <p:nvPr/>
        </p:nvSpPr>
        <p:spPr>
          <a:xfrm>
            <a:off x="2505456"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Tracker</a:t>
            </a:r>
            <a:endParaRPr lang="en-US" sz="1050" dirty="0"/>
          </a:p>
        </p:txBody>
      </p:sp>
      <p:sp>
        <p:nvSpPr>
          <p:cNvPr id="10" name="Shape 8"/>
          <p:cNvSpPr/>
          <p:nvPr/>
        </p:nvSpPr>
        <p:spPr>
          <a:xfrm>
            <a:off x="4462272"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4462272"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4</a:t>
            </a:r>
            <a:endParaRPr lang="en-US" sz="2000" dirty="0"/>
          </a:p>
        </p:txBody>
      </p:sp>
      <p:sp>
        <p:nvSpPr>
          <p:cNvPr id="12" name="Text 10"/>
          <p:cNvSpPr/>
          <p:nvPr/>
        </p:nvSpPr>
        <p:spPr>
          <a:xfrm>
            <a:off x="4462272"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Analytics</a:t>
            </a:r>
            <a:endParaRPr lang="en-US" sz="1050" dirty="0"/>
          </a:p>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Modules</a:t>
            </a:r>
            <a:endParaRPr lang="en-US" sz="1050" dirty="0"/>
          </a:p>
        </p:txBody>
      </p:sp>
      <p:sp>
        <p:nvSpPr>
          <p:cNvPr id="13" name="Shape 11"/>
          <p:cNvSpPr/>
          <p:nvPr/>
        </p:nvSpPr>
        <p:spPr>
          <a:xfrm>
            <a:off x="6419088"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419088"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1280×720</a:t>
            </a:r>
            <a:endParaRPr lang="en-US" sz="2000" dirty="0"/>
          </a:p>
        </p:txBody>
      </p:sp>
      <p:sp>
        <p:nvSpPr>
          <p:cNvPr id="15" name="Text 13"/>
          <p:cNvSpPr/>
          <p:nvPr/>
        </p:nvSpPr>
        <p:spPr>
          <a:xfrm>
            <a:off x="6419088"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Frame Res.</a:t>
            </a:r>
            <a:endParaRPr lang="en-US" sz="1050" dirty="0"/>
          </a:p>
        </p:txBody>
      </p:sp>
      <p:sp>
        <p:nvSpPr>
          <p:cNvPr id="16" name="Shape 14"/>
          <p:cNvSpPr/>
          <p:nvPr/>
        </p:nvSpPr>
        <p:spPr>
          <a:xfrm>
            <a:off x="8375904"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375904"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30</a:t>
            </a:r>
            <a:endParaRPr lang="en-US" sz="2000" dirty="0"/>
          </a:p>
        </p:txBody>
      </p:sp>
      <p:sp>
        <p:nvSpPr>
          <p:cNvPr id="18" name="Text 16"/>
          <p:cNvSpPr/>
          <p:nvPr/>
        </p:nvSpPr>
        <p:spPr>
          <a:xfrm>
            <a:off x="8375904"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Trajectory</a:t>
            </a:r>
            <a:endParaRPr lang="en-US" sz="1050" dirty="0"/>
          </a:p>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History</a:t>
            </a:r>
            <a:endParaRPr lang="en-US" sz="1050" dirty="0"/>
          </a:p>
        </p:txBody>
      </p:sp>
      <p:sp>
        <p:nvSpPr>
          <p:cNvPr id="19" name="Shape 17"/>
          <p:cNvSpPr/>
          <p:nvPr/>
        </p:nvSpPr>
        <p:spPr>
          <a:xfrm>
            <a:off x="10332720" y="1600200"/>
            <a:ext cx="1702972"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10332720"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CSV</a:t>
            </a:r>
            <a:endParaRPr lang="en-US" sz="2000" dirty="0"/>
          </a:p>
        </p:txBody>
      </p:sp>
      <p:sp>
        <p:nvSpPr>
          <p:cNvPr id="21" name="Text 19"/>
          <p:cNvSpPr/>
          <p:nvPr/>
        </p:nvSpPr>
        <p:spPr>
          <a:xfrm>
            <a:off x="10332720"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Auto Export</a:t>
            </a:r>
            <a:endParaRPr lang="en-US" sz="1050" dirty="0"/>
          </a:p>
        </p:txBody>
      </p:sp>
      <p:sp>
        <p:nvSpPr>
          <p:cNvPr id="22" name="Text 20"/>
          <p:cNvSpPr/>
          <p:nvPr/>
        </p:nvSpPr>
        <p:spPr>
          <a:xfrm>
            <a:off x="548640" y="3200400"/>
            <a:ext cx="73152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PRIMARY CAPABILITIES DELIVERED</a:t>
            </a:r>
            <a:endParaRPr lang="en-US" sz="1300" dirty="0"/>
          </a:p>
        </p:txBody>
      </p:sp>
      <p:sp>
        <p:nvSpPr>
          <p:cNvPr id="23" name="Shape 21"/>
          <p:cNvSpPr/>
          <p:nvPr/>
        </p:nvSpPr>
        <p:spPr>
          <a:xfrm>
            <a:off x="548640"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4" name="Text 22"/>
          <p:cNvSpPr/>
          <p:nvPr/>
        </p:nvSpPr>
        <p:spPr>
          <a:xfrm>
            <a:off x="731520"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Real-Time Detection</a:t>
            </a:r>
            <a:endParaRPr lang="en-US" sz="1250" dirty="0"/>
          </a:p>
        </p:txBody>
      </p:sp>
      <p:sp>
        <p:nvSpPr>
          <p:cNvPr id="25" name="Text 23"/>
          <p:cNvSpPr/>
          <p:nvPr/>
        </p:nvSpPr>
        <p:spPr>
          <a:xfrm>
            <a:off x="731520"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YOLOv8n identifies objects in every webcam frame at live frame rates.</a:t>
            </a:r>
            <a:endParaRPr lang="en-US" sz="1000" dirty="0"/>
          </a:p>
        </p:txBody>
      </p:sp>
      <p:sp>
        <p:nvSpPr>
          <p:cNvPr id="26" name="Shape 24"/>
          <p:cNvSpPr/>
          <p:nvPr/>
        </p:nvSpPr>
        <p:spPr>
          <a:xfrm>
            <a:off x="4370832"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7" name="Text 25"/>
          <p:cNvSpPr/>
          <p:nvPr/>
        </p:nvSpPr>
        <p:spPr>
          <a:xfrm>
            <a:off x="4553712"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Persistent Tracking</a:t>
            </a:r>
            <a:endParaRPr lang="en-US" sz="1250" dirty="0"/>
          </a:p>
        </p:txBody>
      </p:sp>
      <p:sp>
        <p:nvSpPr>
          <p:cNvPr id="28" name="Text 26"/>
          <p:cNvSpPr/>
          <p:nvPr/>
        </p:nvSpPr>
        <p:spPr>
          <a:xfrm>
            <a:off x="4553712"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ByteTrack assigns and holds a stable ID per object across frames.</a:t>
            </a:r>
            <a:endParaRPr lang="en-US" sz="1000" dirty="0"/>
          </a:p>
        </p:txBody>
      </p:sp>
      <p:sp>
        <p:nvSpPr>
          <p:cNvPr id="29" name="Shape 27"/>
          <p:cNvSpPr/>
          <p:nvPr/>
        </p:nvSpPr>
        <p:spPr>
          <a:xfrm>
            <a:off x="8193024"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0" name="Text 28"/>
          <p:cNvSpPr/>
          <p:nvPr/>
        </p:nvSpPr>
        <p:spPr>
          <a:xfrm>
            <a:off x="8375904"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Motion Analytics</a:t>
            </a:r>
            <a:endParaRPr lang="en-US" sz="1250" dirty="0"/>
          </a:p>
        </p:txBody>
      </p:sp>
      <p:sp>
        <p:nvSpPr>
          <p:cNvPr id="31" name="Text 29"/>
          <p:cNvSpPr/>
          <p:nvPr/>
        </p:nvSpPr>
        <p:spPr>
          <a:xfrm>
            <a:off x="8375904"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Trajectory history, direction (N/S/E/W) and calibrated speed per object.</a:t>
            </a:r>
            <a:endParaRPr lang="en-US" sz="1000" dirty="0"/>
          </a:p>
        </p:txBody>
      </p:sp>
      <p:sp>
        <p:nvSpPr>
          <p:cNvPr id="32" name="Shape 30"/>
          <p:cNvSpPr/>
          <p:nvPr/>
        </p:nvSpPr>
        <p:spPr>
          <a:xfrm>
            <a:off x="548640"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3" name="Text 31"/>
          <p:cNvSpPr/>
          <p:nvPr/>
        </p:nvSpPr>
        <p:spPr>
          <a:xfrm>
            <a:off x="731520"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Line-Crossing Counter</a:t>
            </a:r>
            <a:endParaRPr lang="en-US" sz="1250" dirty="0"/>
          </a:p>
        </p:txBody>
      </p:sp>
      <p:sp>
        <p:nvSpPr>
          <p:cNvPr id="34" name="Text 32"/>
          <p:cNvSpPr/>
          <p:nvPr/>
        </p:nvSpPr>
        <p:spPr>
          <a:xfrm>
            <a:off x="731520"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Configurable virtual line with enter/exit tallies and a tolerance zone.</a:t>
            </a:r>
            <a:endParaRPr lang="en-US" sz="1000" dirty="0"/>
          </a:p>
        </p:txBody>
      </p:sp>
      <p:sp>
        <p:nvSpPr>
          <p:cNvPr id="35" name="Shape 33"/>
          <p:cNvSpPr/>
          <p:nvPr/>
        </p:nvSpPr>
        <p:spPr>
          <a:xfrm>
            <a:off x="4370832"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6" name="Text 34"/>
          <p:cNvSpPr/>
          <p:nvPr/>
        </p:nvSpPr>
        <p:spPr>
          <a:xfrm>
            <a:off x="4553712"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Session Reporting</a:t>
            </a:r>
            <a:endParaRPr lang="en-US" sz="1250" dirty="0"/>
          </a:p>
        </p:txBody>
      </p:sp>
      <p:sp>
        <p:nvSpPr>
          <p:cNvPr id="37" name="Text 35"/>
          <p:cNvSpPr/>
          <p:nvPr/>
        </p:nvSpPr>
        <p:spPr>
          <a:xfrm>
            <a:off x="4553712"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Live on-screen dashboard overlay plus an auto-exported CSV summary.</a:t>
            </a:r>
            <a:endParaRPr lang="en-US" sz="1000" dirty="0"/>
          </a:p>
        </p:txBody>
      </p:sp>
      <p:sp>
        <p:nvSpPr>
          <p:cNvPr id="38" name="Shape 36"/>
          <p:cNvSpPr/>
          <p:nvPr/>
        </p:nvSpPr>
        <p:spPr>
          <a:xfrm>
            <a:off x="8193024"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9" name="Text 37"/>
          <p:cNvSpPr/>
          <p:nvPr/>
        </p:nvSpPr>
        <p:spPr>
          <a:xfrm>
            <a:off x="8375904"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Extensible Layers</a:t>
            </a:r>
            <a:endParaRPr lang="en-US" sz="1250" dirty="0"/>
          </a:p>
        </p:txBody>
      </p:sp>
      <p:sp>
        <p:nvSpPr>
          <p:cNvPr id="40" name="Text 38"/>
          <p:cNvSpPr/>
          <p:nvPr/>
        </p:nvSpPr>
        <p:spPr>
          <a:xfrm>
            <a:off x="8375904"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Database, REST API and dashboard scaffolds ready for future growth.</a:t>
            </a:r>
            <a:endParaRPr lang="en-US" sz="1000" dirty="0"/>
          </a:p>
        </p:txBody>
      </p:sp>
      <p:pic>
        <p:nvPicPr>
          <p:cNvPr id="43" name="Picture 42">
            <a:extLst>
              <a:ext uri="{FF2B5EF4-FFF2-40B4-BE49-F238E27FC236}">
                <a16:creationId xmlns:a16="http://schemas.microsoft.com/office/drawing/2014/main" id="{0D6530B6-4DF1-6C1E-C32D-1ABF91C6A28E}"/>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Implementation Details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 layered pipeline — from live camera input to an analyst-facing dashboard, built module-by-module</a:t>
            </a:r>
            <a:endParaRPr lang="en-US" sz="1400" dirty="0"/>
          </a:p>
        </p:txBody>
      </p:sp>
      <p:sp>
        <p:nvSpPr>
          <p:cNvPr id="4" name="Shape 2"/>
          <p:cNvSpPr/>
          <p:nvPr/>
        </p:nvSpPr>
        <p:spPr>
          <a:xfrm>
            <a:off x="548640" y="1600200"/>
            <a:ext cx="11064240" cy="667512"/>
          </a:xfrm>
          <a:prstGeom prst="roundRect">
            <a:avLst>
              <a:gd name="adj" fmla="val 10959"/>
            </a:avLst>
          </a:prstGeom>
          <a:solidFill>
            <a:srgbClr val="F3F1F7"/>
          </a:solidFill>
          <a:ln w="12700">
            <a:solidFill>
              <a:srgbClr val="5D739A"/>
            </a:solidFill>
            <a:prstDash val="solid"/>
          </a:ln>
        </p:spPr>
      </p:sp>
      <p:sp>
        <p:nvSpPr>
          <p:cNvPr id="5" name="Shape 3"/>
          <p:cNvSpPr/>
          <p:nvPr/>
        </p:nvSpPr>
        <p:spPr>
          <a:xfrm>
            <a:off x="777240" y="1709928"/>
            <a:ext cx="457200" cy="457200"/>
          </a:xfrm>
          <a:prstGeom prst="ellipse">
            <a:avLst/>
          </a:prstGeom>
          <a:solidFill>
            <a:srgbClr val="AD84C6"/>
          </a:solidFill>
          <a:ln/>
        </p:spPr>
      </p:sp>
      <p:sp>
        <p:nvSpPr>
          <p:cNvPr id="6" name="Text 4"/>
          <p:cNvSpPr/>
          <p:nvPr/>
        </p:nvSpPr>
        <p:spPr>
          <a:xfrm>
            <a:off x="777240" y="170992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L1</a:t>
            </a:r>
            <a:endParaRPr lang="en-US" sz="1300" dirty="0"/>
          </a:p>
        </p:txBody>
      </p:sp>
      <p:sp>
        <p:nvSpPr>
          <p:cNvPr id="7" name="Text 5"/>
          <p:cNvSpPr/>
          <p:nvPr/>
        </p:nvSpPr>
        <p:spPr>
          <a:xfrm>
            <a:off x="1463040" y="165506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Camera Input</a:t>
            </a:r>
            <a:endParaRPr lang="en-US" sz="1300" dirty="0"/>
          </a:p>
        </p:txBody>
      </p:sp>
      <p:sp>
        <p:nvSpPr>
          <p:cNvPr id="8" name="Text 6"/>
          <p:cNvSpPr/>
          <p:nvPr/>
        </p:nvSpPr>
        <p:spPr>
          <a:xfrm>
            <a:off x="3931920" y="165506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opencv-python</a:t>
            </a:r>
            <a:endParaRPr lang="en-US" sz="1000" dirty="0"/>
          </a:p>
        </p:txBody>
      </p:sp>
      <p:sp>
        <p:nvSpPr>
          <p:cNvPr id="9" name="Text 7"/>
          <p:cNvSpPr/>
          <p:nvPr/>
        </p:nvSpPr>
        <p:spPr>
          <a:xfrm>
            <a:off x="6766560" y="165506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Webcam capture, resized to 1280×720 @ configurable FPS</a:t>
            </a:r>
            <a:endParaRPr lang="en-US" sz="1050" dirty="0"/>
          </a:p>
        </p:txBody>
      </p:sp>
      <p:sp>
        <p:nvSpPr>
          <p:cNvPr id="10" name="Shape 8"/>
          <p:cNvSpPr/>
          <p:nvPr/>
        </p:nvSpPr>
        <p:spPr>
          <a:xfrm>
            <a:off x="548640" y="2377440"/>
            <a:ext cx="11064240" cy="667512"/>
          </a:xfrm>
          <a:prstGeom prst="roundRect">
            <a:avLst>
              <a:gd name="adj" fmla="val 10959"/>
            </a:avLst>
          </a:prstGeom>
          <a:solidFill>
            <a:srgbClr val="F3F1F7"/>
          </a:solidFill>
          <a:ln w="12700">
            <a:solidFill>
              <a:srgbClr val="5D739A"/>
            </a:solidFill>
            <a:prstDash val="solid"/>
          </a:ln>
        </p:spPr>
      </p:sp>
      <p:sp>
        <p:nvSpPr>
          <p:cNvPr id="11" name="Shape 9"/>
          <p:cNvSpPr/>
          <p:nvPr/>
        </p:nvSpPr>
        <p:spPr>
          <a:xfrm>
            <a:off x="777240" y="2487168"/>
            <a:ext cx="457200" cy="457200"/>
          </a:xfrm>
          <a:prstGeom prst="ellipse">
            <a:avLst/>
          </a:prstGeom>
          <a:solidFill>
            <a:srgbClr val="AD84C6"/>
          </a:solidFill>
          <a:ln/>
        </p:spPr>
      </p:sp>
      <p:sp>
        <p:nvSpPr>
          <p:cNvPr id="12" name="Text 10"/>
          <p:cNvSpPr/>
          <p:nvPr/>
        </p:nvSpPr>
        <p:spPr>
          <a:xfrm>
            <a:off x="777240" y="248716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L2</a:t>
            </a:r>
            <a:endParaRPr lang="en-US" sz="1300" dirty="0"/>
          </a:p>
        </p:txBody>
      </p:sp>
      <p:sp>
        <p:nvSpPr>
          <p:cNvPr id="13" name="Text 11"/>
          <p:cNvSpPr/>
          <p:nvPr/>
        </p:nvSpPr>
        <p:spPr>
          <a:xfrm>
            <a:off x="1463040" y="243230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Detection</a:t>
            </a:r>
            <a:endParaRPr lang="en-US" sz="1300" dirty="0"/>
          </a:p>
        </p:txBody>
      </p:sp>
      <p:sp>
        <p:nvSpPr>
          <p:cNvPr id="14" name="Text 12"/>
          <p:cNvSpPr/>
          <p:nvPr/>
        </p:nvSpPr>
        <p:spPr>
          <a:xfrm>
            <a:off x="3931920" y="243230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ultralytics YOLOv8n</a:t>
            </a:r>
            <a:endParaRPr lang="en-US" sz="1000" dirty="0"/>
          </a:p>
        </p:txBody>
      </p:sp>
      <p:sp>
        <p:nvSpPr>
          <p:cNvPr id="15" name="Text 13"/>
          <p:cNvSpPr/>
          <p:nvPr/>
        </p:nvSpPr>
        <p:spPr>
          <a:xfrm>
            <a:off x="6766560" y="243230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Per-frame object detection with confidence threshold 0.50</a:t>
            </a:r>
            <a:endParaRPr lang="en-US" sz="1050" dirty="0"/>
          </a:p>
        </p:txBody>
      </p:sp>
      <p:sp>
        <p:nvSpPr>
          <p:cNvPr id="16" name="Shape 14"/>
          <p:cNvSpPr/>
          <p:nvPr/>
        </p:nvSpPr>
        <p:spPr>
          <a:xfrm>
            <a:off x="548640" y="3154680"/>
            <a:ext cx="11064240" cy="667512"/>
          </a:xfrm>
          <a:prstGeom prst="roundRect">
            <a:avLst>
              <a:gd name="adj" fmla="val 10959"/>
            </a:avLst>
          </a:prstGeom>
          <a:solidFill>
            <a:srgbClr val="F3F1F7"/>
          </a:solidFill>
          <a:ln w="12700">
            <a:solidFill>
              <a:srgbClr val="5D739A"/>
            </a:solidFill>
            <a:prstDash val="solid"/>
          </a:ln>
        </p:spPr>
      </p:sp>
      <p:sp>
        <p:nvSpPr>
          <p:cNvPr id="17" name="Shape 15"/>
          <p:cNvSpPr/>
          <p:nvPr/>
        </p:nvSpPr>
        <p:spPr>
          <a:xfrm>
            <a:off x="777240" y="3264408"/>
            <a:ext cx="457200" cy="457200"/>
          </a:xfrm>
          <a:prstGeom prst="ellipse">
            <a:avLst/>
          </a:prstGeom>
          <a:solidFill>
            <a:srgbClr val="AD84C6"/>
          </a:solidFill>
          <a:ln/>
        </p:spPr>
      </p:sp>
      <p:sp>
        <p:nvSpPr>
          <p:cNvPr id="18" name="Text 16"/>
          <p:cNvSpPr/>
          <p:nvPr/>
        </p:nvSpPr>
        <p:spPr>
          <a:xfrm>
            <a:off x="777240" y="326440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L3</a:t>
            </a:r>
            <a:endParaRPr lang="en-US" sz="1300" dirty="0"/>
          </a:p>
        </p:txBody>
      </p:sp>
      <p:sp>
        <p:nvSpPr>
          <p:cNvPr id="19" name="Text 17"/>
          <p:cNvSpPr/>
          <p:nvPr/>
        </p:nvSpPr>
        <p:spPr>
          <a:xfrm>
            <a:off x="1463040" y="320954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Tracking</a:t>
            </a:r>
            <a:endParaRPr lang="en-US" sz="1300" dirty="0"/>
          </a:p>
        </p:txBody>
      </p:sp>
      <p:sp>
        <p:nvSpPr>
          <p:cNvPr id="20" name="Text 18"/>
          <p:cNvSpPr/>
          <p:nvPr/>
        </p:nvSpPr>
        <p:spPr>
          <a:xfrm>
            <a:off x="3931920" y="320954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ByteTrack (via ultralytics)</a:t>
            </a:r>
            <a:endParaRPr lang="en-US" sz="1000" dirty="0"/>
          </a:p>
        </p:txBody>
      </p:sp>
      <p:sp>
        <p:nvSpPr>
          <p:cNvPr id="21" name="Text 19"/>
          <p:cNvSpPr/>
          <p:nvPr/>
        </p:nvSpPr>
        <p:spPr>
          <a:xfrm>
            <a:off x="6766560" y="320954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Persistent ID assignment across frames (track(persist=True))</a:t>
            </a:r>
            <a:endParaRPr lang="en-US" sz="1050" dirty="0"/>
          </a:p>
        </p:txBody>
      </p:sp>
      <p:sp>
        <p:nvSpPr>
          <p:cNvPr id="22" name="Shape 20"/>
          <p:cNvSpPr/>
          <p:nvPr/>
        </p:nvSpPr>
        <p:spPr>
          <a:xfrm>
            <a:off x="548640" y="3931920"/>
            <a:ext cx="11064240" cy="667512"/>
          </a:xfrm>
          <a:prstGeom prst="roundRect">
            <a:avLst>
              <a:gd name="adj" fmla="val 10959"/>
            </a:avLst>
          </a:prstGeom>
          <a:solidFill>
            <a:srgbClr val="F3F1F7"/>
          </a:solidFill>
          <a:ln w="12700">
            <a:solidFill>
              <a:srgbClr val="5D739A"/>
            </a:solidFill>
            <a:prstDash val="solid"/>
          </a:ln>
        </p:spPr>
      </p:sp>
      <p:sp>
        <p:nvSpPr>
          <p:cNvPr id="23" name="Shape 21"/>
          <p:cNvSpPr/>
          <p:nvPr/>
        </p:nvSpPr>
        <p:spPr>
          <a:xfrm>
            <a:off x="777240" y="4041648"/>
            <a:ext cx="457200" cy="457200"/>
          </a:xfrm>
          <a:prstGeom prst="ellipse">
            <a:avLst/>
          </a:prstGeom>
          <a:solidFill>
            <a:srgbClr val="AD84C6"/>
          </a:solidFill>
          <a:ln/>
        </p:spPr>
      </p:sp>
      <p:sp>
        <p:nvSpPr>
          <p:cNvPr id="24" name="Text 22"/>
          <p:cNvSpPr/>
          <p:nvPr/>
        </p:nvSpPr>
        <p:spPr>
          <a:xfrm>
            <a:off x="777240" y="404164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L4</a:t>
            </a:r>
            <a:endParaRPr lang="en-US" sz="1300" dirty="0"/>
          </a:p>
        </p:txBody>
      </p:sp>
      <p:sp>
        <p:nvSpPr>
          <p:cNvPr id="25" name="Text 23"/>
          <p:cNvSpPr/>
          <p:nvPr/>
        </p:nvSpPr>
        <p:spPr>
          <a:xfrm>
            <a:off x="1463040" y="398678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Motion Analytics</a:t>
            </a:r>
            <a:endParaRPr lang="en-US" sz="1300" dirty="0"/>
          </a:p>
        </p:txBody>
      </p:sp>
      <p:sp>
        <p:nvSpPr>
          <p:cNvPr id="26" name="Text 24"/>
          <p:cNvSpPr/>
          <p:nvPr/>
        </p:nvSpPr>
        <p:spPr>
          <a:xfrm>
            <a:off x="3931920" y="398678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custom trajectory/direction/speed</a:t>
            </a:r>
            <a:endParaRPr lang="en-US" sz="1000" dirty="0"/>
          </a:p>
        </p:txBody>
      </p:sp>
      <p:sp>
        <p:nvSpPr>
          <p:cNvPr id="27" name="Text 25"/>
          <p:cNvSpPr/>
          <p:nvPr/>
        </p:nvSpPr>
        <p:spPr>
          <a:xfrm>
            <a:off x="6766560" y="398678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Trajectory history, EMA smoothing, direction &amp; calibrated speed</a:t>
            </a:r>
            <a:endParaRPr lang="en-US" sz="1050" dirty="0"/>
          </a:p>
        </p:txBody>
      </p:sp>
      <p:sp>
        <p:nvSpPr>
          <p:cNvPr id="28" name="Shape 26"/>
          <p:cNvSpPr/>
          <p:nvPr/>
        </p:nvSpPr>
        <p:spPr>
          <a:xfrm>
            <a:off x="548640" y="4709160"/>
            <a:ext cx="11064240" cy="667512"/>
          </a:xfrm>
          <a:prstGeom prst="roundRect">
            <a:avLst>
              <a:gd name="adj" fmla="val 10959"/>
            </a:avLst>
          </a:prstGeom>
          <a:solidFill>
            <a:srgbClr val="F3F1F7"/>
          </a:solidFill>
          <a:ln w="12700">
            <a:solidFill>
              <a:srgbClr val="5D739A"/>
            </a:solidFill>
            <a:prstDash val="solid"/>
          </a:ln>
        </p:spPr>
      </p:sp>
      <p:sp>
        <p:nvSpPr>
          <p:cNvPr id="29" name="Shape 27"/>
          <p:cNvSpPr/>
          <p:nvPr/>
        </p:nvSpPr>
        <p:spPr>
          <a:xfrm>
            <a:off x="777240" y="4818888"/>
            <a:ext cx="457200" cy="457200"/>
          </a:xfrm>
          <a:prstGeom prst="ellipse">
            <a:avLst/>
          </a:prstGeom>
          <a:solidFill>
            <a:srgbClr val="AD84C6"/>
          </a:solidFill>
          <a:ln/>
        </p:spPr>
      </p:sp>
      <p:sp>
        <p:nvSpPr>
          <p:cNvPr id="30" name="Text 28"/>
          <p:cNvSpPr/>
          <p:nvPr/>
        </p:nvSpPr>
        <p:spPr>
          <a:xfrm>
            <a:off x="777240" y="481888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L5</a:t>
            </a:r>
            <a:endParaRPr lang="en-US" sz="1300" dirty="0"/>
          </a:p>
        </p:txBody>
      </p:sp>
      <p:sp>
        <p:nvSpPr>
          <p:cNvPr id="31" name="Text 29"/>
          <p:cNvSpPr/>
          <p:nvPr/>
        </p:nvSpPr>
        <p:spPr>
          <a:xfrm>
            <a:off x="1463040" y="476402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Counting &amp; Stats</a:t>
            </a:r>
            <a:endParaRPr lang="en-US" sz="1300" dirty="0"/>
          </a:p>
        </p:txBody>
      </p:sp>
      <p:sp>
        <p:nvSpPr>
          <p:cNvPr id="32" name="Text 30"/>
          <p:cNvSpPr/>
          <p:nvPr/>
        </p:nvSpPr>
        <p:spPr>
          <a:xfrm>
            <a:off x="3931920" y="476402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custom analytics modules</a:t>
            </a:r>
            <a:endParaRPr lang="en-US" sz="1000" dirty="0"/>
          </a:p>
        </p:txBody>
      </p:sp>
      <p:sp>
        <p:nvSpPr>
          <p:cNvPr id="33" name="Text 31"/>
          <p:cNvSpPr/>
          <p:nvPr/>
        </p:nvSpPr>
        <p:spPr>
          <a:xfrm>
            <a:off x="6766560" y="476402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Line-crossing counter, per-class &amp; per-session statistics</a:t>
            </a:r>
            <a:endParaRPr lang="en-US" sz="1050" dirty="0"/>
          </a:p>
        </p:txBody>
      </p:sp>
      <p:sp>
        <p:nvSpPr>
          <p:cNvPr id="34" name="Shape 32"/>
          <p:cNvSpPr/>
          <p:nvPr/>
        </p:nvSpPr>
        <p:spPr>
          <a:xfrm>
            <a:off x="548640" y="5486400"/>
            <a:ext cx="11064240" cy="667512"/>
          </a:xfrm>
          <a:prstGeom prst="roundRect">
            <a:avLst>
              <a:gd name="adj" fmla="val 10959"/>
            </a:avLst>
          </a:prstGeom>
          <a:solidFill>
            <a:srgbClr val="F3F1F7"/>
          </a:solidFill>
          <a:ln w="12700">
            <a:solidFill>
              <a:srgbClr val="5D739A"/>
            </a:solidFill>
            <a:prstDash val="solid"/>
          </a:ln>
        </p:spPr>
      </p:sp>
      <p:sp>
        <p:nvSpPr>
          <p:cNvPr id="35" name="Shape 33"/>
          <p:cNvSpPr/>
          <p:nvPr/>
        </p:nvSpPr>
        <p:spPr>
          <a:xfrm>
            <a:off x="777240" y="5596128"/>
            <a:ext cx="457200" cy="457200"/>
          </a:xfrm>
          <a:prstGeom prst="ellipse">
            <a:avLst/>
          </a:prstGeom>
          <a:solidFill>
            <a:srgbClr val="AD84C6"/>
          </a:solidFill>
          <a:ln/>
        </p:spPr>
      </p:sp>
      <p:sp>
        <p:nvSpPr>
          <p:cNvPr id="36" name="Text 34"/>
          <p:cNvSpPr/>
          <p:nvPr/>
        </p:nvSpPr>
        <p:spPr>
          <a:xfrm>
            <a:off x="777240" y="559612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L6</a:t>
            </a:r>
            <a:endParaRPr lang="en-US" sz="1300" dirty="0"/>
          </a:p>
        </p:txBody>
      </p:sp>
      <p:sp>
        <p:nvSpPr>
          <p:cNvPr id="37" name="Text 35"/>
          <p:cNvSpPr/>
          <p:nvPr/>
        </p:nvSpPr>
        <p:spPr>
          <a:xfrm>
            <a:off x="1463040" y="554126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Reporting &amp; Dashboard</a:t>
            </a:r>
            <a:endParaRPr lang="en-US" sz="1300" dirty="0"/>
          </a:p>
        </p:txBody>
      </p:sp>
      <p:sp>
        <p:nvSpPr>
          <p:cNvPr id="38" name="Text 36"/>
          <p:cNvSpPr/>
          <p:nvPr/>
        </p:nvSpPr>
        <p:spPr>
          <a:xfrm>
            <a:off x="3931920" y="554126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OpenCV overlay + CSV + Streamlit</a:t>
            </a:r>
            <a:endParaRPr lang="en-US" sz="1000" dirty="0"/>
          </a:p>
        </p:txBody>
      </p:sp>
      <p:sp>
        <p:nvSpPr>
          <p:cNvPr id="39" name="Text 37"/>
          <p:cNvSpPr/>
          <p:nvPr/>
        </p:nvSpPr>
        <p:spPr>
          <a:xfrm>
            <a:off x="6766560" y="554126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Live HUD overlay, CSV session export, Streamlit report viewer</a:t>
            </a:r>
            <a:endParaRPr lang="en-US" sz="1050" dirty="0"/>
          </a:p>
        </p:txBody>
      </p:sp>
      <p:pic>
        <p:nvPicPr>
          <p:cNvPr id="42" name="Picture 41">
            <a:extLst>
              <a:ext uri="{FF2B5EF4-FFF2-40B4-BE49-F238E27FC236}">
                <a16:creationId xmlns:a16="http://schemas.microsoft.com/office/drawing/2014/main" id="{EB2333C4-2A7F-CF0E-9D0D-803AA80CE3B4}"/>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Working Demonstration</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Actual capture frames from a running VisionTrack AI session (captures/ folder)</a:t>
            </a:r>
            <a:endParaRPr lang="en-US" sz="1400" dirty="0"/>
          </a:p>
        </p:txBody>
      </p:sp>
      <p:pic>
        <p:nvPicPr>
          <p:cNvPr id="4" name="Image 0" descr="assets/demo1.jpg"/>
          <p:cNvPicPr>
            <a:picLocks noChangeAspect="1"/>
          </p:cNvPicPr>
          <p:nvPr/>
        </p:nvPicPr>
        <p:blipFill>
          <a:blip r:embed="rId3"/>
          <a:stretch>
            <a:fillRect/>
          </a:stretch>
        </p:blipFill>
        <p:spPr>
          <a:xfrm>
            <a:off x="548640" y="1600200"/>
            <a:ext cx="5394960" cy="3035808"/>
          </a:xfrm>
          <a:prstGeom prst="rect">
            <a:avLst/>
          </a:prstGeom>
        </p:spPr>
      </p:pic>
      <p:pic>
        <p:nvPicPr>
          <p:cNvPr id="5" name="Image 1" descr="assets/demo3.jpg"/>
          <p:cNvPicPr>
            <a:picLocks noChangeAspect="1"/>
          </p:cNvPicPr>
          <p:nvPr/>
        </p:nvPicPr>
        <p:blipFill>
          <a:blip r:embed="rId4"/>
          <a:stretch>
            <a:fillRect/>
          </a:stretch>
        </p:blipFill>
        <p:spPr>
          <a:xfrm>
            <a:off x="6172200" y="1600200"/>
            <a:ext cx="5394960" cy="3035808"/>
          </a:xfrm>
          <a:prstGeom prst="rect">
            <a:avLst/>
          </a:prstGeom>
        </p:spPr>
      </p:pic>
      <p:sp>
        <p:nvSpPr>
          <p:cNvPr id="6" name="Shape 2"/>
          <p:cNvSpPr/>
          <p:nvPr/>
        </p:nvSpPr>
        <p:spPr>
          <a:xfrm>
            <a:off x="548640" y="4800600"/>
            <a:ext cx="539496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7" name="Text 3"/>
          <p:cNvSpPr/>
          <p:nvPr/>
        </p:nvSpPr>
        <p:spPr>
          <a:xfrm>
            <a:off x="777240" y="4892040"/>
            <a:ext cx="493776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Live HUD Overlay</a:t>
            </a:r>
            <a:endParaRPr lang="en-US" sz="1250" dirty="0"/>
          </a:p>
        </p:txBody>
      </p:sp>
      <p:sp>
        <p:nvSpPr>
          <p:cNvPr id="8" name="Text 4"/>
          <p:cNvSpPr/>
          <p:nvPr/>
        </p:nvSpPr>
        <p:spPr>
          <a:xfrm>
            <a:off x="777240" y="5193792"/>
            <a:ext cx="4937760" cy="77724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Bounding boxes with track IDs, FPS counter and running object count drawn directly on the webcam feed via the Drawer + FPSCounter modules.</a:t>
            </a:r>
            <a:endParaRPr lang="en-US" sz="1050" dirty="0"/>
          </a:p>
        </p:txBody>
      </p:sp>
      <p:sp>
        <p:nvSpPr>
          <p:cNvPr id="9" name="Shape 5"/>
          <p:cNvSpPr/>
          <p:nvPr/>
        </p:nvSpPr>
        <p:spPr>
          <a:xfrm>
            <a:off x="6172200" y="4800600"/>
            <a:ext cx="539496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0" name="Text 6"/>
          <p:cNvSpPr/>
          <p:nvPr/>
        </p:nvSpPr>
        <p:spPr>
          <a:xfrm>
            <a:off x="6400800" y="4892040"/>
            <a:ext cx="493776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Trail &amp; Session Stats</a:t>
            </a:r>
            <a:endParaRPr lang="en-US" sz="1250" dirty="0"/>
          </a:p>
        </p:txBody>
      </p:sp>
      <p:sp>
        <p:nvSpPr>
          <p:cNvPr id="11" name="Text 7"/>
          <p:cNvSpPr/>
          <p:nvPr/>
        </p:nvSpPr>
        <p:spPr>
          <a:xfrm>
            <a:off x="6400800" y="5193792"/>
            <a:ext cx="4937760" cy="77724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Trajectory trail rendered from the last 30 tracked positions, alongside a live-updating session statistics panel in the corner overlay.</a:t>
            </a:r>
            <a:endParaRPr lang="en-US" sz="1050" dirty="0"/>
          </a:p>
        </p:txBody>
      </p:sp>
      <p:pic>
        <p:nvPicPr>
          <p:cNvPr id="14" name="Picture 13">
            <a:extLst>
              <a:ext uri="{FF2B5EF4-FFF2-40B4-BE49-F238E27FC236}">
                <a16:creationId xmlns:a16="http://schemas.microsoft.com/office/drawing/2014/main" id="{0A85173C-DFBF-28E4-D9D7-C3F37A63D035}"/>
              </a:ext>
            </a:extLst>
          </p:cNvPr>
          <p:cNvPicPr>
            <a:picLocks noChangeAspect="1"/>
          </p:cNvPicPr>
          <p:nvPr/>
        </p:nvPicPr>
        <p:blipFill>
          <a:blip r:embed="rId5"/>
          <a:stretch>
            <a:fillRect/>
          </a:stretch>
        </p:blipFill>
        <p:spPr>
          <a:xfrm>
            <a:off x="9823938" y="150350"/>
            <a:ext cx="1064087" cy="8097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Testing and Validation</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Automated test scaffolding plus manual validation across real recorded sessions</a:t>
            </a:r>
            <a:endParaRPr lang="en-US" sz="1400" dirty="0"/>
          </a:p>
        </p:txBody>
      </p:sp>
      <p:sp>
        <p:nvSpPr>
          <p:cNvPr id="4" name="Shape 2"/>
          <p:cNvSpPr/>
          <p:nvPr/>
        </p:nvSpPr>
        <p:spPr>
          <a:xfrm>
            <a:off x="548640" y="1600200"/>
            <a:ext cx="5394960" cy="4434840"/>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83080"/>
            <a:ext cx="493776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AUTOMATED TESTS (pytest)</a:t>
            </a:r>
            <a:endParaRPr lang="en-US" sz="1300" dirty="0"/>
          </a:p>
        </p:txBody>
      </p:sp>
      <p:sp>
        <p:nvSpPr>
          <p:cNvPr id="6" name="Text 4"/>
          <p:cNvSpPr/>
          <p:nvPr/>
        </p:nvSpPr>
        <p:spPr>
          <a:xfrm>
            <a:off x="777240" y="2103120"/>
            <a:ext cx="4937760" cy="146304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src/tests/ currently holds import-level smoke tests for the detector, tracker and API modules — confirming every core module loads cleanly. This scaffolding is the entry point for the deeper unit and integration tests planned next (see Future Scope).</a:t>
            </a:r>
            <a:endParaRPr lang="en-US" sz="1150" dirty="0"/>
          </a:p>
        </p:txBody>
      </p:sp>
      <p:sp>
        <p:nvSpPr>
          <p:cNvPr id="7" name="Text 5"/>
          <p:cNvSpPr/>
          <p:nvPr/>
        </p:nvSpPr>
        <p:spPr>
          <a:xfrm>
            <a:off x="777240" y="3703320"/>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test_detector.py</a:t>
            </a:r>
            <a:endParaRPr lang="en-US" sz="1050" dirty="0"/>
          </a:p>
        </p:txBody>
      </p:sp>
      <p:sp>
        <p:nvSpPr>
          <p:cNvPr id="8" name="Text 6"/>
          <p:cNvSpPr/>
          <p:nvPr/>
        </p:nvSpPr>
        <p:spPr>
          <a:xfrm>
            <a:off x="3017520" y="3703320"/>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YOLOv8n loads &amp; module imports cleanly</a:t>
            </a:r>
            <a:endParaRPr lang="en-US" sz="1000" dirty="0"/>
          </a:p>
        </p:txBody>
      </p:sp>
      <p:sp>
        <p:nvSpPr>
          <p:cNvPr id="9" name="Text 7"/>
          <p:cNvSpPr/>
          <p:nvPr/>
        </p:nvSpPr>
        <p:spPr>
          <a:xfrm>
            <a:off x="777240" y="4087368"/>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test_tracker.py</a:t>
            </a:r>
            <a:endParaRPr lang="en-US" sz="1050" dirty="0"/>
          </a:p>
        </p:txBody>
      </p:sp>
      <p:sp>
        <p:nvSpPr>
          <p:cNvPr id="10" name="Text 8"/>
          <p:cNvSpPr/>
          <p:nvPr/>
        </p:nvSpPr>
        <p:spPr>
          <a:xfrm>
            <a:off x="3017520" y="4087368"/>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ByteTrack tracker module imports cleanly</a:t>
            </a:r>
            <a:endParaRPr lang="en-US" sz="1000" dirty="0"/>
          </a:p>
        </p:txBody>
      </p:sp>
      <p:sp>
        <p:nvSpPr>
          <p:cNvPr id="11" name="Text 9"/>
          <p:cNvSpPr/>
          <p:nvPr/>
        </p:nvSpPr>
        <p:spPr>
          <a:xfrm>
            <a:off x="777240" y="4471416"/>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test_counter.py</a:t>
            </a:r>
            <a:endParaRPr lang="en-US" sz="1050" dirty="0"/>
          </a:p>
        </p:txBody>
      </p:sp>
      <p:sp>
        <p:nvSpPr>
          <p:cNvPr id="12" name="Text 10"/>
          <p:cNvSpPr/>
          <p:nvPr/>
        </p:nvSpPr>
        <p:spPr>
          <a:xfrm>
            <a:off x="3017520" y="4471416"/>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Analytics/counter module imports cleanly</a:t>
            </a:r>
            <a:endParaRPr lang="en-US" sz="1000" dirty="0"/>
          </a:p>
        </p:txBody>
      </p:sp>
      <p:sp>
        <p:nvSpPr>
          <p:cNvPr id="13" name="Text 11"/>
          <p:cNvSpPr/>
          <p:nvPr/>
        </p:nvSpPr>
        <p:spPr>
          <a:xfrm>
            <a:off x="777240" y="4855464"/>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test_api.py</a:t>
            </a:r>
            <a:endParaRPr lang="en-US" sz="1050" dirty="0"/>
          </a:p>
        </p:txBody>
      </p:sp>
      <p:sp>
        <p:nvSpPr>
          <p:cNvPr id="14" name="Text 12"/>
          <p:cNvSpPr/>
          <p:nvPr/>
        </p:nvSpPr>
        <p:spPr>
          <a:xfrm>
            <a:off x="3017520" y="4855464"/>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FastAPI app module imports cleanly</a:t>
            </a:r>
            <a:endParaRPr lang="en-US" sz="1000" dirty="0"/>
          </a:p>
        </p:txBody>
      </p:sp>
      <p:sp>
        <p:nvSpPr>
          <p:cNvPr id="15" name="Shape 13"/>
          <p:cNvSpPr/>
          <p:nvPr/>
        </p:nvSpPr>
        <p:spPr>
          <a:xfrm>
            <a:off x="6126480" y="1600200"/>
            <a:ext cx="548640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6" name="Text 14"/>
          <p:cNvSpPr/>
          <p:nvPr/>
        </p:nvSpPr>
        <p:spPr>
          <a:xfrm>
            <a:off x="6355080" y="1783080"/>
            <a:ext cx="5029200" cy="292608"/>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MANUAL VALIDATION — LIVE SESSIONS</a:t>
            </a:r>
            <a:endParaRPr lang="en-US" sz="1300" dirty="0"/>
          </a:p>
        </p:txBody>
      </p:sp>
      <p:sp>
        <p:nvSpPr>
          <p:cNvPr id="17" name="Text 15"/>
          <p:cNvSpPr/>
          <p:nvPr/>
        </p:nvSpPr>
        <p:spPr>
          <a:xfrm>
            <a:off x="6355080" y="2103120"/>
            <a:ext cx="5029200" cy="100584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Beyond unit tests, the pipeline was run and validated live against a real webcam across 4 independent sessions, with every run's metrics captured automatically by ReportExporter rather than eyeballed:</a:t>
            </a:r>
            <a:endParaRPr lang="en-US" sz="1150" dirty="0"/>
          </a:p>
        </p:txBody>
      </p:sp>
      <p:sp>
        <p:nvSpPr>
          <p:cNvPr id="18" name="Text 16"/>
          <p:cNvSpPr/>
          <p:nvPr/>
        </p:nvSpPr>
        <p:spPr>
          <a:xfrm>
            <a:off x="6355080" y="3200400"/>
            <a:ext cx="5029200" cy="2743200"/>
          </a:xfrm>
          <a:prstGeom prst="rect">
            <a:avLst/>
          </a:prstGeom>
          <a:noFill/>
          <a:ln/>
        </p:spPr>
        <p:txBody>
          <a:bodyPr wrap="square" rtlCol="0" anchor="ctr"/>
          <a:lstStyle/>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Detection confirmed across varying object counts (2–4 simultaneous)</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Tracking IDs remained stable long enough to compute direction &amp; speed</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Line-crossing counter validated against manual enter/exit counts</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CSV export verified to match the on-screen HUD at session end</a:t>
            </a:r>
            <a:endParaRPr lang="en-US" sz="1100" dirty="0"/>
          </a:p>
        </p:txBody>
      </p:sp>
      <p:pic>
        <p:nvPicPr>
          <p:cNvPr id="21" name="Picture 20">
            <a:extLst>
              <a:ext uri="{FF2B5EF4-FFF2-40B4-BE49-F238E27FC236}">
                <a16:creationId xmlns:a16="http://schemas.microsoft.com/office/drawing/2014/main" id="{E83F75E4-C8B2-0EA1-C94B-24E1DB860915}"/>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Methodology / Algorithms Used</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From detection-level CNN inference to rule-based motion analytics</a:t>
            </a:r>
            <a:endParaRPr lang="en-US" sz="1400" dirty="0"/>
          </a:p>
        </p:txBody>
      </p:sp>
      <p:sp>
        <p:nvSpPr>
          <p:cNvPr id="4" name="Shape 2"/>
          <p:cNvSpPr/>
          <p:nvPr/>
        </p:nvSpPr>
        <p:spPr>
          <a:xfrm>
            <a:off x="548640" y="1554480"/>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49808" y="1682496"/>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YOLOv8n Object Detection</a:t>
            </a:r>
            <a:endParaRPr lang="en-US" sz="1250" dirty="0"/>
          </a:p>
        </p:txBody>
      </p:sp>
      <p:sp>
        <p:nvSpPr>
          <p:cNvPr id="6" name="Text 4"/>
          <p:cNvSpPr/>
          <p:nvPr/>
        </p:nvSpPr>
        <p:spPr>
          <a:xfrm>
            <a:off x="749808" y="1993392"/>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Single-stage CNN detector (ultralytics) run per frame; confidence-thresholded at 0.50 before boxes reach the tracker.</a:t>
            </a:r>
            <a:endParaRPr lang="en-US" sz="1050" dirty="0"/>
          </a:p>
        </p:txBody>
      </p:sp>
      <p:sp>
        <p:nvSpPr>
          <p:cNvPr id="7" name="Shape 5"/>
          <p:cNvSpPr/>
          <p:nvPr/>
        </p:nvSpPr>
        <p:spPr>
          <a:xfrm>
            <a:off x="6172200" y="1554480"/>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73368" y="1682496"/>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ByteTrack Association</a:t>
            </a:r>
            <a:endParaRPr lang="en-US" sz="1250" dirty="0"/>
          </a:p>
        </p:txBody>
      </p:sp>
      <p:sp>
        <p:nvSpPr>
          <p:cNvPr id="9" name="Text 7"/>
          <p:cNvSpPr/>
          <p:nvPr/>
        </p:nvSpPr>
        <p:spPr>
          <a:xfrm>
            <a:off x="6373368" y="1993392"/>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Associates detections across frames into persistent tracks using motion + IoU cues, exposed via model.track(persist=True).</a:t>
            </a:r>
            <a:endParaRPr lang="en-US" sz="1050" dirty="0"/>
          </a:p>
        </p:txBody>
      </p:sp>
      <p:sp>
        <p:nvSpPr>
          <p:cNvPr id="10" name="Shape 8"/>
          <p:cNvSpPr/>
          <p:nvPr/>
        </p:nvSpPr>
        <p:spPr>
          <a:xfrm>
            <a:off x="548640" y="3090672"/>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49808" y="3218688"/>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Exponential Moving Average</a:t>
            </a:r>
            <a:endParaRPr lang="en-US" sz="1250" dirty="0"/>
          </a:p>
        </p:txBody>
      </p:sp>
      <p:sp>
        <p:nvSpPr>
          <p:cNvPr id="12" name="Text 10"/>
          <p:cNvSpPr/>
          <p:nvPr/>
        </p:nvSpPr>
        <p:spPr>
          <a:xfrm>
            <a:off x="749808" y="3529584"/>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PositionSmoother blends the previous smoothed point and the new point with α = 0.70 to damp jitter in the drawn trail.</a:t>
            </a:r>
            <a:endParaRPr lang="en-US" sz="1050" dirty="0"/>
          </a:p>
        </p:txBody>
      </p:sp>
      <p:sp>
        <p:nvSpPr>
          <p:cNvPr id="13" name="Shape 11"/>
          <p:cNvSpPr/>
          <p:nvPr/>
        </p:nvSpPr>
        <p:spPr>
          <a:xfrm>
            <a:off x="6172200" y="3090672"/>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73368" y="3218688"/>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Rule-Based Direction</a:t>
            </a:r>
            <a:endParaRPr lang="en-US" sz="1250" dirty="0"/>
          </a:p>
        </p:txBody>
      </p:sp>
      <p:sp>
        <p:nvSpPr>
          <p:cNvPr id="15" name="Text 13"/>
          <p:cNvSpPr/>
          <p:nvPr/>
        </p:nvSpPr>
        <p:spPr>
          <a:xfrm>
            <a:off x="6373368" y="3529584"/>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Compares position 10 frames apart against a 20px threshold on each axis to classify heading as N / S / E / W or Still.</a:t>
            </a:r>
            <a:endParaRPr lang="en-US" sz="1050" dirty="0"/>
          </a:p>
        </p:txBody>
      </p:sp>
      <p:sp>
        <p:nvSpPr>
          <p:cNvPr id="16" name="Shape 14"/>
          <p:cNvSpPr/>
          <p:nvPr/>
        </p:nvSpPr>
        <p:spPr>
          <a:xfrm>
            <a:off x="548640" y="4626864"/>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49808" y="4754880"/>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Calibrated Speed Estimation</a:t>
            </a:r>
            <a:endParaRPr lang="en-US" sz="1250" dirty="0"/>
          </a:p>
        </p:txBody>
      </p:sp>
      <p:sp>
        <p:nvSpPr>
          <p:cNvPr id="18" name="Text 16"/>
          <p:cNvSpPr/>
          <p:nvPr/>
        </p:nvSpPr>
        <p:spPr>
          <a:xfrm>
            <a:off x="749808" y="5065776"/>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CameraCalibrator converts a known real-world distance and its pixel-span into a pixels-per-metre ratio, used with elapsed time to estimate km/h.</a:t>
            </a:r>
            <a:endParaRPr lang="en-US" sz="1050" dirty="0"/>
          </a:p>
        </p:txBody>
      </p:sp>
      <p:sp>
        <p:nvSpPr>
          <p:cNvPr id="19" name="Shape 17"/>
          <p:cNvSpPr/>
          <p:nvPr/>
        </p:nvSpPr>
        <p:spPr>
          <a:xfrm>
            <a:off x="6172200" y="4626864"/>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73368" y="4754880"/>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Zone-Based Line Crossing</a:t>
            </a:r>
            <a:endParaRPr lang="en-US" sz="1250" dirty="0"/>
          </a:p>
        </p:txBody>
      </p:sp>
      <p:sp>
        <p:nvSpPr>
          <p:cNvPr id="21" name="Text 19"/>
          <p:cNvSpPr/>
          <p:nvPr/>
        </p:nvSpPr>
        <p:spPr>
          <a:xfrm>
            <a:off x="6373368" y="5065776"/>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LineCounter tracks each object's side of a horizontal line with a ±30px buffer zone, requiring 5+ history points before confirming a crossing.</a:t>
            </a:r>
            <a:endParaRPr lang="en-US" sz="1050" dirty="0"/>
          </a:p>
        </p:txBody>
      </p:sp>
      <p:pic>
        <p:nvPicPr>
          <p:cNvPr id="24" name="Picture 23">
            <a:extLst>
              <a:ext uri="{FF2B5EF4-FFF2-40B4-BE49-F238E27FC236}">
                <a16:creationId xmlns:a16="http://schemas.microsoft.com/office/drawing/2014/main" id="{A4320BA1-5B6B-9F22-5C70-46065477A398}"/>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Tools and Technologies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The stack behind detection, tracking, analytics and the dashboard</a:t>
            </a:r>
            <a:endParaRPr lang="en-US" sz="1400" dirty="0"/>
          </a:p>
        </p:txBody>
      </p:sp>
      <p:sp>
        <p:nvSpPr>
          <p:cNvPr id="4" name="Shape 2"/>
          <p:cNvSpPr/>
          <p:nvPr/>
        </p:nvSpPr>
        <p:spPr>
          <a:xfrm>
            <a:off x="548640" y="1600200"/>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49808" y="1746504"/>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Computer Vision &amp; Detection</a:t>
            </a:r>
            <a:endParaRPr lang="en-US" sz="1300" dirty="0"/>
          </a:p>
        </p:txBody>
      </p:sp>
      <p:sp>
        <p:nvSpPr>
          <p:cNvPr id="6" name="Text 4"/>
          <p:cNvSpPr/>
          <p:nvPr/>
        </p:nvSpPr>
        <p:spPr>
          <a:xfrm>
            <a:off x="749808" y="2103120"/>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OpenCV (opencv-python) · Ultralytics YOLOv8 · PyTorch &amp; Torchvision</a:t>
            </a:r>
            <a:endParaRPr lang="en-US" sz="1150" dirty="0"/>
          </a:p>
        </p:txBody>
      </p:sp>
      <p:sp>
        <p:nvSpPr>
          <p:cNvPr id="7" name="Shape 5"/>
          <p:cNvSpPr/>
          <p:nvPr/>
        </p:nvSpPr>
        <p:spPr>
          <a:xfrm>
            <a:off x="6172200" y="1600200"/>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73368" y="1746504"/>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Tracking</a:t>
            </a:r>
            <a:endParaRPr lang="en-US" sz="1300" dirty="0"/>
          </a:p>
        </p:txBody>
      </p:sp>
      <p:sp>
        <p:nvSpPr>
          <p:cNvPr id="9" name="Text 7"/>
          <p:cNvSpPr/>
          <p:nvPr/>
        </p:nvSpPr>
        <p:spPr>
          <a:xfrm>
            <a:off x="6373368" y="2103120"/>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ByteTrack (via ultralytics tracker configs)</a:t>
            </a:r>
            <a:endParaRPr lang="en-US" sz="1150" dirty="0"/>
          </a:p>
        </p:txBody>
      </p:sp>
      <p:sp>
        <p:nvSpPr>
          <p:cNvPr id="10" name="Shape 8"/>
          <p:cNvSpPr/>
          <p:nvPr/>
        </p:nvSpPr>
        <p:spPr>
          <a:xfrm>
            <a:off x="548640" y="3182112"/>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49808" y="3328416"/>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Data &amp; Analytics</a:t>
            </a:r>
            <a:endParaRPr lang="en-US" sz="1300" dirty="0"/>
          </a:p>
        </p:txBody>
      </p:sp>
      <p:sp>
        <p:nvSpPr>
          <p:cNvPr id="12" name="Text 10"/>
          <p:cNvSpPr/>
          <p:nvPr/>
        </p:nvSpPr>
        <p:spPr>
          <a:xfrm>
            <a:off x="749808" y="3685032"/>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pandas · NumPy · Python collections (Counter, defaultdict)</a:t>
            </a:r>
            <a:endParaRPr lang="en-US" sz="1150" dirty="0"/>
          </a:p>
        </p:txBody>
      </p:sp>
      <p:sp>
        <p:nvSpPr>
          <p:cNvPr id="13" name="Shape 11"/>
          <p:cNvSpPr/>
          <p:nvPr/>
        </p:nvSpPr>
        <p:spPr>
          <a:xfrm>
            <a:off x="6172200" y="3182112"/>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73368" y="3328416"/>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Dashboard &amp; Visualization</a:t>
            </a:r>
            <a:endParaRPr lang="en-US" sz="1300" dirty="0"/>
          </a:p>
        </p:txBody>
      </p:sp>
      <p:sp>
        <p:nvSpPr>
          <p:cNvPr id="15" name="Text 13"/>
          <p:cNvSpPr/>
          <p:nvPr/>
        </p:nvSpPr>
        <p:spPr>
          <a:xfrm>
            <a:off x="6373368" y="3685032"/>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Streamlit · Plotly Express · Matplotlib</a:t>
            </a:r>
            <a:endParaRPr lang="en-US" sz="1150" dirty="0"/>
          </a:p>
        </p:txBody>
      </p:sp>
      <p:sp>
        <p:nvSpPr>
          <p:cNvPr id="16" name="Shape 14"/>
          <p:cNvSpPr/>
          <p:nvPr/>
        </p:nvSpPr>
        <p:spPr>
          <a:xfrm>
            <a:off x="548640" y="4764024"/>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49808" y="4910328"/>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Persistence &amp; API</a:t>
            </a:r>
            <a:endParaRPr lang="en-US" sz="1300" dirty="0"/>
          </a:p>
        </p:txBody>
      </p:sp>
      <p:sp>
        <p:nvSpPr>
          <p:cNvPr id="18" name="Text 16"/>
          <p:cNvSpPr/>
          <p:nvPr/>
        </p:nvSpPr>
        <p:spPr>
          <a:xfrm>
            <a:off x="749808" y="5266944"/>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SQLAlchemy · SQLite · FastAPI · Pydantic</a:t>
            </a:r>
            <a:endParaRPr lang="en-US" sz="1150" dirty="0"/>
          </a:p>
        </p:txBody>
      </p:sp>
      <p:sp>
        <p:nvSpPr>
          <p:cNvPr id="19" name="Shape 17"/>
          <p:cNvSpPr/>
          <p:nvPr/>
        </p:nvSpPr>
        <p:spPr>
          <a:xfrm>
            <a:off x="6172200" y="4764024"/>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73368" y="4910328"/>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Testing &amp; Ops</a:t>
            </a:r>
            <a:endParaRPr lang="en-US" sz="1300" dirty="0"/>
          </a:p>
        </p:txBody>
      </p:sp>
      <p:sp>
        <p:nvSpPr>
          <p:cNvPr id="21" name="Text 19"/>
          <p:cNvSpPr/>
          <p:nvPr/>
        </p:nvSpPr>
        <p:spPr>
          <a:xfrm>
            <a:off x="6373368" y="5266944"/>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pytest · Docker &amp; docker-compose</a:t>
            </a:r>
            <a:endParaRPr lang="en-US" sz="1150" dirty="0"/>
          </a:p>
        </p:txBody>
      </p:sp>
      <p:sp>
        <p:nvSpPr>
          <p:cNvPr id="22" name="Text 20"/>
          <p:cNvSpPr/>
          <p:nvPr/>
        </p:nvSpPr>
        <p:spPr>
          <a:xfrm>
            <a:off x="548640" y="6309360"/>
            <a:ext cx="11064240" cy="320040"/>
          </a:xfrm>
          <a:prstGeom prst="rect">
            <a:avLst/>
          </a:prstGeom>
          <a:noFill/>
          <a:ln/>
        </p:spPr>
        <p:txBody>
          <a:bodyPr wrap="square" rtlCol="0" anchor="ctr"/>
          <a:lstStyle/>
          <a:p>
            <a:pPr marL="0" indent="0">
              <a:buNone/>
            </a:pPr>
            <a:r>
              <a:rPr lang="en-US" sz="1050" i="1" dirty="0">
                <a:solidFill>
                  <a:srgbClr val="5D739A"/>
                </a:solidFill>
                <a:latin typeface="Calibri" pitchFamily="34" charset="0"/>
                <a:ea typeface="Calibri" pitchFamily="34" charset="-122"/>
                <a:cs typeface="Calibri" pitchFamily="34" charset="-120"/>
              </a:rPr>
              <a:t>Config-driven, not hard-coded: model path, confidence threshold, frame size, smoothing factor and line position all live in config/settings.py.</a:t>
            </a:r>
            <a:endParaRPr lang="en-US" sz="1050" dirty="0"/>
          </a:p>
        </p:txBody>
      </p:sp>
      <p:pic>
        <p:nvPicPr>
          <p:cNvPr id="25" name="Picture 24">
            <a:extLst>
              <a:ext uri="{FF2B5EF4-FFF2-40B4-BE49-F238E27FC236}">
                <a16:creationId xmlns:a16="http://schemas.microsoft.com/office/drawing/2014/main" id="{BE0274B5-D552-6D78-9DD4-59C1F6CB5FB1}"/>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Results and Outcomes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What the pipeline actually produced, verified against exported session CSVs</a:t>
            </a:r>
            <a:endParaRPr lang="en-US" sz="1400" dirty="0"/>
          </a:p>
        </p:txBody>
      </p:sp>
      <p:sp>
        <p:nvSpPr>
          <p:cNvPr id="4" name="Shape 2"/>
          <p:cNvSpPr/>
          <p:nvPr/>
        </p:nvSpPr>
        <p:spPr>
          <a:xfrm>
            <a:off x="54864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548640"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4</a:t>
            </a:r>
            <a:endParaRPr lang="en-US" sz="1900" dirty="0"/>
          </a:p>
        </p:txBody>
      </p:sp>
      <p:sp>
        <p:nvSpPr>
          <p:cNvPr id="6" name="Text 4"/>
          <p:cNvSpPr/>
          <p:nvPr/>
        </p:nvSpPr>
        <p:spPr>
          <a:xfrm>
            <a:off x="548640"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Recorded</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Sessions</a:t>
            </a:r>
            <a:endParaRPr lang="en-US" sz="1000" dirty="0"/>
          </a:p>
        </p:txBody>
      </p:sp>
      <p:sp>
        <p:nvSpPr>
          <p:cNvPr id="7" name="Shape 5"/>
          <p:cNvSpPr/>
          <p:nvPr/>
        </p:nvSpPr>
        <p:spPr>
          <a:xfrm>
            <a:off x="2505456"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2505456"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2,092</a:t>
            </a:r>
            <a:endParaRPr lang="en-US" sz="1900" dirty="0"/>
          </a:p>
        </p:txBody>
      </p:sp>
      <p:sp>
        <p:nvSpPr>
          <p:cNvPr id="9" name="Text 7"/>
          <p:cNvSpPr/>
          <p:nvPr/>
        </p:nvSpPr>
        <p:spPr>
          <a:xfrm>
            <a:off x="2505456"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Total Frames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Processed</a:t>
            </a:r>
            <a:endParaRPr lang="en-US" sz="1000" dirty="0"/>
          </a:p>
        </p:txBody>
      </p:sp>
      <p:sp>
        <p:nvSpPr>
          <p:cNvPr id="10" name="Shape 8"/>
          <p:cNvSpPr/>
          <p:nvPr/>
        </p:nvSpPr>
        <p:spPr>
          <a:xfrm>
            <a:off x="4462272"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4462272"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12–24</a:t>
            </a:r>
            <a:endParaRPr lang="en-US" sz="1900" dirty="0"/>
          </a:p>
        </p:txBody>
      </p:sp>
      <p:sp>
        <p:nvSpPr>
          <p:cNvPr id="12" name="Text 10"/>
          <p:cNvSpPr/>
          <p:nvPr/>
        </p:nvSpPr>
        <p:spPr>
          <a:xfrm>
            <a:off x="4462272"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FPS Range</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(CPU inference)</a:t>
            </a:r>
            <a:endParaRPr lang="en-US" sz="1000" dirty="0"/>
          </a:p>
        </p:txBody>
      </p:sp>
      <p:sp>
        <p:nvSpPr>
          <p:cNvPr id="13" name="Shape 11"/>
          <p:cNvSpPr/>
          <p:nvPr/>
        </p:nvSpPr>
        <p:spPr>
          <a:xfrm>
            <a:off x="6419088"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419088"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25</a:t>
            </a:r>
            <a:endParaRPr lang="en-US" sz="1900" dirty="0"/>
          </a:p>
        </p:txBody>
      </p:sp>
      <p:sp>
        <p:nvSpPr>
          <p:cNvPr id="15" name="Text 13"/>
          <p:cNvSpPr/>
          <p:nvPr/>
        </p:nvSpPr>
        <p:spPr>
          <a:xfrm>
            <a:off x="6419088"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Max Unique Objects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in One Session</a:t>
            </a:r>
            <a:endParaRPr lang="en-US" sz="1000" dirty="0"/>
          </a:p>
        </p:txBody>
      </p:sp>
      <p:sp>
        <p:nvSpPr>
          <p:cNvPr id="16" name="Shape 14"/>
          <p:cNvSpPr/>
          <p:nvPr/>
        </p:nvSpPr>
        <p:spPr>
          <a:xfrm>
            <a:off x="8375904"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375904"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4</a:t>
            </a:r>
            <a:endParaRPr lang="en-US" sz="1900" dirty="0"/>
          </a:p>
        </p:txBody>
      </p:sp>
      <p:sp>
        <p:nvSpPr>
          <p:cNvPr id="18" name="Text 16"/>
          <p:cNvSpPr/>
          <p:nvPr/>
        </p:nvSpPr>
        <p:spPr>
          <a:xfrm>
            <a:off x="8375904"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Max Simultaneous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Objects Tracked</a:t>
            </a:r>
            <a:endParaRPr lang="en-US" sz="1000" dirty="0"/>
          </a:p>
        </p:txBody>
      </p:sp>
      <p:sp>
        <p:nvSpPr>
          <p:cNvPr id="19" name="Shape 17"/>
          <p:cNvSpPr/>
          <p:nvPr/>
        </p:nvSpPr>
        <p:spPr>
          <a:xfrm>
            <a:off x="1033272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10332720"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100%</a:t>
            </a:r>
            <a:endParaRPr lang="en-US" sz="1900" dirty="0"/>
          </a:p>
        </p:txBody>
      </p:sp>
      <p:sp>
        <p:nvSpPr>
          <p:cNvPr id="21" name="Text 19"/>
          <p:cNvSpPr/>
          <p:nvPr/>
        </p:nvSpPr>
        <p:spPr>
          <a:xfrm>
            <a:off x="10332720"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Sessions with</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Auto CSV Export</a:t>
            </a:r>
            <a:endParaRPr lang="en-US" sz="1000" dirty="0"/>
          </a:p>
        </p:txBody>
      </p:sp>
      <p:sp>
        <p:nvSpPr>
          <p:cNvPr id="22" name="Shape 20"/>
          <p:cNvSpPr/>
          <p:nvPr/>
        </p:nvSpPr>
        <p:spPr>
          <a:xfrm>
            <a:off x="548640" y="3200400"/>
            <a:ext cx="11064240" cy="2834640"/>
          </a:xfrm>
          <a:prstGeom prst="roundRect">
            <a:avLst>
              <a:gd name="adj" fmla="val 2581"/>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3" name="Text 21"/>
          <p:cNvSpPr/>
          <p:nvPr/>
        </p:nvSpPr>
        <p:spPr>
          <a:xfrm>
            <a:off x="822960" y="3364992"/>
            <a:ext cx="731520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ALL 4 VALIDATION SESSIONS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3749040"/>
          <a:ext cx="10515600" cy="1947672"/>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384048">
                <a:tc>
                  <a:txBody>
                    <a:bodyPr/>
                    <a:lstStyle/>
                    <a:p>
                      <a:pPr marL="0" indent="0" algn="ctr">
                        <a:buNone/>
                      </a:pPr>
                      <a:r>
                        <a:rPr lang="en-US" sz="1050" b="1" dirty="0">
                          <a:solidFill>
                            <a:srgbClr val="000000"/>
                          </a:solidFill>
                        </a:rPr>
                        <a:t>Session</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Duration</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Frames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Avg FPS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Max Objects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Unique Objects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Avg Speed (km/h)</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000000"/>
                          </a:solidFill>
                        </a:rPr>
                        <a:t>2026-07-14 14:25</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00:06</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130</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24.52</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2.33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000000"/>
                          </a:solidFill>
                        </a:rPr>
                        <a:t>2026-07-31 19:59</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01:32</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1,125</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12.08</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4</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25</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1.93</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000000"/>
                          </a:solidFill>
                        </a:rPr>
                        <a:t>2026-07-31 20:15</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00:48</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577</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12.07</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6</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0.98</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000000"/>
                          </a:solidFill>
                        </a:rPr>
                        <a:t>2026-07-31 20:28</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00:23</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260</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12.04</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6</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1.80</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4"/>
                  </a:ext>
                </a:extLst>
              </a:tr>
            </a:tbl>
          </a:graphicData>
        </a:graphic>
      </p:graphicFrame>
      <p:pic>
        <p:nvPicPr>
          <p:cNvPr id="27" name="Picture 26">
            <a:extLst>
              <a:ext uri="{FF2B5EF4-FFF2-40B4-BE49-F238E27FC236}">
                <a16:creationId xmlns:a16="http://schemas.microsoft.com/office/drawing/2014/main" id="{1291A7D5-B07C-6894-A4F4-B4742C84CBDE}"/>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Challenges Faced &amp; Solutions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Real engineering problems encountered while building the pipeline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09160"/>
        </p:xfrm>
        <a:graphic>
          <a:graphicData uri="http://schemas.openxmlformats.org/drawingml/2006/table">
            <a:tbl>
              <a:tblPr/>
              <a:tblGrid>
                <a:gridCol w="51206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57200">
                <a:tc>
                  <a:txBody>
                    <a:bodyPr/>
                    <a:lstStyle/>
                    <a:p>
                      <a:pPr marL="0" indent="0" algn="l">
                        <a:buNone/>
                      </a:pPr>
                      <a:r>
                        <a:rPr lang="en-US" sz="1200" b="1" dirty="0">
                          <a:solidFill>
                            <a:srgbClr val="000000"/>
                          </a:solidFill>
                        </a:rPr>
                        <a:t>Challenge</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l">
                        <a:buNone/>
                      </a:pPr>
                      <a:r>
                        <a:rPr lang="en-US" sz="1200" b="1" dirty="0">
                          <a:solidFill>
                            <a:srgbClr val="000000"/>
                          </a:solidFill>
                        </a:rPr>
                        <a:t>Solution</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extLst>
                  <a:ext uri="{0D108BD9-81ED-4DB2-BD59-A6C34878D82A}">
                    <a16:rowId xmlns:a16="http://schemas.microsoft.com/office/drawing/2014/main" val="10000"/>
                  </a:ext>
                </a:extLst>
              </a:tr>
              <a:tr h="685800">
                <a:tc>
                  <a:txBody>
                    <a:bodyPr/>
                    <a:lstStyle/>
                    <a:p>
                      <a:pPr marL="0" indent="0" algn="l">
                        <a:buNone/>
                      </a:pPr>
                      <a:r>
                        <a:rPr lang="en-US" sz="1050" dirty="0">
                          <a:solidFill>
                            <a:srgbClr val="000000"/>
                          </a:solidFill>
                        </a:rPr>
                        <a:t>CPU-only inference limited FPS on heavier frames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Used the lightweight YOLOv8n variant and fixed frame size (1280×720) to keep detection real-time</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1"/>
                  </a:ext>
                </a:extLst>
              </a:tr>
              <a:tr h="685800">
                <a:tc>
                  <a:txBody>
                    <a:bodyPr/>
                    <a:lstStyle/>
                    <a:p>
                      <a:pPr marL="0" indent="0" algn="l">
                        <a:buNone/>
                      </a:pPr>
                      <a:r>
                        <a:rPr lang="en-US" sz="1050" dirty="0">
                          <a:solidFill>
                            <a:srgbClr val="000000"/>
                          </a:solidFill>
                        </a:rPr>
                        <a:t>Jittery bounding-box centres made trails look noisy</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Added PositionSmoother with EMA smoothing (α = 0.70) before drawing trajectories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2"/>
                  </a:ext>
                </a:extLst>
              </a:tr>
              <a:tr h="685800">
                <a:tc>
                  <a:txBody>
                    <a:bodyPr/>
                    <a:lstStyle/>
                    <a:p>
                      <a:pPr marL="0" indent="0" algn="l">
                        <a:buNone/>
                      </a:pPr>
                      <a:r>
                        <a:rPr lang="en-US" sz="1050" dirty="0">
                          <a:solidFill>
                            <a:srgbClr val="000000"/>
                          </a:solidFill>
                        </a:rPr>
                        <a:t>Track IDs sometimes appeared before being confirmed</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main.py explicitly skips any box where box.id is None before feeding downstream modules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3"/>
                  </a:ext>
                </a:extLst>
              </a:tr>
              <a:tr h="685800">
                <a:tc>
                  <a:txBody>
                    <a:bodyPr/>
                    <a:lstStyle/>
                    <a:p>
                      <a:pPr marL="0" indent="0" algn="l">
                        <a:buNone/>
                      </a:pPr>
                      <a:r>
                        <a:rPr lang="en-US" sz="1050" dirty="0">
                          <a:solidFill>
                            <a:srgbClr val="000000"/>
                          </a:solidFill>
                        </a:rPr>
                        <a:t>Speed estimates need a real-world reference, not just pixels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Built CameraCalibrator to convert a known real-world distance into a pixels-per-metre ratio</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4"/>
                  </a:ext>
                </a:extLst>
              </a:tr>
              <a:tr h="685800">
                <a:tc>
                  <a:txBody>
                    <a:bodyPr/>
                    <a:lstStyle/>
                    <a:p>
                      <a:pPr marL="0" indent="0" algn="l">
                        <a:buNone/>
                      </a:pPr>
                      <a:r>
                        <a:rPr lang="en-US" sz="1050" dirty="0">
                          <a:solidFill>
                            <a:srgbClr val="000000"/>
                          </a:solidFill>
                        </a:rPr>
                        <a:t>False line-crossings from single noisy frames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LineCounter requires 5+ history points and a ±30px tolerance zone before confirming a crossing</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5"/>
                  </a:ext>
                </a:extLst>
              </a:tr>
              <a:tr h="822960">
                <a:tc>
                  <a:txBody>
                    <a:bodyPr/>
                    <a:lstStyle/>
                    <a:p>
                      <a:pPr marL="0" indent="0" algn="l">
                        <a:buNone/>
                      </a:pPr>
                      <a:r>
                        <a:rPr lang="en-US" sz="1050" dirty="0">
                          <a:solidFill>
                            <a:srgbClr val="000000"/>
                          </a:solidFill>
                        </a:rPr>
                        <a:t>Several analytics modules (heatmap, intrusion, dwell time) were needed but out of scope for this pass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Scaffolded as clear extension points, deliberately deferred to Future Scope rather than rushed</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6"/>
                  </a:ext>
                </a:extLst>
              </a:tr>
            </a:tbl>
          </a:graphicData>
        </a:graphic>
      </p:graphicFrame>
      <p:pic>
        <p:nvPicPr>
          <p:cNvPr id="6" name="Picture 5">
            <a:extLst>
              <a:ext uri="{FF2B5EF4-FFF2-40B4-BE49-F238E27FC236}">
                <a16:creationId xmlns:a16="http://schemas.microsoft.com/office/drawing/2014/main" id="{6144B4D1-F6CE-D040-C6D6-62996E347BBC}"/>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Future Scope / Enhancements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Deliberately scaffolded, not yet implemented — the natural next iterations</a:t>
            </a:r>
            <a:endParaRPr lang="en-US" sz="1400" dirty="0"/>
          </a:p>
        </p:txBody>
      </p:sp>
      <p:sp>
        <p:nvSpPr>
          <p:cNvPr id="4" name="Shape 2"/>
          <p:cNvSpPr/>
          <p:nvPr/>
        </p:nvSpPr>
        <p:spPr>
          <a:xfrm>
            <a:off x="548640" y="1554480"/>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31520" y="1664208"/>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Heatmap Generation</a:t>
            </a:r>
            <a:endParaRPr lang="en-US" sz="1250" dirty="0"/>
          </a:p>
        </p:txBody>
      </p:sp>
      <p:sp>
        <p:nvSpPr>
          <p:cNvPr id="6" name="Text 4"/>
          <p:cNvSpPr/>
          <p:nvPr/>
        </p:nvSpPr>
        <p:spPr>
          <a:xfrm>
            <a:off x="731520" y="1956816"/>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build_heatmap() is stubbed — accumulate track density into a spatial heatmap overlay</a:t>
            </a:r>
            <a:endParaRPr lang="en-US" sz="1000" dirty="0"/>
          </a:p>
        </p:txBody>
      </p:sp>
      <p:sp>
        <p:nvSpPr>
          <p:cNvPr id="7" name="Shape 5"/>
          <p:cNvSpPr/>
          <p:nvPr/>
        </p:nvSpPr>
        <p:spPr>
          <a:xfrm>
            <a:off x="6172200" y="1554480"/>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55080" y="1664208"/>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Intrusion Detection</a:t>
            </a:r>
            <a:endParaRPr lang="en-US" sz="1250" dirty="0"/>
          </a:p>
        </p:txBody>
      </p:sp>
      <p:sp>
        <p:nvSpPr>
          <p:cNvPr id="9" name="Text 7"/>
          <p:cNvSpPr/>
          <p:nvPr/>
        </p:nvSpPr>
        <p:spPr>
          <a:xfrm>
            <a:off x="6355080" y="1956816"/>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detect_intrusion() is stubbed — flag tracks entering a restricted polygon zone</a:t>
            </a:r>
            <a:endParaRPr lang="en-US" sz="1000" dirty="0"/>
          </a:p>
        </p:txBody>
      </p:sp>
      <p:sp>
        <p:nvSpPr>
          <p:cNvPr id="10" name="Shape 8"/>
          <p:cNvSpPr/>
          <p:nvPr/>
        </p:nvSpPr>
        <p:spPr>
          <a:xfrm>
            <a:off x="548640" y="2871216"/>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31520" y="2980944"/>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Dwell-Time Analysis</a:t>
            </a:r>
            <a:endParaRPr lang="en-US" sz="1250" dirty="0"/>
          </a:p>
        </p:txBody>
      </p:sp>
      <p:sp>
        <p:nvSpPr>
          <p:cNvPr id="12" name="Text 10"/>
          <p:cNvSpPr/>
          <p:nvPr/>
        </p:nvSpPr>
        <p:spPr>
          <a:xfrm>
            <a:off x="731520" y="3273552"/>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calculate_dwell_time() is stubbed — measure how long each track stays in a zone</a:t>
            </a:r>
            <a:endParaRPr lang="en-US" sz="1000" dirty="0"/>
          </a:p>
        </p:txBody>
      </p:sp>
      <p:sp>
        <p:nvSpPr>
          <p:cNvPr id="13" name="Shape 11"/>
          <p:cNvSpPr/>
          <p:nvPr/>
        </p:nvSpPr>
        <p:spPr>
          <a:xfrm>
            <a:off x="6172200" y="2871216"/>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55080" y="2980944"/>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DeepSORT Alternative</a:t>
            </a:r>
            <a:endParaRPr lang="en-US" sz="1250" dirty="0"/>
          </a:p>
        </p:txBody>
      </p:sp>
      <p:sp>
        <p:nvSpPr>
          <p:cNvPr id="15" name="Text 13"/>
          <p:cNvSpPr/>
          <p:nvPr/>
        </p:nvSpPr>
        <p:spPr>
          <a:xfrm>
            <a:off x="6355080" y="3273552"/>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DeepSort class is a placeholder — appearance-based tracking as a ByteTrack alternative</a:t>
            </a:r>
            <a:endParaRPr lang="en-US" sz="1000" dirty="0"/>
          </a:p>
        </p:txBody>
      </p:sp>
      <p:sp>
        <p:nvSpPr>
          <p:cNvPr id="16" name="Shape 14"/>
          <p:cNvSpPr/>
          <p:nvPr/>
        </p:nvSpPr>
        <p:spPr>
          <a:xfrm>
            <a:off x="548640" y="4187952"/>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31520" y="4297680"/>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Complete REST API</a:t>
            </a:r>
            <a:endParaRPr lang="en-US" sz="1250" dirty="0"/>
          </a:p>
        </p:txBody>
      </p:sp>
      <p:sp>
        <p:nvSpPr>
          <p:cNvPr id="18" name="Text 16"/>
          <p:cNvSpPr/>
          <p:nvPr/>
        </p:nvSpPr>
        <p:spPr>
          <a:xfrm>
            <a:off x="731520" y="4590288"/>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Flesh out the FastAPI router with live detection/analytics endpoints beyond the current schema</a:t>
            </a:r>
            <a:endParaRPr lang="en-US" sz="1000" dirty="0"/>
          </a:p>
        </p:txBody>
      </p:sp>
      <p:sp>
        <p:nvSpPr>
          <p:cNvPr id="19" name="Shape 17"/>
          <p:cNvSpPr/>
          <p:nvPr/>
        </p:nvSpPr>
        <p:spPr>
          <a:xfrm>
            <a:off x="6172200" y="4187952"/>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55080" y="4297680"/>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Broader Automated Testing</a:t>
            </a:r>
            <a:endParaRPr lang="en-US" sz="1250" dirty="0"/>
          </a:p>
        </p:txBody>
      </p:sp>
      <p:sp>
        <p:nvSpPr>
          <p:cNvPr id="21" name="Text 19"/>
          <p:cNvSpPr/>
          <p:nvPr/>
        </p:nvSpPr>
        <p:spPr>
          <a:xfrm>
            <a:off x="6355080" y="4590288"/>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Expand src/tests/ from import smoke tests into real unit &amp; integration coverage</a:t>
            </a:r>
            <a:endParaRPr lang="en-US" sz="1000" dirty="0"/>
          </a:p>
        </p:txBody>
      </p:sp>
      <p:sp>
        <p:nvSpPr>
          <p:cNvPr id="22" name="Shape 20"/>
          <p:cNvSpPr/>
          <p:nvPr/>
        </p:nvSpPr>
        <p:spPr>
          <a:xfrm>
            <a:off x="548640" y="5504688"/>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3" name="Text 21"/>
          <p:cNvSpPr/>
          <p:nvPr/>
        </p:nvSpPr>
        <p:spPr>
          <a:xfrm>
            <a:off x="731520" y="5614416"/>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SQLite-Backed History</a:t>
            </a:r>
            <a:endParaRPr lang="en-US" sz="1250" dirty="0"/>
          </a:p>
        </p:txBody>
      </p:sp>
      <p:sp>
        <p:nvSpPr>
          <p:cNvPr id="24" name="Text 22"/>
          <p:cNvSpPr/>
          <p:nvPr/>
        </p:nvSpPr>
        <p:spPr>
          <a:xfrm>
            <a:off x="731520" y="5907024"/>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Wire ReportExporter to also persist into the existing Detection SQLAlchemy model</a:t>
            </a:r>
            <a:endParaRPr lang="en-US" sz="1000" dirty="0"/>
          </a:p>
        </p:txBody>
      </p:sp>
      <p:sp>
        <p:nvSpPr>
          <p:cNvPr id="25" name="Shape 23"/>
          <p:cNvSpPr/>
          <p:nvPr/>
        </p:nvSpPr>
        <p:spPr>
          <a:xfrm>
            <a:off x="6172200" y="5504688"/>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6" name="Text 24"/>
          <p:cNvSpPr/>
          <p:nvPr/>
        </p:nvSpPr>
        <p:spPr>
          <a:xfrm>
            <a:off x="6355080" y="5614416"/>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Cloud / Edge Deployment</a:t>
            </a:r>
            <a:endParaRPr lang="en-US" sz="1250" dirty="0"/>
          </a:p>
        </p:txBody>
      </p:sp>
      <p:sp>
        <p:nvSpPr>
          <p:cNvPr id="27" name="Text 25"/>
          <p:cNvSpPr/>
          <p:nvPr/>
        </p:nvSpPr>
        <p:spPr>
          <a:xfrm>
            <a:off x="6355080" y="5907024"/>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Containerise with the existing Dockerfile and deploy to a cloud or edge device for 24×7 monitoring</a:t>
            </a:r>
            <a:endParaRPr lang="en-US" sz="1000" dirty="0"/>
          </a:p>
        </p:txBody>
      </p:sp>
      <p:pic>
        <p:nvPicPr>
          <p:cNvPr id="30" name="Picture 29">
            <a:extLst>
              <a:ext uri="{FF2B5EF4-FFF2-40B4-BE49-F238E27FC236}">
                <a16:creationId xmlns:a16="http://schemas.microsoft.com/office/drawing/2014/main" id="{16A30104-A75E-9CC9-2C6A-B5C27A47F3D7}"/>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Conclusion</a:t>
            </a:r>
            <a:endParaRPr lang="en-US" sz="3000" dirty="0"/>
          </a:p>
        </p:txBody>
      </p:sp>
      <p:sp>
        <p:nvSpPr>
          <p:cNvPr id="3" name="Shape 1"/>
          <p:cNvSpPr/>
          <p:nvPr/>
        </p:nvSpPr>
        <p:spPr>
          <a:xfrm>
            <a:off x="548640" y="1554480"/>
            <a:ext cx="11064240" cy="1920240"/>
          </a:xfrm>
          <a:prstGeom prst="roundRect">
            <a:avLst>
              <a:gd name="adj" fmla="val 3810"/>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4" name="Text 2"/>
          <p:cNvSpPr/>
          <p:nvPr/>
        </p:nvSpPr>
        <p:spPr>
          <a:xfrm>
            <a:off x="822960" y="1783080"/>
            <a:ext cx="10515600" cy="1554480"/>
          </a:xfrm>
          <a:prstGeom prst="rect">
            <a:avLst/>
          </a:prstGeom>
          <a:noFill/>
          <a:ln/>
        </p:spPr>
        <p:txBody>
          <a:bodyPr wrap="square" rtlCol="0" anchor="ctr"/>
          <a:lstStyle/>
          <a:p>
            <a:pPr marL="0" indent="0">
              <a:lnSpc>
                <a:spcPts val="1900"/>
              </a:lnSpc>
              <a:buNone/>
            </a:pPr>
            <a:r>
              <a:rPr lang="en-US" sz="1300" dirty="0">
                <a:solidFill>
                  <a:srgbClr val="000000"/>
                </a:solidFill>
                <a:latin typeface="Calibri" pitchFamily="34" charset="0"/>
                <a:ea typeface="Calibri" pitchFamily="34" charset="-122"/>
                <a:cs typeface="Calibri" pitchFamily="34" charset="-120"/>
              </a:rPr>
              <a:t>Over the course of this internship, VisionTrack AI grew into a working real-time video analytics pipeline: a webcam feed flows through YOLOv8n detection, ByteTrack tracking, and custom motion-analytics modules, producing live on-screen insight and an automatically exported session report — validated across 4 real recorded sessions rather than left as a design on paper.</a:t>
            </a:r>
            <a:endParaRPr lang="en-US" sz="1300" dirty="0"/>
          </a:p>
        </p:txBody>
      </p:sp>
      <p:sp>
        <p:nvSpPr>
          <p:cNvPr id="5" name="Text 3"/>
          <p:cNvSpPr/>
          <p:nvPr/>
        </p:nvSpPr>
        <p:spPr>
          <a:xfrm>
            <a:off x="548640" y="3657600"/>
            <a:ext cx="5486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KEY TAKEAWAYS</a:t>
            </a:r>
            <a:endParaRPr lang="en-US" sz="1300" dirty="0"/>
          </a:p>
        </p:txBody>
      </p:sp>
      <p:sp>
        <p:nvSpPr>
          <p:cNvPr id="6" name="Text 4"/>
          <p:cNvSpPr/>
          <p:nvPr/>
        </p:nvSpPr>
        <p:spPr>
          <a:xfrm>
            <a:off x="548640" y="4023360"/>
            <a:ext cx="11064240" cy="1371600"/>
          </a:xfrm>
          <a:prstGeom prst="rect">
            <a:avLst/>
          </a:prstGeom>
          <a:noFill/>
          <a:ln/>
        </p:spPr>
        <p:txBody>
          <a:bodyPr wrap="square" rtlCol="0" anchor="ctr"/>
          <a:lstStyle/>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End-to-end ownership: camera capture → detection → tracking → analytics → reporting → dashboard</a:t>
            </a:r>
            <a:endParaRPr lang="en-US" sz="1250" dirty="0"/>
          </a:p>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Config-driven engineering discipline: thresholds, sizes and calibration live in settings, not scattered in code</a:t>
            </a:r>
            <a:endParaRPr lang="en-US" sz="1250" dirty="0"/>
          </a:p>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Hands-on with the modern CV/analytics stack: YOLOv8, ByteTrack, OpenCV, Streamlit, FastAPI, SQLAlchemy</a:t>
            </a:r>
            <a:endParaRPr lang="en-US" sz="1250" dirty="0"/>
          </a:p>
        </p:txBody>
      </p:sp>
      <p:sp>
        <p:nvSpPr>
          <p:cNvPr id="7" name="Shape 5"/>
          <p:cNvSpPr/>
          <p:nvPr/>
        </p:nvSpPr>
        <p:spPr>
          <a:xfrm>
            <a:off x="548640" y="5532120"/>
            <a:ext cx="11064240" cy="868680"/>
          </a:xfrm>
          <a:prstGeom prst="roundRect">
            <a:avLst>
              <a:gd name="adj" fmla="val 842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822960" y="5669280"/>
            <a:ext cx="10515600" cy="594360"/>
          </a:xfrm>
          <a:prstGeom prst="rect">
            <a:avLst/>
          </a:prstGeom>
          <a:noFill/>
          <a:ln/>
        </p:spPr>
        <p:txBody>
          <a:bodyPr wrap="square" rtlCol="0" anchor="ctr"/>
          <a:lstStyle/>
          <a:p>
            <a:pPr marL="0" indent="0">
              <a:buNone/>
            </a:pPr>
            <a:r>
              <a:rPr lang="en-US" sz="1200" i="1" dirty="0">
                <a:solidFill>
                  <a:srgbClr val="AD84C6"/>
                </a:solidFill>
                <a:latin typeface="Calibri" pitchFamily="34" charset="0"/>
                <a:ea typeface="Calibri" pitchFamily="34" charset="-122"/>
                <a:cs typeface="Calibri" pitchFamily="34" charset="-120"/>
              </a:rPr>
              <a:t>This internship strengthened my practical skills in computer vision, real-time systems engineering and full-stack analytics delivery — exactly the toolkit a working AI engineer needs.</a:t>
            </a:r>
            <a:endParaRPr lang="en-US" sz="1200" dirty="0"/>
          </a:p>
        </p:txBody>
      </p:sp>
      <p:pic>
        <p:nvPicPr>
          <p:cNvPr id="11" name="Picture 10">
            <a:extLst>
              <a:ext uri="{FF2B5EF4-FFF2-40B4-BE49-F238E27FC236}">
                <a16:creationId xmlns:a16="http://schemas.microsoft.com/office/drawing/2014/main" id="{A08A1076-1D68-3E52-C53E-CED8842C6381}"/>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Certificate — Internship Completion</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Codec Technologies · Artificial Intelligence Internship</a:t>
            </a:r>
            <a:endParaRPr lang="en-US" sz="1400" dirty="0"/>
          </a:p>
        </p:txBody>
      </p:sp>
      <p:sp>
        <p:nvSpPr>
          <p:cNvPr id="4" name="Shape 2"/>
          <p:cNvSpPr/>
          <p:nvPr/>
        </p:nvSpPr>
        <p:spPr>
          <a:xfrm>
            <a:off x="548640" y="1600200"/>
            <a:ext cx="1106424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pic>
        <p:nvPicPr>
          <p:cNvPr id="17" name="Picture 16">
            <a:extLst>
              <a:ext uri="{FF2B5EF4-FFF2-40B4-BE49-F238E27FC236}">
                <a16:creationId xmlns:a16="http://schemas.microsoft.com/office/drawing/2014/main" id="{DAF56B1B-3FE9-3C06-F7C0-647B6563DF1F}"/>
              </a:ext>
            </a:extLst>
          </p:cNvPr>
          <p:cNvPicPr>
            <a:picLocks noChangeAspect="1"/>
          </p:cNvPicPr>
          <p:nvPr/>
        </p:nvPicPr>
        <p:blipFill>
          <a:blip r:embed="rId3"/>
          <a:stretch>
            <a:fillRect/>
          </a:stretch>
        </p:blipFill>
        <p:spPr>
          <a:xfrm>
            <a:off x="9823938" y="150350"/>
            <a:ext cx="1064087" cy="809770"/>
          </a:xfrm>
          <a:prstGeom prst="rect">
            <a:avLst/>
          </a:prstGeom>
        </p:spPr>
      </p:pic>
      <p:pic>
        <p:nvPicPr>
          <p:cNvPr id="18" name="Picture 17">
            <a:extLst>
              <a:ext uri="{FF2B5EF4-FFF2-40B4-BE49-F238E27FC236}">
                <a16:creationId xmlns:a16="http://schemas.microsoft.com/office/drawing/2014/main" id="{5FE9612B-107E-2690-0045-6E50A2B12C98}"/>
              </a:ext>
            </a:extLst>
          </p:cNvPr>
          <p:cNvPicPr>
            <a:picLocks noChangeAspect="1"/>
          </p:cNvPicPr>
          <p:nvPr/>
        </p:nvPicPr>
        <p:blipFill>
          <a:blip r:embed="rId4"/>
          <a:stretch>
            <a:fillRect/>
          </a:stretch>
        </p:blipFill>
        <p:spPr>
          <a:xfrm>
            <a:off x="928467" y="2123049"/>
            <a:ext cx="5275386" cy="3389142"/>
          </a:xfrm>
          <a:prstGeom prst="rect">
            <a:avLst/>
          </a:prstGeom>
        </p:spPr>
      </p:pic>
      <p:sp>
        <p:nvSpPr>
          <p:cNvPr id="19" name="TextBox 18">
            <a:extLst>
              <a:ext uri="{FF2B5EF4-FFF2-40B4-BE49-F238E27FC236}">
                <a16:creationId xmlns:a16="http://schemas.microsoft.com/office/drawing/2014/main" id="{3FE694E7-04B7-8044-E59F-BAA38BD937B3}"/>
              </a:ext>
            </a:extLst>
          </p:cNvPr>
          <p:cNvSpPr txBox="1"/>
          <p:nvPr/>
        </p:nvSpPr>
        <p:spPr>
          <a:xfrm>
            <a:off x="7268308" y="2109460"/>
            <a:ext cx="3704860" cy="3416320"/>
          </a:xfrm>
          <a:prstGeom prst="rect">
            <a:avLst/>
          </a:prstGeom>
          <a:noFill/>
        </p:spPr>
        <p:txBody>
          <a:bodyPr wrap="none" rtlCol="0">
            <a:spAutoFit/>
          </a:bodyPr>
          <a:lstStyle/>
          <a:p>
            <a:r>
              <a:rPr lang="en-US" sz="1800" b="1" u="sng" dirty="0">
                <a:latin typeface="Times New Roman" panose="02020603050405020304" pitchFamily="18" charset="0"/>
                <a:cs typeface="Times New Roman" panose="02020603050405020304" pitchFamily="18" charset="0"/>
              </a:rPr>
              <a:t>Offer Summary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Name</a:t>
            </a:r>
            <a:r>
              <a:rPr lang="en-US" sz="1800" dirty="0">
                <a:latin typeface="Times New Roman" panose="02020603050405020304" pitchFamily="18" charset="0"/>
                <a:cs typeface="Times New Roman" panose="02020603050405020304" pitchFamily="18" charset="0"/>
              </a:rPr>
              <a:t>: Dhruv </a:t>
            </a:r>
            <a:r>
              <a:rPr lang="en-US" sz="1800" dirty="0" err="1">
                <a:latin typeface="Times New Roman" panose="02020603050405020304" pitchFamily="18" charset="0"/>
                <a:cs typeface="Times New Roman" panose="02020603050405020304" pitchFamily="18" charset="0"/>
              </a:rPr>
              <a:t>Hiteshbhai</a:t>
            </a:r>
            <a:r>
              <a:rPr lang="en-US" sz="1800" dirty="0">
                <a:latin typeface="Times New Roman" panose="02020603050405020304" pitchFamily="18" charset="0"/>
                <a:cs typeface="Times New Roman" panose="02020603050405020304" pitchFamily="18" charset="0"/>
              </a:rPr>
              <a:t> Trivedi</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Position</a:t>
            </a:r>
            <a:r>
              <a:rPr lang="en-US" sz="1800" dirty="0">
                <a:latin typeface="Times New Roman" panose="02020603050405020304" pitchFamily="18" charset="0"/>
                <a:cs typeface="Times New Roman" panose="02020603050405020304" pitchFamily="18" charset="0"/>
              </a:rPr>
              <a:t>: Artificial Intelligence Intern</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Issued On</a:t>
            </a:r>
            <a:r>
              <a:rPr lang="en-IN" sz="1800" dirty="0">
                <a:latin typeface="Times New Roman" panose="02020603050405020304" pitchFamily="18" charset="0"/>
                <a:cs typeface="Times New Roman" panose="02020603050405020304" pitchFamily="18" charset="0"/>
              </a:rPr>
              <a:t>: 25 June 2026</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Duration</a:t>
            </a:r>
            <a:r>
              <a:rPr lang="en-IN" sz="1800" dirty="0">
                <a:latin typeface="Times New Roman" panose="02020603050405020304" pitchFamily="18" charset="0"/>
                <a:cs typeface="Times New Roman" panose="02020603050405020304" pitchFamily="18" charset="0"/>
              </a:rPr>
              <a:t>: 1 Jun – 1 Aug</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Remote,Flexible</a:t>
            </a:r>
            <a:r>
              <a:rPr lang="en-IN" sz="1800" dirty="0">
                <a:latin typeface="Times New Roman" panose="02020603050405020304" pitchFamily="18" charset="0"/>
                <a:cs typeface="Times New Roman" panose="02020603050405020304" pitchFamily="18" charset="0"/>
              </a:rPr>
              <a:t> hours</a:t>
            </a: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plate-AU">
  <a:themeElements>
    <a:clrScheme name="Adani University Color">
      <a:dk1>
        <a:sysClr val="windowText" lastClr="000000"/>
      </a:dk1>
      <a:lt1>
        <a:sysClr val="window" lastClr="FFFFFF"/>
      </a:lt1>
      <a:dk2>
        <a:srgbClr val="44546A"/>
      </a:dk2>
      <a:lt2>
        <a:srgbClr val="E7E6E6"/>
      </a:lt2>
      <a:accent1>
        <a:srgbClr val="006DB6"/>
      </a:accent1>
      <a:accent2>
        <a:srgbClr val="8E278F"/>
      </a:accent2>
      <a:accent3>
        <a:srgbClr val="F04C23"/>
      </a:accent3>
      <a:accent4>
        <a:srgbClr val="00B16B"/>
      </a:accent4>
      <a:accent5>
        <a:srgbClr val="00000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4.xml><?xml version="1.0" encoding="utf-8"?>
<a:theme xmlns:a="http://schemas.openxmlformats.org/drawingml/2006/main" name="1_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5.xml><?xml version="1.0" encoding="utf-8"?>
<a:theme xmlns:a="http://schemas.openxmlformats.org/drawingml/2006/main" name="1_Template-AU">
  <a:themeElements>
    <a:clrScheme name="Adani University Color">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6.xml><?xml version="1.0" encoding="utf-8"?>
<a:theme xmlns:a="http://schemas.openxmlformats.org/drawingml/2006/main" name="2_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7.xml><?xml version="1.0" encoding="utf-8"?>
<a:theme xmlns:a="http://schemas.openxmlformats.org/drawingml/2006/main" name="Theme2">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AB057378-49D0-4D1F-9197-BADBD0611A7E}" vid="{2B6A6EBD-84F2-4E35-A2B3-E594C0DE305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69</TotalTime>
  <Words>2905</Words>
  <Application>Microsoft Office PowerPoint</Application>
  <PresentationFormat>Widescreen</PresentationFormat>
  <Paragraphs>422</Paragraphs>
  <Slides>15</Slides>
  <Notes>14</Notes>
  <HiddenSlides>0</HiddenSlides>
  <MMClips>0</MMClips>
  <ScaleCrop>false</ScaleCrop>
  <HeadingPairs>
    <vt:vector size="4" baseType="variant">
      <vt:variant>
        <vt:lpstr>Theme</vt:lpstr>
      </vt:variant>
      <vt:variant>
        <vt:i4>7</vt:i4>
      </vt:variant>
      <vt:variant>
        <vt:lpstr>Slide Titles</vt:lpstr>
      </vt:variant>
      <vt:variant>
        <vt:i4>15</vt:i4>
      </vt:variant>
    </vt:vector>
  </HeadingPairs>
  <TitlesOfParts>
    <vt:vector size="22" baseType="lpstr">
      <vt:lpstr>Theme1</vt:lpstr>
      <vt:lpstr>Slidesgo Final Pages</vt:lpstr>
      <vt:lpstr>Template-AU</vt:lpstr>
      <vt:lpstr>1_Theme1</vt:lpstr>
      <vt:lpstr>1_Template-AU</vt:lpstr>
      <vt:lpstr>2_Theme1</vt:lpstr>
      <vt:lpstr>Theme2</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dhruv77200@gmail.com</cp:lastModifiedBy>
  <cp:revision>8</cp:revision>
  <dcterms:created xsi:type="dcterms:W3CDTF">2026-08-04T00:12:35Z</dcterms:created>
  <dcterms:modified xsi:type="dcterms:W3CDTF">2026-08-04T14:50:35Z</dcterms:modified>
</cp:coreProperties>
</file>